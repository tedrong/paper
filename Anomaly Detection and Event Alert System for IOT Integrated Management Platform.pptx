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handoutMasterIdLst>
    <p:handoutMasterId r:id="rId54"/>
  </p:handoutMasterIdLst>
  <p:sldIdLst>
    <p:sldId id="256" r:id="rId2"/>
    <p:sldId id="281" r:id="rId3"/>
    <p:sldId id="337" r:id="rId4"/>
    <p:sldId id="329" r:id="rId5"/>
    <p:sldId id="330" r:id="rId6"/>
    <p:sldId id="331" r:id="rId7"/>
    <p:sldId id="338" r:id="rId8"/>
    <p:sldId id="332" r:id="rId9"/>
    <p:sldId id="339" r:id="rId10"/>
    <p:sldId id="340" r:id="rId11"/>
    <p:sldId id="369" r:id="rId12"/>
    <p:sldId id="370" r:id="rId13"/>
    <p:sldId id="371" r:id="rId14"/>
    <p:sldId id="341" r:id="rId15"/>
    <p:sldId id="372" r:id="rId16"/>
    <p:sldId id="373" r:id="rId17"/>
    <p:sldId id="374" r:id="rId18"/>
    <p:sldId id="375" r:id="rId19"/>
    <p:sldId id="347" r:id="rId20"/>
    <p:sldId id="376" r:id="rId21"/>
    <p:sldId id="344" r:id="rId22"/>
    <p:sldId id="377" r:id="rId23"/>
    <p:sldId id="345" r:id="rId24"/>
    <p:sldId id="382" r:id="rId25"/>
    <p:sldId id="362" r:id="rId26"/>
    <p:sldId id="396" r:id="rId27"/>
    <p:sldId id="397" r:id="rId28"/>
    <p:sldId id="423" r:id="rId29"/>
    <p:sldId id="336" r:id="rId30"/>
    <p:sldId id="446" r:id="rId31"/>
    <p:sldId id="444" r:id="rId32"/>
    <p:sldId id="448" r:id="rId33"/>
    <p:sldId id="449" r:id="rId34"/>
    <p:sldId id="450" r:id="rId35"/>
    <p:sldId id="451" r:id="rId36"/>
    <p:sldId id="424" r:id="rId37"/>
    <p:sldId id="425" r:id="rId38"/>
    <p:sldId id="431" r:id="rId39"/>
    <p:sldId id="426" r:id="rId40"/>
    <p:sldId id="427" r:id="rId41"/>
    <p:sldId id="428" r:id="rId42"/>
    <p:sldId id="432" r:id="rId43"/>
    <p:sldId id="452" r:id="rId44"/>
    <p:sldId id="453" r:id="rId45"/>
    <p:sldId id="367" r:id="rId46"/>
    <p:sldId id="354" r:id="rId47"/>
    <p:sldId id="437" r:id="rId48"/>
    <p:sldId id="438" r:id="rId49"/>
    <p:sldId id="439" r:id="rId50"/>
    <p:sldId id="440" r:id="rId51"/>
    <p:sldId id="441" r:id="rId52"/>
  </p:sldIdLst>
  <p:sldSz cx="12192000" cy="6858000"/>
  <p:notesSz cx="9874250" cy="6797675"/>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40" autoAdjust="0"/>
    <p:restoredTop sz="69686" autoAdjust="0"/>
  </p:normalViewPr>
  <p:slideViewPr>
    <p:cSldViewPr snapToGrid="0">
      <p:cViewPr varScale="1">
        <p:scale>
          <a:sx n="80" d="100"/>
          <a:sy n="80" d="100"/>
        </p:scale>
        <p:origin x="173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278842"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sz="quarter" idx="1"/>
          </p:nvPr>
        </p:nvSpPr>
        <p:spPr>
          <a:xfrm>
            <a:off x="5593123" y="1"/>
            <a:ext cx="4278842" cy="341064"/>
          </a:xfrm>
          <a:prstGeom prst="rect">
            <a:avLst/>
          </a:prstGeom>
        </p:spPr>
        <p:txBody>
          <a:bodyPr vert="horz" lIns="91440" tIns="45720" rIns="91440" bIns="45720" rtlCol="0"/>
          <a:lstStyle>
            <a:lvl1pPr algn="r">
              <a:defRPr sz="1200"/>
            </a:lvl1pPr>
          </a:lstStyle>
          <a:p>
            <a:fld id="{6977A58A-38D4-4745-B1BD-B36B6360EE10}" type="datetimeFigureOut">
              <a:rPr lang="zh-TW" altLang="en-US" smtClean="0"/>
              <a:t>2017/7/15</a:t>
            </a:fld>
            <a:endParaRPr lang="zh-TW" altLang="en-US"/>
          </a:p>
        </p:txBody>
      </p:sp>
      <p:sp>
        <p:nvSpPr>
          <p:cNvPr id="4" name="頁尾版面配置區 3"/>
          <p:cNvSpPr>
            <a:spLocks noGrp="1"/>
          </p:cNvSpPr>
          <p:nvPr>
            <p:ph type="ftr" sz="quarter" idx="2"/>
          </p:nvPr>
        </p:nvSpPr>
        <p:spPr>
          <a:xfrm>
            <a:off x="0" y="6456612"/>
            <a:ext cx="4278842" cy="341063"/>
          </a:xfrm>
          <a:prstGeom prst="rect">
            <a:avLst/>
          </a:prstGeom>
        </p:spPr>
        <p:txBody>
          <a:bodyPr vert="horz" lIns="91440" tIns="45720" rIns="91440" bIns="45720"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593123" y="6456612"/>
            <a:ext cx="4278842" cy="341063"/>
          </a:xfrm>
          <a:prstGeom prst="rect">
            <a:avLst/>
          </a:prstGeom>
        </p:spPr>
        <p:txBody>
          <a:bodyPr vert="horz" lIns="91440" tIns="45720" rIns="91440" bIns="45720"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278842" cy="341064"/>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5593123" y="1"/>
            <a:ext cx="4278842" cy="341064"/>
          </a:xfrm>
          <a:prstGeom prst="rect">
            <a:avLst/>
          </a:prstGeom>
        </p:spPr>
        <p:txBody>
          <a:bodyPr vert="horz" lIns="91440" tIns="45720" rIns="91440" bIns="45720" rtlCol="0"/>
          <a:lstStyle>
            <a:lvl1pPr algn="r">
              <a:defRPr sz="1200"/>
            </a:lvl1pPr>
          </a:lstStyle>
          <a:p>
            <a:fld id="{24BD2BB7-AC21-4A01-8503-F1C775A6F59E}" type="datetimeFigureOut">
              <a:rPr lang="zh-TW" altLang="en-US" smtClean="0"/>
              <a:t>2017/7/15</a:t>
            </a:fld>
            <a:endParaRPr lang="zh-TW" altLang="en-US"/>
          </a:p>
        </p:txBody>
      </p:sp>
      <p:sp>
        <p:nvSpPr>
          <p:cNvPr id="4" name="投影片圖像版面配置區 3"/>
          <p:cNvSpPr>
            <a:spLocks noGrp="1" noRot="1" noChangeAspect="1"/>
          </p:cNvSpPr>
          <p:nvPr>
            <p:ph type="sldImg" idx="2"/>
          </p:nvPr>
        </p:nvSpPr>
        <p:spPr>
          <a:xfrm>
            <a:off x="2898775" y="849313"/>
            <a:ext cx="4078288" cy="2293937"/>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987425" y="3271381"/>
            <a:ext cx="7899400" cy="2676585"/>
          </a:xfrm>
          <a:prstGeom prst="rect">
            <a:avLst/>
          </a:prstGeom>
        </p:spPr>
        <p:txBody>
          <a:bodyPr vert="horz" lIns="91440" tIns="45720" rIns="91440" bIns="45720"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456612"/>
            <a:ext cx="4278842" cy="341063"/>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593123" y="6456612"/>
            <a:ext cx="4278842" cy="341063"/>
          </a:xfrm>
          <a:prstGeom prst="rect">
            <a:avLst/>
          </a:prstGeom>
        </p:spPr>
        <p:txBody>
          <a:bodyPr vert="horz" lIns="91440" tIns="45720" rIns="91440" bIns="45720"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我</a:t>
            </a:r>
            <a:r>
              <a:rPr lang="zh-TW" altLang="en-US" dirty="0" smtClean="0"/>
              <a:t>的論文題目</a:t>
            </a:r>
            <a:r>
              <a:rPr lang="zh-TW" altLang="en-US" dirty="0" smtClean="0"/>
              <a:t>是</a:t>
            </a:r>
            <a:endParaRPr lang="en-US" altLang="zh-TW" dirty="0" smtClean="0"/>
          </a:p>
          <a:p>
            <a:r>
              <a:rPr lang="en-US" altLang="zh-TW" dirty="0" err="1" smtClean="0"/>
              <a:t>IoT</a:t>
            </a:r>
            <a:r>
              <a:rPr lang="zh-TW" altLang="en-US" dirty="0" smtClean="0"/>
              <a:t>整合管理平台之異常檢測和事件警報系統</a:t>
            </a:r>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今天的簡報流程分為六個部分</a:t>
            </a:r>
            <a:endParaRPr lang="en-US" altLang="zh-TW" dirty="0" smtClean="0"/>
          </a:p>
          <a:p>
            <a:r>
              <a:rPr lang="zh-TW" altLang="en-US" dirty="0" smtClean="0"/>
              <a:t>研究動機和目的會簡略敘述我為什麼要做這個研究</a:t>
            </a:r>
            <a:endParaRPr lang="en-US" altLang="zh-TW" dirty="0" smtClean="0"/>
          </a:p>
          <a:p>
            <a:r>
              <a:rPr lang="zh-TW" altLang="en-US" dirty="0" smtClean="0"/>
              <a:t>相關議題會稍微介紹異常事件的種類和用於偵測異常的方法類型</a:t>
            </a:r>
            <a:endParaRPr lang="en-US" altLang="zh-TW" dirty="0" smtClean="0"/>
          </a:p>
          <a:p>
            <a:r>
              <a:rPr lang="zh-TW" altLang="en-US" dirty="0" smtClean="0"/>
              <a:t>研究方法的部分說明我們實作於即時資料分析的方法和理論依據</a:t>
            </a:r>
            <a:endParaRPr lang="en-US" altLang="zh-TW" dirty="0" smtClean="0"/>
          </a:p>
          <a:p>
            <a:r>
              <a:rPr lang="zh-TW" altLang="en-US" dirty="0" smtClean="0"/>
              <a:t>實驗分為兩個步驟分別展示不同資料特徵下，偵測方法產生的結果</a:t>
            </a:r>
            <a:endParaRPr lang="en-US" altLang="zh-TW" dirty="0" smtClean="0"/>
          </a:p>
          <a:p>
            <a:r>
              <a:rPr lang="zh-TW" altLang="en-US" dirty="0" smtClean="0"/>
              <a:t>最後結論分別描述不同方法的特性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日本電氣將都市環境分成人、物、資訊和能源四個層面</a:t>
            </a:r>
            <a:endParaRPr lang="en-US" altLang="zh-TW" dirty="0" smtClean="0"/>
          </a:p>
          <a:p>
            <a:r>
              <a:rPr lang="zh-TW" altLang="en-US" dirty="0" smtClean="0"/>
              <a:t>智慧城市的宗旨是希望藉由觀察物體、資訊、能源之間的聯繫，分析預測城市的變化</a:t>
            </a:r>
            <a:endParaRPr lang="en-US" altLang="zh-TW" dirty="0" smtClean="0"/>
          </a:p>
          <a:p>
            <a:r>
              <a:rPr lang="zh-TW" altLang="en-US" dirty="0" smtClean="0"/>
              <a:t>最終反映人的需求</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134212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台灣政府也有開放資料的平台</a:t>
            </a:r>
            <a:endParaRPr lang="en-US" altLang="zh-TW" dirty="0" smtClean="0"/>
          </a:p>
          <a:p>
            <a:r>
              <a:rPr lang="zh-TW" altLang="en-US" dirty="0" smtClean="0"/>
              <a:t>但不足的是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這些沒有經過整理的資料對一般使用者參考價值較低</a:t>
            </a:r>
            <a:endParaRPr lang="en-US" altLang="zh-TW" dirty="0" smtClean="0"/>
          </a:p>
          <a:p>
            <a:r>
              <a:rPr lang="zh-TW" altLang="en-US" dirty="0" smtClean="0"/>
              <a:t>此平台中也沒有便利的方式可以代管私人的資料來源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環境狀態改變或事件發生，通常會造成環境監控數值的變化</a:t>
            </a:r>
            <a:endParaRPr lang="en-US" altLang="zh-TW" dirty="0" smtClean="0"/>
          </a:p>
          <a:p>
            <a:r>
              <a:rPr lang="zh-TW" altLang="en-US" dirty="0" smtClean="0"/>
              <a:t>事件發生後經過的時間越長，及時通知的訊息價值也就越低</a:t>
            </a:r>
            <a:endParaRPr lang="en-US" altLang="zh-TW" dirty="0" smtClean="0"/>
          </a:p>
          <a:p>
            <a:r>
              <a:rPr lang="zh-TW" altLang="en-US" dirty="0" smtClean="0"/>
              <a:t>因此分析串流資料的演算法必須輕量有效</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感測資料最常發生的錯誤是接收過程中訊息交遞可能造成的缺失或冗餘</a:t>
            </a:r>
            <a:endParaRPr lang="en-US" altLang="zh-TW" dirty="0" smtClean="0"/>
          </a:p>
          <a:p>
            <a:r>
              <a:rPr lang="zh-TW" altLang="en-US" dirty="0" smtClean="0"/>
              <a:t>因此在處理此類感測數值時，一般可分為幾個流程如下</a:t>
            </a:r>
            <a:endParaRPr lang="en-US" altLang="zh-TW" dirty="0" smtClean="0"/>
          </a:p>
          <a:p>
            <a:r>
              <a:rPr lang="zh-TW" altLang="en-US" dirty="0" smtClean="0"/>
              <a:t>檢查原始數據的完整性</a:t>
            </a:r>
            <a:endParaRPr lang="en-US" altLang="zh-TW" dirty="0" smtClean="0"/>
          </a:p>
          <a:p>
            <a:r>
              <a:rPr lang="zh-TW" altLang="en-US" dirty="0" smtClean="0"/>
              <a:t>利用分割或是觀察視窗的方式取得資料片段的特徵</a:t>
            </a:r>
            <a:endParaRPr lang="en-US" altLang="zh-TW" dirty="0" smtClean="0"/>
          </a:p>
          <a:p>
            <a:r>
              <a:rPr lang="zh-TW" altLang="en-US" dirty="0" smtClean="0"/>
              <a:t>特徵結果可用於訓練判斷模組</a:t>
            </a:r>
            <a:endParaRPr lang="en-US" altLang="zh-TW" dirty="0" smtClean="0"/>
          </a:p>
          <a:p>
            <a:r>
              <a:rPr lang="zh-TW" altLang="en-US" dirty="0" smtClean="0"/>
              <a:t>獲得的判斷條件將可以成為實際應用的參考依據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153420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異常是什麼</a:t>
            </a:r>
            <a:endParaRPr lang="en-US" altLang="zh-TW" dirty="0" smtClean="0"/>
          </a:p>
          <a:p>
            <a:r>
              <a:rPr lang="zh-TW" altLang="en-US" dirty="0" smtClean="0"/>
              <a:t>異常就是在資料集中還未被清楚定義的資料特徵</a:t>
            </a:r>
            <a:endParaRPr lang="en-US" altLang="zh-TW" dirty="0" smtClean="0"/>
          </a:p>
          <a:p>
            <a:r>
              <a:rPr lang="zh-TW" altLang="en-US" dirty="0" smtClean="0"/>
              <a:t>不同的事件都有不同的表現模式，混雜於大多是正常的資料狀態中</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異常可大致分為三種類型，分別為</a:t>
            </a:r>
            <a:endParaRPr lang="en-US" altLang="zh-TW" dirty="0" smtClean="0"/>
          </a:p>
          <a:p>
            <a:r>
              <a:rPr lang="zh-TW" altLang="en-US" dirty="0" smtClean="0"/>
              <a:t>單點</a:t>
            </a:r>
            <a:endParaRPr lang="en-US" altLang="zh-TW" dirty="0" smtClean="0"/>
          </a:p>
          <a:p>
            <a:r>
              <a:rPr lang="zh-TW" altLang="en-US" dirty="0" smtClean="0"/>
              <a:t>集體</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從圖中可以看到</a:t>
            </a:r>
            <a:endParaRPr lang="en-US" altLang="zh-TW" dirty="0" smtClean="0"/>
          </a:p>
          <a:p>
            <a:r>
              <a:rPr lang="zh-TW" altLang="en-US" dirty="0" smtClean="0"/>
              <a:t>單點異常指的是少數幾個資料點偏離群體資料狀態的現象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a:t>
            </a:r>
            <a:endParaRPr lang="en-US" altLang="zh-TW" dirty="0" smtClean="0"/>
          </a:p>
          <a:p>
            <a:r>
              <a:rPr lang="zh-TW" altLang="en-US" dirty="0" smtClean="0"/>
              <a:t>表示有一小群資料偏離主要群體，並且小群集中的資料擁有類似的特徵</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條件異常這裡已商業區的用電量與時間舉例說明</a:t>
            </a:r>
            <a:endParaRPr lang="en-US" altLang="zh-TW" dirty="0" smtClean="0"/>
          </a:p>
          <a:p>
            <a:r>
              <a:rPr lang="zh-TW" altLang="en-US" dirty="0" smtClean="0"/>
              <a:t>上班時段的用電量上升是合理的現象</a:t>
            </a:r>
            <a:endParaRPr lang="en-US" altLang="zh-TW" dirty="0" smtClean="0"/>
          </a:p>
          <a:p>
            <a:r>
              <a:rPr lang="zh-TW" altLang="en-US" dirty="0" smtClean="0"/>
              <a:t>但是同樣的資料行為移至深夜時段就是不正常的事件</a:t>
            </a:r>
            <a:endParaRPr lang="en-US" altLang="zh-TW" dirty="0" smtClean="0"/>
          </a:p>
          <a:p>
            <a:r>
              <a:rPr lang="zh-TW" altLang="en-US" dirty="0" smtClean="0"/>
              <a:t>這個範例中的條件是時間</a:t>
            </a:r>
            <a:endParaRPr lang="en-US" altLang="zh-TW" dirty="0" smtClean="0"/>
          </a:p>
          <a:p>
            <a:r>
              <a:rPr lang="zh-TW" altLang="en-US" dirty="0" smtClean="0"/>
              <a:t>某些時間下將事件視為合理情況</a:t>
            </a:r>
            <a:endParaRPr lang="en-US" altLang="zh-TW" dirty="0" smtClean="0"/>
          </a:p>
          <a:p>
            <a:r>
              <a:rPr lang="zh-TW" altLang="en-US" dirty="0" smtClean="0"/>
              <a:t>但同樣的情況移動到其他時段則會被視為異常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異常偵測的方法有很多</a:t>
            </a:r>
            <a:endParaRPr lang="en-US" altLang="zh-TW" dirty="0" smtClean="0"/>
          </a:p>
          <a:p>
            <a:r>
              <a:rPr lang="zh-TW" altLang="en-US" dirty="0" smtClean="0"/>
              <a:t>又以判斷的基礎概念可以大致分為四種類型</a:t>
            </a:r>
            <a:endParaRPr lang="en-US" altLang="zh-TW" dirty="0" smtClean="0"/>
          </a:p>
          <a:p>
            <a:r>
              <a:rPr lang="zh-TW" altLang="en-US" dirty="0" smtClean="0"/>
              <a:t>分類</a:t>
            </a:r>
            <a:endParaRPr lang="en-US" altLang="zh-TW" dirty="0" smtClean="0"/>
          </a:p>
          <a:p>
            <a:r>
              <a:rPr lang="zh-TW" altLang="en-US" dirty="0" smtClean="0"/>
              <a:t>分群</a:t>
            </a:r>
            <a:endParaRPr lang="en-US" altLang="zh-TW" dirty="0" smtClean="0"/>
          </a:p>
          <a:p>
            <a:r>
              <a:rPr lang="zh-TW" altLang="en-US" dirty="0" smtClean="0"/>
              <a:t>鄰近點</a:t>
            </a:r>
            <a:endParaRPr lang="en-US" altLang="zh-TW" dirty="0" smtClean="0"/>
          </a:p>
          <a:p>
            <a:r>
              <a:rPr lang="zh-TW" altLang="en-US" dirty="0" smtClean="0"/>
              <a:t>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分類為基礎的判斷方法</a:t>
            </a:r>
            <a:endParaRPr lang="en-US" altLang="zh-TW" dirty="0" smtClean="0"/>
          </a:p>
          <a:p>
            <a:r>
              <a:rPr lang="zh-TW" altLang="en-US" dirty="0" smtClean="0"/>
              <a:t>是利用監督或是半監督的方式學習正常類型的資料特徵</a:t>
            </a:r>
            <a:endParaRPr lang="en-US" altLang="zh-TW" dirty="0" smtClean="0"/>
          </a:p>
          <a:p>
            <a:r>
              <a:rPr lang="zh-TW" altLang="en-US" dirty="0" smtClean="0"/>
              <a:t>之後再藉由學習到的結果判斷是否滿足異常條件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分群與分類的方法有點相似</a:t>
            </a:r>
            <a:endParaRPr lang="en-US" altLang="zh-TW" dirty="0" smtClean="0"/>
          </a:p>
          <a:p>
            <a:r>
              <a:rPr lang="zh-TW" altLang="en-US" dirty="0" smtClean="0"/>
              <a:t>都是以資料分布的狀態最為判斷標準</a:t>
            </a:r>
            <a:endParaRPr lang="en-US" altLang="zh-TW" dirty="0" smtClean="0"/>
          </a:p>
          <a:p>
            <a:r>
              <a:rPr lang="zh-TW" altLang="en-US" dirty="0" smtClean="0"/>
              <a:t>但不同的是分群的方法不須透過人為的介入來訓練判斷條件</a:t>
            </a:r>
            <a:endParaRPr lang="en-US" altLang="zh-TW" dirty="0" smtClean="0"/>
          </a:p>
          <a:p>
            <a:r>
              <a:rPr lang="zh-TW" altLang="en-US" dirty="0" smtClean="0"/>
              <a:t>而是使用分群演算法找到資料的分布狀態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鄰近點的方法主要判斷資料和鄰近資料之間的距離</a:t>
            </a:r>
            <a:endParaRPr lang="en-US" altLang="zh-TW" dirty="0" smtClean="0"/>
          </a:p>
          <a:p>
            <a:r>
              <a:rPr lang="zh-TW" altLang="en-US" dirty="0" smtClean="0"/>
              <a:t>如果相距太遠就可能是異常特徵</a:t>
            </a:r>
            <a:endParaRPr lang="en-US" altLang="zh-TW" dirty="0" smtClean="0"/>
          </a:p>
          <a:p>
            <a:r>
              <a:rPr lang="zh-TW" altLang="en-US" dirty="0" smtClean="0"/>
              <a:t>鄰近點的概念也常搭配其他方法使用</a:t>
            </a:r>
            <a:endParaRPr lang="en-US" altLang="zh-TW" dirty="0" smtClean="0"/>
          </a:p>
          <a:p>
            <a:r>
              <a:rPr lang="zh-TW" altLang="en-US" dirty="0" smtClean="0"/>
              <a:t>例如本論文使用的</a:t>
            </a:r>
            <a:r>
              <a:rPr lang="en-US" altLang="zh-TW" dirty="0" smtClean="0"/>
              <a:t>LOF</a:t>
            </a:r>
            <a:r>
              <a:rPr lang="zh-TW" altLang="en-US" dirty="0" smtClean="0"/>
              <a:t>演算法當中就是以</a:t>
            </a:r>
            <a:r>
              <a:rPr lang="en-US" altLang="zh-TW" dirty="0" smtClean="0"/>
              <a:t>K Nearest 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統計為基礎的方法設想一般情形下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因此藉由學習當下片段資料的特徵</a:t>
            </a:r>
            <a:endParaRPr lang="en-US" altLang="zh-TW" dirty="0" smtClean="0"/>
          </a:p>
          <a:p>
            <a:r>
              <a:rPr lang="zh-TW" altLang="en-US" dirty="0" smtClean="0"/>
              <a:t>用來預測未來可能的變動趨勢</a:t>
            </a:r>
            <a:endParaRPr lang="en-US" altLang="zh-TW" dirty="0" smtClean="0"/>
          </a:p>
          <a:p>
            <a:r>
              <a:rPr lang="zh-TW" altLang="en-US" dirty="0" smtClean="0"/>
              <a:t>例如統計學常用的一般常態分佈與標準差</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常態分佈的特性是機率統計學廣泛應用的一種分布類型</a:t>
            </a:r>
            <a:endParaRPr lang="en-US" altLang="zh-TW" dirty="0" smtClean="0"/>
          </a:p>
          <a:p>
            <a:r>
              <a:rPr lang="zh-TW" altLang="en-US" dirty="0" smtClean="0"/>
              <a:t>個科學領域中也能觀察到許多資料特徵符合常態分佈的行為</a:t>
            </a:r>
            <a:endParaRPr lang="en-US" altLang="zh-TW" dirty="0" smtClean="0"/>
          </a:p>
          <a:p>
            <a:r>
              <a:rPr lang="zh-TW" altLang="en-US" dirty="0" smtClean="0"/>
              <a:t>因此我們也假定感測器監控的環境指標</a:t>
            </a:r>
            <a:endParaRPr lang="en-US" altLang="zh-TW" dirty="0" smtClean="0"/>
          </a:p>
          <a:p>
            <a:r>
              <a:rPr lang="zh-TW" altLang="en-US" dirty="0" smtClean="0"/>
              <a:t>在不受干擾的情況下</a:t>
            </a:r>
            <a:endParaRPr lang="en-US" altLang="zh-TW" dirty="0" smtClean="0"/>
          </a:p>
          <a:p>
            <a:r>
              <a:rPr lang="zh-TW" altLang="en-US" dirty="0" smtClean="0"/>
              <a:t>其感測數值的分布機率應該會符合常態分佈的行為模式</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一般常態分佈與標準差的關係如圖</a:t>
            </a:r>
            <a:endParaRPr lang="en-US" altLang="zh-TW" dirty="0" smtClean="0"/>
          </a:p>
          <a:p>
            <a:r>
              <a:rPr lang="zh-TW" altLang="en-US" dirty="0" smtClean="0"/>
              <a:t>百分之</a:t>
            </a:r>
            <a:r>
              <a:rPr lang="en-US" altLang="zh-TW" dirty="0" smtClean="0"/>
              <a:t>68.2</a:t>
            </a:r>
            <a:r>
              <a:rPr lang="zh-TW" altLang="en-US" dirty="0" smtClean="0"/>
              <a:t>的數值會落在平均值正負一倍標準差的範圍內</a:t>
            </a:r>
            <a:endParaRPr lang="en-US" altLang="zh-TW" dirty="0" smtClean="0"/>
          </a:p>
          <a:p>
            <a:r>
              <a:rPr lang="zh-TW" altLang="en-US" dirty="0" smtClean="0"/>
              <a:t>百分之</a:t>
            </a:r>
            <a:r>
              <a:rPr lang="en-US" altLang="zh-TW" dirty="0" smtClean="0"/>
              <a:t>95.4</a:t>
            </a:r>
            <a:r>
              <a:rPr lang="zh-TW" altLang="en-US" dirty="0" smtClean="0"/>
              <a:t>的數值會落在平均值正負兩倍標準差的範圍內</a:t>
            </a:r>
            <a:endParaRPr lang="en-US" altLang="zh-TW" dirty="0" smtClean="0"/>
          </a:p>
          <a:p>
            <a:r>
              <a:rPr lang="en-US" altLang="zh-TW" dirty="0" smtClean="0"/>
              <a:t>99.7</a:t>
            </a:r>
            <a:r>
              <a:rPr lang="zh-TW" altLang="en-US" dirty="0" smtClean="0"/>
              <a:t>會落在平均值正負三倍標準差的範圍內</a:t>
            </a:r>
            <a:endParaRPr lang="en-US" altLang="zh-TW" dirty="0" smtClean="0"/>
          </a:p>
          <a:p>
            <a:endParaRPr lang="en-US" altLang="zh-TW" dirty="0" smtClean="0"/>
          </a:p>
          <a:p>
            <a:r>
              <a:rPr lang="zh-TW" altLang="en-US" dirty="0" smtClean="0"/>
              <a:t>因此我們使用三倍標準差作為判斷異常的門檻值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的主要概念是觀察資料的變化趨勢</a:t>
            </a:r>
            <a:endParaRPr lang="en-US" altLang="zh-TW" dirty="0" smtClean="0"/>
          </a:p>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50</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51</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6D2C04-C417-422C-B86A-E32301ABF5DE}" type="datetimeFigureOut">
              <a:rPr lang="zh-TW" altLang="en-US" smtClean="0"/>
              <a:t>2017/7/15</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智慧城市</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參考日本電氣</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NEC</a:t>
            </a:r>
            <a:r>
              <a:rPr lang="zh-TW" altLang="en-US" dirty="0" smtClean="0">
                <a:ea typeface="標楷體" panose="03000509000000000000" pitchFamily="65" charset="-120"/>
                <a:cs typeface="Times New Roman" panose="02020603050405020304" pitchFamily="18" charset="0"/>
              </a:rPr>
              <a:t> </a:t>
            </a:r>
            <a:r>
              <a:rPr lang="en-US" altLang="zh-TW" dirty="0" err="1" smtClean="0">
                <a:ea typeface="標楷體" panose="03000509000000000000" pitchFamily="65" charset="-120"/>
                <a:cs typeface="Times New Roman" panose="02020603050405020304" pitchFamily="18" charset="0"/>
              </a:rPr>
              <a:t>Coropration</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對智慧城市的定義</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3426424" y="2274479"/>
            <a:ext cx="5339151" cy="3902484"/>
          </a:xfrm>
          <a:prstGeom prst="rect">
            <a:avLst/>
          </a:prstGeom>
        </p:spPr>
      </p:pic>
    </p:spTree>
    <p:extLst>
      <p:ext uri="{BB962C8B-B14F-4D97-AF65-F5344CB8AC3E}">
        <p14:creationId xmlns:p14="http://schemas.microsoft.com/office/powerpoint/2010/main" val="169455794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會造成裝置感測數值</a:t>
            </a:r>
            <a:r>
              <a:rPr lang="zh-TW" altLang="en-US" dirty="0" smtClean="0">
                <a:latin typeface="標楷體" panose="03000509000000000000" pitchFamily="65" charset="-120"/>
                <a:ea typeface="標楷體" panose="03000509000000000000" pitchFamily="65" charset="-120"/>
              </a:rPr>
              <a:t>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感測數據分析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檢查原始數據的完整性（處理缺失、冗餘）。</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利用分割</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Segmented</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滑動視窗</a:t>
            </a:r>
            <a:r>
              <a:rPr lang="zh-TW" altLang="en-US" dirty="0" smtClean="0">
                <a:ea typeface="標楷體" panose="03000509000000000000" pitchFamily="65" charset="-120"/>
              </a:rPr>
              <a:t>（</a:t>
            </a:r>
            <a:r>
              <a:rPr lang="en-US" altLang="zh-TW" dirty="0" smtClean="0">
                <a:ea typeface="標楷體" panose="03000509000000000000" pitchFamily="65" charset="-120"/>
                <a:cs typeface="Times New Roman" panose="02020603050405020304" pitchFamily="18" charset="0"/>
              </a:rPr>
              <a:t>Sliding Window</a:t>
            </a:r>
            <a:r>
              <a:rPr lang="zh-TW" altLang="en-US" dirty="0" smtClean="0">
                <a:ea typeface="標楷體" panose="03000509000000000000" pitchFamily="65" charset="-120"/>
              </a:rPr>
              <a:t>），</a:t>
            </a:r>
            <a:r>
              <a:rPr lang="zh-TW" altLang="en-US" dirty="0" smtClean="0">
                <a:latin typeface="標楷體" panose="03000509000000000000" pitchFamily="65" charset="-120"/>
                <a:ea typeface="標楷體" panose="03000509000000000000" pitchFamily="65" charset="-120"/>
              </a:rPr>
              <a:t>或是其他</a:t>
            </a:r>
            <a:r>
              <a:rPr lang="zh-TW" altLang="en-US" dirty="0">
                <a:latin typeface="標楷體" panose="03000509000000000000" pitchFamily="65" charset="-120"/>
                <a:ea typeface="標楷體" panose="03000509000000000000" pitchFamily="65" charset="-120"/>
              </a:rPr>
              <a:t>統計</a:t>
            </a:r>
            <a:r>
              <a:rPr lang="zh-TW" altLang="en-US" dirty="0" smtClean="0">
                <a:latin typeface="標楷體" panose="03000509000000000000" pitchFamily="65" charset="-120"/>
                <a:ea typeface="標楷體" panose="03000509000000000000" pitchFamily="65" charset="-120"/>
              </a:rPr>
              <a:t>方式</a:t>
            </a:r>
            <a:r>
              <a:rPr lang="zh-TW" altLang="en-US" dirty="0">
                <a:latin typeface="標楷體" panose="03000509000000000000" pitchFamily="65" charset="-120"/>
                <a:ea typeface="標楷體" panose="03000509000000000000" pitchFamily="65" charset="-120"/>
              </a:rPr>
              <a:t>觀察</a:t>
            </a:r>
            <a:r>
              <a:rPr lang="zh-TW" altLang="en-US" dirty="0" smtClean="0">
                <a:latin typeface="標楷體" panose="03000509000000000000" pitchFamily="65" charset="-120"/>
                <a:ea typeface="標楷體" panose="03000509000000000000" pitchFamily="65" charset="-120"/>
              </a:rPr>
              <a:t>固定</a:t>
            </a:r>
            <a:r>
              <a:rPr lang="zh-TW" altLang="en-US" dirty="0">
                <a:latin typeface="標楷體" panose="03000509000000000000" pitchFamily="65" charset="-120"/>
                <a:ea typeface="標楷體" panose="03000509000000000000" pitchFamily="65" charset="-120"/>
              </a:rPr>
              <a:t>區間的</a:t>
            </a:r>
            <a:r>
              <a:rPr lang="zh-TW" altLang="en-US" dirty="0" smtClean="0">
                <a:latin typeface="標楷體" panose="03000509000000000000" pitchFamily="65" charset="-120"/>
                <a:ea typeface="標楷體" panose="03000509000000000000" pitchFamily="65" charset="-120"/>
              </a:rPr>
              <a:t>資料，提取片</a:t>
            </a:r>
            <a:r>
              <a:rPr lang="zh-TW" altLang="en-US" dirty="0">
                <a:latin typeface="標楷體" panose="03000509000000000000" pitchFamily="65" charset="-120"/>
                <a:ea typeface="標楷體" panose="03000509000000000000" pitchFamily="65" charset="-120"/>
              </a:rPr>
              <a:t>段</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初步特徵結果用於訓練資料模組</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獲得的判斷條件可成為</a:t>
            </a:r>
            <a:r>
              <a:rPr lang="zh-TW" altLang="en-US" dirty="0">
                <a:latin typeface="標楷體" panose="03000509000000000000" pitchFamily="65" charset="-120"/>
                <a:ea typeface="標楷體" panose="03000509000000000000" pitchFamily="65" charset="-120"/>
              </a:rPr>
              <a:t>實際</a:t>
            </a:r>
            <a:r>
              <a:rPr lang="zh-TW" altLang="en-US" dirty="0" smtClean="0">
                <a:latin typeface="標楷體" panose="03000509000000000000" pitchFamily="65" charset="-120"/>
                <a:ea typeface="標楷體" panose="03000509000000000000" pitchFamily="65" charset="-120"/>
              </a:rPr>
              <a:t>應用的參考依據</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異常偵測</a:t>
            </a:r>
            <a:endParaRPr lang="en-US" altLang="zh-TW" dirty="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人體動作判讀</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居間照護</a:t>
            </a:r>
            <a:r>
              <a:rPr lang="zh-TW" altLang="en-US" dirty="0">
                <a:latin typeface="標楷體" panose="03000509000000000000" pitchFamily="65" charset="-120"/>
                <a:ea typeface="標楷體" panose="03000509000000000000" pitchFamily="65" charset="-120"/>
              </a:rPr>
              <a:t>監控</a:t>
            </a:r>
          </a:p>
        </p:txBody>
      </p:sp>
    </p:spTree>
    <p:extLst>
      <p:ext uri="{BB962C8B-B14F-4D97-AF65-F5344CB8AC3E}">
        <p14:creationId xmlns:p14="http://schemas.microsoft.com/office/powerpoint/2010/main" val="424677319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概念是觀察資料變化的離散</a:t>
            </a:r>
            <a:r>
              <a:rPr lang="zh-TW" altLang="zh-TW" dirty="0" smtClean="0">
                <a:latin typeface="標楷體" panose="03000509000000000000" pitchFamily="65" charset="-120"/>
                <a:ea typeface="標楷體" panose="03000509000000000000" pitchFamily="65" charset="-120"/>
              </a:rPr>
              <a:t>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資料的波動大於限制區間便會開始記錄變化幅度的大小，如果趨勢呈現持續增加或減少，變化量會在持續的過程中累加，而累加值到達定量後就會認定資料變化正在偏移原本的狀態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資料波動可容忍的區間範圍（常使用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資料片段平均值與常態分佈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endParaRPr lang="en-US" altLang="zh-TW" dirty="0" smtClean="0"/>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Threshold</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a:t>
            </a:r>
            <a:r>
              <a:rPr lang="zh-TW" altLang="zh-TW" dirty="0">
                <a:latin typeface="標楷體" panose="03000509000000000000" pitchFamily="65" charset="-120"/>
                <a:ea typeface="標楷體" panose="03000509000000000000" pitchFamily="65" charset="-120"/>
              </a:rPr>
              <a:t>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Average with Normal Distribution</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演算法內的機制在回報異常後會清空累加的值，因此只要下一筆資料偏差不會直接造成累加超過門檻，就有機會將下一筆資料加入常態分佈中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Data Segment’s Standard Deviation and Average with LOF Algorithm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smtClean="0">
                <a:latin typeface="標楷體" panose="03000509000000000000" pitchFamily="65" charset="-120"/>
                <a:ea typeface="標楷體" panose="03000509000000000000" pitchFamily="65" charset="-120"/>
              </a:rPr>
              <a:t>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a:t>
            </a:r>
            <a:r>
              <a:rPr lang="zh-TW" altLang="zh-TW" dirty="0" smtClean="0">
                <a:latin typeface="標楷體" panose="03000509000000000000" pitchFamily="65" charset="-120"/>
                <a:ea typeface="標楷體" panose="03000509000000000000" pitchFamily="65" charset="-120"/>
              </a:rPr>
              <a:t>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18835</TotalTime>
  <Words>2110</Words>
  <Application>Microsoft Office PowerPoint</Application>
  <PresentationFormat>寬螢幕</PresentationFormat>
  <Paragraphs>299</Paragraphs>
  <Slides>51</Slides>
  <Notes>51</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51</vt:i4>
      </vt:variant>
    </vt:vector>
  </HeadingPairs>
  <TitlesOfParts>
    <vt:vector size="59"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智慧城市</vt:lpstr>
      <vt:lpstr>資料共享</vt:lpstr>
      <vt:lpstr>資料分析</vt:lpstr>
      <vt:lpstr>相關議題</vt:lpstr>
      <vt:lpstr>感測數據分析</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一般常態分佈</vt:lpstr>
      <vt:lpstr>資料片段平均值與常態分佈</vt:lpstr>
      <vt:lpstr>CUSUM</vt:lpstr>
      <vt:lpstr>資料片段數值與LOF</vt:lpstr>
      <vt:lpstr>資料片段平均值、標準差與LOF</vt:lpstr>
      <vt:lpstr>實驗二</vt:lpstr>
      <vt:lpstr>訓練數據</vt:lpstr>
      <vt:lpstr>訓練數據</vt:lpstr>
      <vt:lpstr>演算法參數設定</vt:lpstr>
      <vt:lpstr>實驗設計</vt:lpstr>
      <vt:lpstr>模擬週期</vt:lpstr>
      <vt:lpstr>真實資料週期</vt:lpstr>
      <vt:lpstr>資料片段數值與LOF</vt:lpstr>
      <vt:lpstr>資料片段平均值、標準差與LOF</vt:lpstr>
      <vt:lpstr>結論</vt:lpstr>
      <vt:lpstr>Threshold</vt:lpstr>
      <vt:lpstr>Normal Distribution</vt:lpstr>
      <vt:lpstr>Data Segment’s Average with Normal Distribution</vt:lpstr>
      <vt:lpstr>CUSUM</vt:lpstr>
      <vt:lpstr>Data Segments with LOF Algorithm</vt:lpstr>
      <vt:lpstr>Data Segment’s Standard Deviation and Average with LOF Algorithm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569</cp:revision>
  <cp:lastPrinted>2017-06-14T21:31:53Z</cp:lastPrinted>
  <dcterms:created xsi:type="dcterms:W3CDTF">2015-11-30T06:30:29Z</dcterms:created>
  <dcterms:modified xsi:type="dcterms:W3CDTF">2017-07-15T08:38:13Z</dcterms:modified>
</cp:coreProperties>
</file>