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handoutMasterIdLst>
    <p:handoutMasterId r:id="rId54"/>
  </p:handoutMasterIdLst>
  <p:sldIdLst>
    <p:sldId id="256" r:id="rId2"/>
    <p:sldId id="281" r:id="rId3"/>
    <p:sldId id="337" r:id="rId4"/>
    <p:sldId id="329" r:id="rId5"/>
    <p:sldId id="330" r:id="rId6"/>
    <p:sldId id="331" r:id="rId7"/>
    <p:sldId id="338" r:id="rId8"/>
    <p:sldId id="332" r:id="rId9"/>
    <p:sldId id="339" r:id="rId10"/>
    <p:sldId id="340" r:id="rId11"/>
    <p:sldId id="369" r:id="rId12"/>
    <p:sldId id="370" r:id="rId13"/>
    <p:sldId id="371" r:id="rId14"/>
    <p:sldId id="341" r:id="rId15"/>
    <p:sldId id="372" r:id="rId16"/>
    <p:sldId id="373" r:id="rId17"/>
    <p:sldId id="374" r:id="rId18"/>
    <p:sldId id="375" r:id="rId19"/>
    <p:sldId id="347" r:id="rId20"/>
    <p:sldId id="376" r:id="rId21"/>
    <p:sldId id="344" r:id="rId22"/>
    <p:sldId id="377" r:id="rId23"/>
    <p:sldId id="345" r:id="rId24"/>
    <p:sldId id="382" r:id="rId25"/>
    <p:sldId id="362" r:id="rId26"/>
    <p:sldId id="396" r:id="rId27"/>
    <p:sldId id="397" r:id="rId28"/>
    <p:sldId id="423" r:id="rId29"/>
    <p:sldId id="336" r:id="rId30"/>
    <p:sldId id="446" r:id="rId31"/>
    <p:sldId id="444" r:id="rId32"/>
    <p:sldId id="448" r:id="rId33"/>
    <p:sldId id="449" r:id="rId34"/>
    <p:sldId id="450" r:id="rId35"/>
    <p:sldId id="451" r:id="rId36"/>
    <p:sldId id="424" r:id="rId37"/>
    <p:sldId id="425" r:id="rId38"/>
    <p:sldId id="431" r:id="rId39"/>
    <p:sldId id="426" r:id="rId40"/>
    <p:sldId id="427" r:id="rId41"/>
    <p:sldId id="428" r:id="rId42"/>
    <p:sldId id="432" r:id="rId43"/>
    <p:sldId id="452" r:id="rId44"/>
    <p:sldId id="453" r:id="rId45"/>
    <p:sldId id="367" r:id="rId46"/>
    <p:sldId id="354" r:id="rId47"/>
    <p:sldId id="437" r:id="rId48"/>
    <p:sldId id="438" r:id="rId49"/>
    <p:sldId id="439" r:id="rId50"/>
    <p:sldId id="440" r:id="rId51"/>
    <p:sldId id="441" r:id="rId52"/>
  </p:sldIdLst>
  <p:sldSz cx="12192000" cy="6858000"/>
  <p:notesSz cx="9874250" cy="6797675"/>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ong" initials="R" lastIdx="1" clrIdx="0">
    <p:extLst>
      <p:ext uri="{19B8F6BF-5375-455C-9EA6-DF929625EA0E}">
        <p15:presenceInfo xmlns:p15="http://schemas.microsoft.com/office/powerpoint/2012/main" userId="Rong"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505E3EF-67EA-436B-97B2-0124C06EBD24}" styleName="中等深淺樣式 4 - 輔色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040" autoAdjust="0"/>
    <p:restoredTop sz="69686" autoAdjust="0"/>
  </p:normalViewPr>
  <p:slideViewPr>
    <p:cSldViewPr snapToGrid="0">
      <p:cViewPr varScale="1">
        <p:scale>
          <a:sx n="80" d="100"/>
          <a:sy n="80" d="100"/>
        </p:scale>
        <p:origin x="1734"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commentAuthors" Target="commen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1"/>
            <a:ext cx="4278842" cy="341064"/>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sz="quarter" idx="1"/>
          </p:nvPr>
        </p:nvSpPr>
        <p:spPr>
          <a:xfrm>
            <a:off x="5593123" y="1"/>
            <a:ext cx="4278842" cy="341064"/>
          </a:xfrm>
          <a:prstGeom prst="rect">
            <a:avLst/>
          </a:prstGeom>
        </p:spPr>
        <p:txBody>
          <a:bodyPr vert="horz" lIns="91440" tIns="45720" rIns="91440" bIns="45720" rtlCol="0"/>
          <a:lstStyle>
            <a:lvl1pPr algn="r">
              <a:defRPr sz="1200"/>
            </a:lvl1pPr>
          </a:lstStyle>
          <a:p>
            <a:fld id="{6977A58A-38D4-4745-B1BD-B36B6360EE10}" type="datetimeFigureOut">
              <a:rPr lang="zh-TW" altLang="en-US" smtClean="0"/>
              <a:t>2017/7/16</a:t>
            </a:fld>
            <a:endParaRPr lang="zh-TW" altLang="en-US"/>
          </a:p>
        </p:txBody>
      </p:sp>
      <p:sp>
        <p:nvSpPr>
          <p:cNvPr id="4" name="頁尾版面配置區 3"/>
          <p:cNvSpPr>
            <a:spLocks noGrp="1"/>
          </p:cNvSpPr>
          <p:nvPr>
            <p:ph type="ftr" sz="quarter" idx="2"/>
          </p:nvPr>
        </p:nvSpPr>
        <p:spPr>
          <a:xfrm>
            <a:off x="0" y="6456612"/>
            <a:ext cx="4278842" cy="341063"/>
          </a:xfrm>
          <a:prstGeom prst="rect">
            <a:avLst/>
          </a:prstGeom>
        </p:spPr>
        <p:txBody>
          <a:bodyPr vert="horz" lIns="91440" tIns="45720" rIns="91440" bIns="45720" rtlCol="0" anchor="b"/>
          <a:lstStyle>
            <a:lvl1pPr algn="l">
              <a:defRPr sz="1200"/>
            </a:lvl1pPr>
          </a:lstStyle>
          <a:p>
            <a:endParaRPr lang="zh-TW" altLang="en-US"/>
          </a:p>
        </p:txBody>
      </p:sp>
      <p:sp>
        <p:nvSpPr>
          <p:cNvPr id="5" name="投影片編號版面配置區 4"/>
          <p:cNvSpPr>
            <a:spLocks noGrp="1"/>
          </p:cNvSpPr>
          <p:nvPr>
            <p:ph type="sldNum" sz="quarter" idx="3"/>
          </p:nvPr>
        </p:nvSpPr>
        <p:spPr>
          <a:xfrm>
            <a:off x="5593123" y="6456612"/>
            <a:ext cx="4278842" cy="341063"/>
          </a:xfrm>
          <a:prstGeom prst="rect">
            <a:avLst/>
          </a:prstGeom>
        </p:spPr>
        <p:txBody>
          <a:bodyPr vert="horz" lIns="91440" tIns="45720" rIns="91440" bIns="45720" rtlCol="0" anchor="b"/>
          <a:lstStyle>
            <a:lvl1pPr algn="r">
              <a:defRPr sz="1200"/>
            </a:lvl1pPr>
          </a:lstStyle>
          <a:p>
            <a:fld id="{E82FCCD5-CA28-4F76-B616-5D5585D3C6C6}" type="slidenum">
              <a:rPr lang="zh-TW" altLang="en-US" smtClean="0"/>
              <a:t>‹#›</a:t>
            </a:fld>
            <a:endParaRPr lang="zh-TW" altLang="en-US"/>
          </a:p>
        </p:txBody>
      </p:sp>
    </p:spTree>
    <p:extLst>
      <p:ext uri="{BB962C8B-B14F-4D97-AF65-F5344CB8AC3E}">
        <p14:creationId xmlns:p14="http://schemas.microsoft.com/office/powerpoint/2010/main" val="140206596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1"/>
            <a:ext cx="4278842" cy="341064"/>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5593123" y="1"/>
            <a:ext cx="4278842" cy="341064"/>
          </a:xfrm>
          <a:prstGeom prst="rect">
            <a:avLst/>
          </a:prstGeom>
        </p:spPr>
        <p:txBody>
          <a:bodyPr vert="horz" lIns="91440" tIns="45720" rIns="91440" bIns="45720" rtlCol="0"/>
          <a:lstStyle>
            <a:lvl1pPr algn="r">
              <a:defRPr sz="1200"/>
            </a:lvl1pPr>
          </a:lstStyle>
          <a:p>
            <a:fld id="{24BD2BB7-AC21-4A01-8503-F1C775A6F59E}" type="datetimeFigureOut">
              <a:rPr lang="zh-TW" altLang="en-US" smtClean="0"/>
              <a:t>2017/7/16</a:t>
            </a:fld>
            <a:endParaRPr lang="zh-TW" altLang="en-US"/>
          </a:p>
        </p:txBody>
      </p:sp>
      <p:sp>
        <p:nvSpPr>
          <p:cNvPr id="4" name="投影片圖像版面配置區 3"/>
          <p:cNvSpPr>
            <a:spLocks noGrp="1" noRot="1" noChangeAspect="1"/>
          </p:cNvSpPr>
          <p:nvPr>
            <p:ph type="sldImg" idx="2"/>
          </p:nvPr>
        </p:nvSpPr>
        <p:spPr>
          <a:xfrm>
            <a:off x="2898775" y="849313"/>
            <a:ext cx="4078288" cy="2293937"/>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987425" y="3271381"/>
            <a:ext cx="7899400" cy="2676585"/>
          </a:xfrm>
          <a:prstGeom prst="rect">
            <a:avLst/>
          </a:prstGeom>
        </p:spPr>
        <p:txBody>
          <a:bodyPr vert="horz" lIns="91440" tIns="45720" rIns="91440" bIns="45720" rtlCol="0"/>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6" name="頁尾版面配置區 5"/>
          <p:cNvSpPr>
            <a:spLocks noGrp="1"/>
          </p:cNvSpPr>
          <p:nvPr>
            <p:ph type="ftr" sz="quarter" idx="4"/>
          </p:nvPr>
        </p:nvSpPr>
        <p:spPr>
          <a:xfrm>
            <a:off x="0" y="6456612"/>
            <a:ext cx="4278842" cy="341063"/>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5593123" y="6456612"/>
            <a:ext cx="4278842" cy="341063"/>
          </a:xfrm>
          <a:prstGeom prst="rect">
            <a:avLst/>
          </a:prstGeom>
        </p:spPr>
        <p:txBody>
          <a:bodyPr vert="horz" lIns="91440" tIns="45720" rIns="91440" bIns="45720" rtlCol="0" anchor="b"/>
          <a:lstStyle>
            <a:lvl1pPr algn="r">
              <a:defRPr sz="1200"/>
            </a:lvl1pPr>
          </a:lstStyle>
          <a:p>
            <a:fld id="{5E30E15B-F52A-4B5F-8267-50F0C60CEFA2}" type="slidenum">
              <a:rPr lang="zh-TW" altLang="en-US" smtClean="0"/>
              <a:t>‹#›</a:t>
            </a:fld>
            <a:endParaRPr lang="zh-TW" altLang="en-US"/>
          </a:p>
        </p:txBody>
      </p:sp>
    </p:spTree>
    <p:extLst>
      <p:ext uri="{BB962C8B-B14F-4D97-AF65-F5344CB8AC3E}">
        <p14:creationId xmlns:p14="http://schemas.microsoft.com/office/powerpoint/2010/main" val="12645351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我的論文題目是</a:t>
            </a:r>
            <a:endParaRPr lang="en-US" altLang="zh-TW" dirty="0" smtClean="0"/>
          </a:p>
          <a:p>
            <a:r>
              <a:rPr lang="en-US" altLang="zh-TW" dirty="0" err="1" smtClean="0"/>
              <a:t>IoT</a:t>
            </a:r>
            <a:r>
              <a:rPr lang="zh-TW" altLang="en-US" dirty="0" smtClean="0"/>
              <a:t>整合管理平台之異常檢測和事件警報系統</a:t>
            </a:r>
            <a:endParaRPr lang="zh-TW" altLang="en-US" dirty="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a:t>
            </a:fld>
            <a:endParaRPr lang="zh-TW" altLang="en-US"/>
          </a:p>
        </p:txBody>
      </p:sp>
    </p:spTree>
    <p:extLst>
      <p:ext uri="{BB962C8B-B14F-4D97-AF65-F5344CB8AC3E}">
        <p14:creationId xmlns:p14="http://schemas.microsoft.com/office/powerpoint/2010/main" val="17073554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今天的簡報流程分為六個部分</a:t>
            </a:r>
            <a:endParaRPr lang="en-US" altLang="zh-TW" dirty="0" smtClean="0"/>
          </a:p>
          <a:p>
            <a:r>
              <a:rPr lang="zh-TW" altLang="en-US" dirty="0" smtClean="0"/>
              <a:t>研究動機和目的會簡略敘述我為什麼要做這個研究</a:t>
            </a:r>
            <a:endParaRPr lang="en-US" altLang="zh-TW" dirty="0" smtClean="0"/>
          </a:p>
          <a:p>
            <a:r>
              <a:rPr lang="zh-TW" altLang="en-US" dirty="0" smtClean="0"/>
              <a:t>相關議題會稍微介紹異常事件的種類和用於偵測異常的方法類型</a:t>
            </a:r>
            <a:endParaRPr lang="en-US" altLang="zh-TW" dirty="0" smtClean="0"/>
          </a:p>
          <a:p>
            <a:r>
              <a:rPr lang="zh-TW" altLang="en-US" dirty="0" smtClean="0"/>
              <a:t>研究方法的部分說明我們實作於即時資料分析的方法和理論依據</a:t>
            </a:r>
            <a:endParaRPr lang="en-US" altLang="zh-TW" dirty="0" smtClean="0"/>
          </a:p>
          <a:p>
            <a:r>
              <a:rPr lang="zh-TW" altLang="en-US" dirty="0" smtClean="0"/>
              <a:t>實驗分為兩個步驟分別展示不同資料特徵下，偵測方法產生的結果</a:t>
            </a:r>
            <a:endParaRPr lang="en-US" altLang="zh-TW" dirty="0" smtClean="0"/>
          </a:p>
          <a:p>
            <a:r>
              <a:rPr lang="zh-TW" altLang="en-US" dirty="0" smtClean="0"/>
              <a:t>最後結論分別描述不同方法的特性</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a:t>
            </a:fld>
            <a:endParaRPr lang="zh-TW" altLang="en-US"/>
          </a:p>
        </p:txBody>
      </p:sp>
    </p:spTree>
    <p:extLst>
      <p:ext uri="{BB962C8B-B14F-4D97-AF65-F5344CB8AC3E}">
        <p14:creationId xmlns:p14="http://schemas.microsoft.com/office/powerpoint/2010/main" val="39474934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a:t>
            </a:fld>
            <a:endParaRPr lang="zh-TW" altLang="en-US"/>
          </a:p>
        </p:txBody>
      </p:sp>
    </p:spTree>
    <p:extLst>
      <p:ext uri="{BB962C8B-B14F-4D97-AF65-F5344CB8AC3E}">
        <p14:creationId xmlns:p14="http://schemas.microsoft.com/office/powerpoint/2010/main" val="39117976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日本電氣將都市環境分成人、物、資訊和能源四個層面</a:t>
            </a:r>
            <a:endParaRPr lang="en-US" altLang="zh-TW" dirty="0" smtClean="0"/>
          </a:p>
          <a:p>
            <a:r>
              <a:rPr lang="zh-TW" altLang="en-US" dirty="0" smtClean="0"/>
              <a:t>智慧城市的宗旨是希望藉由觀察物體、資訊、能源之間的聯繫，分析預測城市的變化</a:t>
            </a:r>
            <a:endParaRPr lang="en-US" altLang="zh-TW" dirty="0" smtClean="0"/>
          </a:p>
          <a:p>
            <a:r>
              <a:rPr lang="zh-TW" altLang="en-US" dirty="0" smtClean="0"/>
              <a:t>最終反映人的需求</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a:t>
            </a:fld>
            <a:endParaRPr lang="zh-TW" altLang="en-US"/>
          </a:p>
        </p:txBody>
      </p:sp>
    </p:spTree>
    <p:extLst>
      <p:ext uri="{BB962C8B-B14F-4D97-AF65-F5344CB8AC3E}">
        <p14:creationId xmlns:p14="http://schemas.microsoft.com/office/powerpoint/2010/main" val="3134212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台灣政府也有開放資料的平台</a:t>
            </a:r>
            <a:endParaRPr lang="en-US" altLang="zh-TW" dirty="0" smtClean="0"/>
          </a:p>
          <a:p>
            <a:r>
              <a:rPr lang="zh-TW" altLang="en-US" dirty="0" smtClean="0"/>
              <a:t>但不足的是</a:t>
            </a:r>
            <a:endParaRPr lang="en-US" altLang="zh-TW" dirty="0" smtClean="0"/>
          </a:p>
          <a:p>
            <a:r>
              <a:rPr lang="zh-TW" altLang="en-US" dirty="0" smtClean="0"/>
              <a:t>平台上分享的訊息大多是原始資料的型態</a:t>
            </a:r>
            <a:endParaRPr lang="en-US" altLang="zh-TW" dirty="0" smtClean="0"/>
          </a:p>
          <a:p>
            <a:r>
              <a:rPr lang="zh-TW" altLang="en-US" dirty="0" smtClean="0"/>
              <a:t>這些沒有經過整理的資料對一般使用者參考價值較低</a:t>
            </a:r>
            <a:endParaRPr lang="en-US" altLang="zh-TW" dirty="0" smtClean="0"/>
          </a:p>
          <a:p>
            <a:r>
              <a:rPr lang="zh-TW" altLang="en-US" dirty="0" smtClean="0"/>
              <a:t>此平台中也沒有便利的方式可以代管私人的資料來源</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5</a:t>
            </a:fld>
            <a:endParaRPr lang="zh-TW" altLang="en-US"/>
          </a:p>
        </p:txBody>
      </p:sp>
    </p:spTree>
    <p:extLst>
      <p:ext uri="{BB962C8B-B14F-4D97-AF65-F5344CB8AC3E}">
        <p14:creationId xmlns:p14="http://schemas.microsoft.com/office/powerpoint/2010/main" val="37620270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環境狀態改變或事件發生，通常會造成環境監控數值的變化</a:t>
            </a:r>
            <a:endParaRPr lang="en-US" altLang="zh-TW" dirty="0" smtClean="0"/>
          </a:p>
          <a:p>
            <a:r>
              <a:rPr lang="zh-TW" altLang="en-US" dirty="0" smtClean="0"/>
              <a:t>事件發生後經過的時間越長，及時通知的訊息價值也就越低</a:t>
            </a:r>
            <a:endParaRPr lang="en-US" altLang="zh-TW" dirty="0" smtClean="0"/>
          </a:p>
          <a:p>
            <a:r>
              <a:rPr lang="zh-TW" altLang="en-US" dirty="0" smtClean="0"/>
              <a:t>因此分析串流資料的演算法必須輕量有效</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6</a:t>
            </a:fld>
            <a:endParaRPr lang="zh-TW" altLang="en-US"/>
          </a:p>
        </p:txBody>
      </p:sp>
    </p:spTree>
    <p:extLst>
      <p:ext uri="{BB962C8B-B14F-4D97-AF65-F5344CB8AC3E}">
        <p14:creationId xmlns:p14="http://schemas.microsoft.com/office/powerpoint/2010/main" val="7273802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7</a:t>
            </a:fld>
            <a:endParaRPr lang="zh-TW" altLang="en-US"/>
          </a:p>
        </p:txBody>
      </p:sp>
    </p:spTree>
    <p:extLst>
      <p:ext uri="{BB962C8B-B14F-4D97-AF65-F5344CB8AC3E}">
        <p14:creationId xmlns:p14="http://schemas.microsoft.com/office/powerpoint/2010/main" val="2476567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感測資料最常發生的錯誤是接收過程中訊息交遞可能造成的缺失或冗餘</a:t>
            </a:r>
            <a:endParaRPr lang="en-US" altLang="zh-TW" dirty="0" smtClean="0"/>
          </a:p>
          <a:p>
            <a:r>
              <a:rPr lang="zh-TW" altLang="en-US" dirty="0" smtClean="0"/>
              <a:t>因此在處理此類感測數值時，一般可分為幾個流程如下</a:t>
            </a:r>
            <a:endParaRPr lang="en-US" altLang="zh-TW" dirty="0" smtClean="0"/>
          </a:p>
          <a:p>
            <a:r>
              <a:rPr lang="zh-TW" altLang="en-US" dirty="0" smtClean="0"/>
              <a:t>檢查原始數據的完整性</a:t>
            </a:r>
            <a:endParaRPr lang="en-US" altLang="zh-TW" dirty="0" smtClean="0"/>
          </a:p>
          <a:p>
            <a:r>
              <a:rPr lang="zh-TW" altLang="en-US" dirty="0" smtClean="0"/>
              <a:t>利用分割或是觀察視窗的方式取得資料片段的特徵</a:t>
            </a:r>
            <a:endParaRPr lang="en-US" altLang="zh-TW" dirty="0" smtClean="0"/>
          </a:p>
          <a:p>
            <a:r>
              <a:rPr lang="zh-TW" altLang="en-US" dirty="0" smtClean="0"/>
              <a:t>特徵結果可用於訓練判斷模組</a:t>
            </a:r>
            <a:endParaRPr lang="en-US" altLang="zh-TW" dirty="0" smtClean="0"/>
          </a:p>
          <a:p>
            <a:r>
              <a:rPr lang="zh-TW" altLang="en-US" dirty="0" smtClean="0"/>
              <a:t>獲得的判斷條件將可以成為實際應用的參考依據</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8</a:t>
            </a:fld>
            <a:endParaRPr lang="zh-TW" altLang="en-US"/>
          </a:p>
        </p:txBody>
      </p:sp>
    </p:spTree>
    <p:extLst>
      <p:ext uri="{BB962C8B-B14F-4D97-AF65-F5344CB8AC3E}">
        <p14:creationId xmlns:p14="http://schemas.microsoft.com/office/powerpoint/2010/main" val="1534205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異常是什麼</a:t>
            </a:r>
            <a:endParaRPr lang="en-US" altLang="zh-TW" dirty="0" smtClean="0"/>
          </a:p>
          <a:p>
            <a:r>
              <a:rPr lang="zh-TW" altLang="zh-TW" sz="1200" kern="1200" dirty="0" smtClean="0">
                <a:solidFill>
                  <a:schemeClr val="tx1"/>
                </a:solidFill>
                <a:effectLst/>
                <a:latin typeface="+mn-lt"/>
                <a:ea typeface="+mn-ea"/>
                <a:cs typeface="+mn-cs"/>
              </a:rPr>
              <a:t>異常指的是在資料集中還未被清楚定義的資料特徵，也就是和歷史情況比較偏離大部分特徵群集的資料</a:t>
            </a:r>
            <a:endParaRPr lang="en-US" altLang="zh-TW" sz="1200" kern="1200" dirty="0" smtClean="0">
              <a:solidFill>
                <a:schemeClr val="tx1"/>
              </a:solidFill>
              <a:effectLst/>
              <a:latin typeface="+mn-lt"/>
              <a:ea typeface="+mn-ea"/>
              <a:cs typeface="+mn-cs"/>
            </a:endParaRPr>
          </a:p>
          <a:p>
            <a:r>
              <a:rPr lang="zh-TW" altLang="zh-TW" sz="1200" kern="1200" dirty="0" smtClean="0">
                <a:solidFill>
                  <a:schemeClr val="tx1"/>
                </a:solidFill>
                <a:effectLst/>
                <a:latin typeface="+mn-lt"/>
                <a:ea typeface="+mn-ea"/>
                <a:cs typeface="+mn-cs"/>
              </a:rPr>
              <a:t>刻意的行為干擾、自然情境的狀態改變或是解釋資料前遇到定義之外的狀況，都可能造成異常或是錯誤的資料產生。</a:t>
            </a:r>
            <a:endParaRPr lang="en-US" altLang="zh-TW" sz="1200" kern="1200" dirty="0" smtClean="0">
              <a:solidFill>
                <a:schemeClr val="tx1"/>
              </a:solidFill>
              <a:effectLst/>
              <a:latin typeface="+mn-lt"/>
              <a:ea typeface="+mn-ea"/>
              <a:cs typeface="+mn-cs"/>
            </a:endParaRPr>
          </a:p>
          <a:p>
            <a:r>
              <a:rPr lang="zh-TW" altLang="en-US" dirty="0" smtClean="0"/>
              <a:t>不同</a:t>
            </a:r>
            <a:r>
              <a:rPr lang="zh-TW" altLang="en-US" dirty="0" smtClean="0"/>
              <a:t>的事件都有不同的表現模式，混雜於大多是正常的資料狀態中</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9</a:t>
            </a:fld>
            <a:endParaRPr lang="zh-TW" altLang="en-US"/>
          </a:p>
        </p:txBody>
      </p:sp>
    </p:spTree>
    <p:extLst>
      <p:ext uri="{BB962C8B-B14F-4D97-AF65-F5344CB8AC3E}">
        <p14:creationId xmlns:p14="http://schemas.microsoft.com/office/powerpoint/2010/main" val="30834713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異常可大致分為三種類型，分別為</a:t>
            </a:r>
            <a:endParaRPr lang="en-US" altLang="zh-TW" dirty="0" smtClean="0"/>
          </a:p>
          <a:p>
            <a:r>
              <a:rPr lang="zh-TW" altLang="en-US" dirty="0" smtClean="0"/>
              <a:t>單點</a:t>
            </a:r>
            <a:endParaRPr lang="en-US" altLang="zh-TW" dirty="0" smtClean="0"/>
          </a:p>
          <a:p>
            <a:r>
              <a:rPr lang="zh-TW" altLang="en-US" dirty="0" smtClean="0"/>
              <a:t>集體</a:t>
            </a:r>
            <a:endParaRPr lang="en-US" altLang="zh-TW" dirty="0" smtClean="0"/>
          </a:p>
          <a:p>
            <a:r>
              <a:rPr lang="zh-TW" altLang="en-US" dirty="0" smtClean="0"/>
              <a:t>條件式異常</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10</a:t>
            </a:fld>
            <a:endParaRPr lang="zh-TW" altLang="en-US"/>
          </a:p>
        </p:txBody>
      </p:sp>
    </p:spTree>
    <p:extLst>
      <p:ext uri="{BB962C8B-B14F-4D97-AF65-F5344CB8AC3E}">
        <p14:creationId xmlns:p14="http://schemas.microsoft.com/office/powerpoint/2010/main" val="7015188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從圖中可以看到</a:t>
            </a:r>
            <a:endParaRPr lang="en-US" altLang="zh-TW" dirty="0" smtClean="0"/>
          </a:p>
          <a:p>
            <a:r>
              <a:rPr lang="zh-TW" altLang="en-US" dirty="0" smtClean="0"/>
              <a:t>單點異常指的是少數幾個資料點偏離群體資料狀態的現象</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11</a:t>
            </a:fld>
            <a:endParaRPr lang="zh-TW" altLang="en-US"/>
          </a:p>
        </p:txBody>
      </p:sp>
    </p:spTree>
    <p:extLst>
      <p:ext uri="{BB962C8B-B14F-4D97-AF65-F5344CB8AC3E}">
        <p14:creationId xmlns:p14="http://schemas.microsoft.com/office/powerpoint/2010/main" val="25286563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集體異常</a:t>
            </a:r>
            <a:endParaRPr lang="en-US" altLang="zh-TW" dirty="0" smtClean="0"/>
          </a:p>
          <a:p>
            <a:r>
              <a:rPr lang="zh-TW" altLang="en-US" dirty="0" smtClean="0"/>
              <a:t>表示有一小群資料偏離主要群體，並且小群集中的資料擁有類似的特徵</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12</a:t>
            </a:fld>
            <a:endParaRPr lang="zh-TW" altLang="en-US"/>
          </a:p>
        </p:txBody>
      </p:sp>
    </p:spTree>
    <p:extLst>
      <p:ext uri="{BB962C8B-B14F-4D97-AF65-F5344CB8AC3E}">
        <p14:creationId xmlns:p14="http://schemas.microsoft.com/office/powerpoint/2010/main" val="4943192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條件異常這裡已商業區的用電量與時間舉例說明</a:t>
            </a:r>
            <a:endParaRPr lang="en-US" altLang="zh-TW" dirty="0" smtClean="0"/>
          </a:p>
          <a:p>
            <a:r>
              <a:rPr lang="zh-TW" altLang="en-US" dirty="0" smtClean="0"/>
              <a:t>上班時段的用電量上升是合理的現象</a:t>
            </a:r>
            <a:endParaRPr lang="en-US" altLang="zh-TW" dirty="0" smtClean="0"/>
          </a:p>
          <a:p>
            <a:r>
              <a:rPr lang="zh-TW" altLang="en-US" dirty="0" smtClean="0"/>
              <a:t>但是同樣的資料行為移至深夜時段就是不正常的事件</a:t>
            </a:r>
            <a:endParaRPr lang="en-US" altLang="zh-TW" dirty="0" smtClean="0"/>
          </a:p>
          <a:p>
            <a:r>
              <a:rPr lang="zh-TW" altLang="en-US" dirty="0" smtClean="0"/>
              <a:t>這個範例中的條件是時間</a:t>
            </a:r>
            <a:endParaRPr lang="en-US" altLang="zh-TW" dirty="0" smtClean="0"/>
          </a:p>
          <a:p>
            <a:r>
              <a:rPr lang="zh-TW" altLang="en-US" dirty="0" smtClean="0"/>
              <a:t>某些時間下將事件視為合理情況</a:t>
            </a:r>
            <a:endParaRPr lang="en-US" altLang="zh-TW" dirty="0" smtClean="0"/>
          </a:p>
          <a:p>
            <a:r>
              <a:rPr lang="zh-TW" altLang="en-US" dirty="0" smtClean="0"/>
              <a:t>但同樣的情況移動到其他時段則會被視為異常</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13</a:t>
            </a:fld>
            <a:endParaRPr lang="zh-TW" altLang="en-US"/>
          </a:p>
        </p:txBody>
      </p:sp>
    </p:spTree>
    <p:extLst>
      <p:ext uri="{BB962C8B-B14F-4D97-AF65-F5344CB8AC3E}">
        <p14:creationId xmlns:p14="http://schemas.microsoft.com/office/powerpoint/2010/main" val="238231346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異常偵測的方法有很多</a:t>
            </a:r>
            <a:endParaRPr lang="en-US" altLang="zh-TW" dirty="0" smtClean="0"/>
          </a:p>
          <a:p>
            <a:r>
              <a:rPr lang="zh-TW" altLang="en-US" dirty="0" smtClean="0"/>
              <a:t>又以判斷的基礎概念可以大致分為四種類型</a:t>
            </a:r>
            <a:endParaRPr lang="en-US" altLang="zh-TW" dirty="0" smtClean="0"/>
          </a:p>
          <a:p>
            <a:r>
              <a:rPr lang="zh-TW" altLang="en-US" dirty="0" smtClean="0"/>
              <a:t>分類</a:t>
            </a:r>
            <a:endParaRPr lang="en-US" altLang="zh-TW" dirty="0" smtClean="0"/>
          </a:p>
          <a:p>
            <a:r>
              <a:rPr lang="zh-TW" altLang="en-US" dirty="0" smtClean="0"/>
              <a:t>分群</a:t>
            </a:r>
            <a:endParaRPr lang="en-US" altLang="zh-TW" dirty="0" smtClean="0"/>
          </a:p>
          <a:p>
            <a:r>
              <a:rPr lang="zh-TW" altLang="en-US" dirty="0" smtClean="0"/>
              <a:t>鄰近點</a:t>
            </a:r>
            <a:endParaRPr lang="en-US" altLang="zh-TW" dirty="0" smtClean="0"/>
          </a:p>
          <a:p>
            <a:r>
              <a:rPr lang="zh-TW" altLang="en-US" dirty="0" smtClean="0"/>
              <a:t>和統計為基礎的判斷方法</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14</a:t>
            </a:fld>
            <a:endParaRPr lang="zh-TW" altLang="en-US"/>
          </a:p>
        </p:txBody>
      </p:sp>
    </p:spTree>
    <p:extLst>
      <p:ext uri="{BB962C8B-B14F-4D97-AF65-F5344CB8AC3E}">
        <p14:creationId xmlns:p14="http://schemas.microsoft.com/office/powerpoint/2010/main" val="200881927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分類為基礎的判斷方法</a:t>
            </a:r>
            <a:endParaRPr lang="en-US" altLang="zh-TW" dirty="0" smtClean="0"/>
          </a:p>
          <a:p>
            <a:r>
              <a:rPr lang="zh-TW" altLang="en-US" dirty="0" smtClean="0"/>
              <a:t>是利用監督或是半監督的方式學習正常類型的資料特徵</a:t>
            </a:r>
            <a:endParaRPr lang="en-US" altLang="zh-TW" dirty="0" smtClean="0"/>
          </a:p>
          <a:p>
            <a:r>
              <a:rPr lang="zh-TW" altLang="en-US" dirty="0" smtClean="0"/>
              <a:t>之後再藉由學習到的結果判斷是否滿足異常條件</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15</a:t>
            </a:fld>
            <a:endParaRPr lang="zh-TW" altLang="en-US"/>
          </a:p>
        </p:txBody>
      </p:sp>
    </p:spTree>
    <p:extLst>
      <p:ext uri="{BB962C8B-B14F-4D97-AF65-F5344CB8AC3E}">
        <p14:creationId xmlns:p14="http://schemas.microsoft.com/office/powerpoint/2010/main" val="248741328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分群與分類的方法有點相似</a:t>
            </a:r>
            <a:endParaRPr lang="en-US" altLang="zh-TW" dirty="0" smtClean="0"/>
          </a:p>
          <a:p>
            <a:r>
              <a:rPr lang="zh-TW" altLang="en-US" dirty="0" smtClean="0"/>
              <a:t>都是以資料分布的狀態最為判斷標準</a:t>
            </a:r>
            <a:endParaRPr lang="en-US" altLang="zh-TW" dirty="0" smtClean="0"/>
          </a:p>
          <a:p>
            <a:r>
              <a:rPr lang="zh-TW" altLang="en-US" dirty="0" smtClean="0"/>
              <a:t>但不同的是分群的方法不須透過人為的介入來訓練判斷條件</a:t>
            </a:r>
            <a:endParaRPr lang="en-US" altLang="zh-TW" dirty="0" smtClean="0"/>
          </a:p>
          <a:p>
            <a:r>
              <a:rPr lang="zh-TW" altLang="en-US" dirty="0" smtClean="0"/>
              <a:t>而是使用分群演算法找到資料的分布狀態</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16</a:t>
            </a:fld>
            <a:endParaRPr lang="zh-TW" altLang="en-US"/>
          </a:p>
        </p:txBody>
      </p:sp>
    </p:spTree>
    <p:extLst>
      <p:ext uri="{BB962C8B-B14F-4D97-AF65-F5344CB8AC3E}">
        <p14:creationId xmlns:p14="http://schemas.microsoft.com/office/powerpoint/2010/main" val="405629753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鄰近點的方法主要判斷資料和鄰近資料之間的距離</a:t>
            </a:r>
            <a:endParaRPr lang="en-US" altLang="zh-TW" dirty="0" smtClean="0"/>
          </a:p>
          <a:p>
            <a:r>
              <a:rPr lang="zh-TW" altLang="en-US" dirty="0" smtClean="0"/>
              <a:t>如果相距太遠就可能是異常特徵</a:t>
            </a:r>
            <a:endParaRPr lang="en-US" altLang="zh-TW" dirty="0" smtClean="0"/>
          </a:p>
          <a:p>
            <a:r>
              <a:rPr lang="zh-TW" altLang="en-US" dirty="0" smtClean="0"/>
              <a:t>鄰近點的概念也常搭配其他方法使用</a:t>
            </a:r>
            <a:endParaRPr lang="en-US" altLang="zh-TW" dirty="0" smtClean="0"/>
          </a:p>
          <a:p>
            <a:r>
              <a:rPr lang="zh-TW" altLang="en-US" dirty="0" smtClean="0"/>
              <a:t>例如本論文使用的</a:t>
            </a:r>
            <a:r>
              <a:rPr lang="en-US" altLang="zh-TW" dirty="0" smtClean="0"/>
              <a:t>LOF</a:t>
            </a:r>
            <a:r>
              <a:rPr lang="zh-TW" altLang="en-US" dirty="0" smtClean="0"/>
              <a:t>演算法當中就是以</a:t>
            </a:r>
            <a:r>
              <a:rPr lang="en-US" altLang="zh-TW" dirty="0" smtClean="0"/>
              <a:t>K Nearest Neighbor</a:t>
            </a:r>
            <a:r>
              <a:rPr lang="zh-TW" altLang="en-US" dirty="0" smtClean="0"/>
              <a:t>來決定計算密度的區域範圍</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17</a:t>
            </a:fld>
            <a:endParaRPr lang="zh-TW" altLang="en-US"/>
          </a:p>
        </p:txBody>
      </p:sp>
    </p:spTree>
    <p:extLst>
      <p:ext uri="{BB962C8B-B14F-4D97-AF65-F5344CB8AC3E}">
        <p14:creationId xmlns:p14="http://schemas.microsoft.com/office/powerpoint/2010/main" val="34131047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統計為基礎的方法設想一般情形下</a:t>
            </a:r>
            <a:endParaRPr lang="en-US" altLang="zh-TW" dirty="0" smtClean="0"/>
          </a:p>
          <a:p>
            <a:r>
              <a:rPr lang="zh-TW" altLang="en-US" dirty="0" smtClean="0"/>
              <a:t>產生正常資料的機率應該會高於異常的機率</a:t>
            </a:r>
            <a:endParaRPr lang="en-US" altLang="zh-TW" dirty="0" smtClean="0"/>
          </a:p>
          <a:p>
            <a:r>
              <a:rPr lang="zh-TW" altLang="en-US" dirty="0" smtClean="0"/>
              <a:t>因此藉由學習當下片段資料的特徵</a:t>
            </a:r>
            <a:endParaRPr lang="en-US" altLang="zh-TW" dirty="0" smtClean="0"/>
          </a:p>
          <a:p>
            <a:r>
              <a:rPr lang="zh-TW" altLang="en-US" dirty="0" smtClean="0"/>
              <a:t>用來預測未來可能的變動趨勢</a:t>
            </a:r>
            <a:endParaRPr lang="en-US" altLang="zh-TW" dirty="0" smtClean="0"/>
          </a:p>
          <a:p>
            <a:r>
              <a:rPr lang="zh-TW" altLang="en-US" dirty="0" smtClean="0"/>
              <a:t>例如統計學常用的一般常態分佈與標準差</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18</a:t>
            </a:fld>
            <a:endParaRPr lang="zh-TW" altLang="en-US"/>
          </a:p>
        </p:txBody>
      </p:sp>
    </p:spTree>
    <p:extLst>
      <p:ext uri="{BB962C8B-B14F-4D97-AF65-F5344CB8AC3E}">
        <p14:creationId xmlns:p14="http://schemas.microsoft.com/office/powerpoint/2010/main" val="22926007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19</a:t>
            </a:fld>
            <a:endParaRPr lang="zh-TW" altLang="en-US"/>
          </a:p>
        </p:txBody>
      </p:sp>
    </p:spTree>
    <p:extLst>
      <p:ext uri="{BB962C8B-B14F-4D97-AF65-F5344CB8AC3E}">
        <p14:creationId xmlns:p14="http://schemas.microsoft.com/office/powerpoint/2010/main" val="37176556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常態分佈的特性是機率統計學廣泛應用的一種分布類型</a:t>
            </a:r>
            <a:endParaRPr lang="en-US" altLang="zh-TW" dirty="0" smtClean="0"/>
          </a:p>
          <a:p>
            <a:r>
              <a:rPr lang="zh-TW" altLang="en-US" dirty="0" smtClean="0"/>
              <a:t>個科學領域中也能觀察到許多資料特徵符合常態分佈的行為</a:t>
            </a:r>
            <a:endParaRPr lang="en-US" altLang="zh-TW" dirty="0" smtClean="0"/>
          </a:p>
          <a:p>
            <a:r>
              <a:rPr lang="zh-TW" altLang="en-US" dirty="0" smtClean="0"/>
              <a:t>因此我們也假定感測器監控的環境指標</a:t>
            </a:r>
            <a:endParaRPr lang="en-US" altLang="zh-TW" dirty="0" smtClean="0"/>
          </a:p>
          <a:p>
            <a:r>
              <a:rPr lang="zh-TW" altLang="en-US" dirty="0" smtClean="0"/>
              <a:t>在不受干擾的情況下</a:t>
            </a:r>
            <a:endParaRPr lang="en-US" altLang="zh-TW" dirty="0" smtClean="0"/>
          </a:p>
          <a:p>
            <a:r>
              <a:rPr lang="zh-TW" altLang="en-US" dirty="0" smtClean="0"/>
              <a:t>其感測數值的分布機率應該會符合常態分佈的行為模式</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20</a:t>
            </a:fld>
            <a:endParaRPr lang="zh-TW" altLang="en-US"/>
          </a:p>
        </p:txBody>
      </p:sp>
    </p:spTree>
    <p:extLst>
      <p:ext uri="{BB962C8B-B14F-4D97-AF65-F5344CB8AC3E}">
        <p14:creationId xmlns:p14="http://schemas.microsoft.com/office/powerpoint/2010/main" val="198552945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一般常態分佈與標準差的關係如圖</a:t>
            </a:r>
            <a:endParaRPr lang="en-US" altLang="zh-TW" dirty="0" smtClean="0"/>
          </a:p>
          <a:p>
            <a:r>
              <a:rPr lang="zh-TW" altLang="en-US" dirty="0" smtClean="0"/>
              <a:t>百分之</a:t>
            </a:r>
            <a:r>
              <a:rPr lang="en-US" altLang="zh-TW" dirty="0" smtClean="0"/>
              <a:t>68.2</a:t>
            </a:r>
            <a:r>
              <a:rPr lang="zh-TW" altLang="en-US" dirty="0" smtClean="0"/>
              <a:t>的數值會落在平均值正負一倍標準差的範圍內</a:t>
            </a:r>
            <a:endParaRPr lang="en-US" altLang="zh-TW" dirty="0" smtClean="0"/>
          </a:p>
          <a:p>
            <a:r>
              <a:rPr lang="zh-TW" altLang="en-US" dirty="0" smtClean="0"/>
              <a:t>百分之</a:t>
            </a:r>
            <a:r>
              <a:rPr lang="en-US" altLang="zh-TW" dirty="0" smtClean="0"/>
              <a:t>95.4</a:t>
            </a:r>
            <a:r>
              <a:rPr lang="zh-TW" altLang="en-US" dirty="0" smtClean="0"/>
              <a:t>的數值會落在平均值正負兩倍標準差的範圍內</a:t>
            </a:r>
            <a:endParaRPr lang="en-US" altLang="zh-TW" dirty="0" smtClean="0"/>
          </a:p>
          <a:p>
            <a:r>
              <a:rPr lang="en-US" altLang="zh-TW" dirty="0" smtClean="0"/>
              <a:t>99.7</a:t>
            </a:r>
            <a:r>
              <a:rPr lang="zh-TW" altLang="en-US" dirty="0" smtClean="0"/>
              <a:t>會落在平均值正負三倍標準差的範圍內</a:t>
            </a:r>
            <a:endParaRPr lang="en-US" altLang="zh-TW" dirty="0" smtClean="0"/>
          </a:p>
          <a:p>
            <a:endParaRPr lang="en-US" altLang="zh-TW" dirty="0" smtClean="0"/>
          </a:p>
          <a:p>
            <a:r>
              <a:rPr lang="zh-TW" altLang="en-US" dirty="0" smtClean="0"/>
              <a:t>因此我們使用三倍標準差作為判斷異常的門檻值</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21</a:t>
            </a:fld>
            <a:endParaRPr lang="zh-TW" altLang="en-US"/>
          </a:p>
        </p:txBody>
      </p:sp>
    </p:spTree>
    <p:extLst>
      <p:ext uri="{BB962C8B-B14F-4D97-AF65-F5344CB8AC3E}">
        <p14:creationId xmlns:p14="http://schemas.microsoft.com/office/powerpoint/2010/main" val="381973682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smtClean="0"/>
              <a:t>CUSUM</a:t>
            </a:r>
            <a:r>
              <a:rPr lang="zh-TW" altLang="en-US" dirty="0" smtClean="0"/>
              <a:t>的主要概念是觀察資料的變化趨勢</a:t>
            </a:r>
            <a:endParaRPr lang="en-US" altLang="zh-TW" dirty="0" smtClean="0"/>
          </a:p>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22</a:t>
            </a:fld>
            <a:endParaRPr lang="zh-TW" altLang="en-US"/>
          </a:p>
        </p:txBody>
      </p:sp>
    </p:spTree>
    <p:extLst>
      <p:ext uri="{BB962C8B-B14F-4D97-AF65-F5344CB8AC3E}">
        <p14:creationId xmlns:p14="http://schemas.microsoft.com/office/powerpoint/2010/main" val="319834308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23</a:t>
            </a:fld>
            <a:endParaRPr lang="zh-TW" altLang="en-US"/>
          </a:p>
        </p:txBody>
      </p:sp>
    </p:spTree>
    <p:extLst>
      <p:ext uri="{BB962C8B-B14F-4D97-AF65-F5344CB8AC3E}">
        <p14:creationId xmlns:p14="http://schemas.microsoft.com/office/powerpoint/2010/main" val="138658309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24</a:t>
            </a:fld>
            <a:endParaRPr lang="zh-TW" altLang="en-US"/>
          </a:p>
        </p:txBody>
      </p:sp>
    </p:spTree>
    <p:extLst>
      <p:ext uri="{BB962C8B-B14F-4D97-AF65-F5344CB8AC3E}">
        <p14:creationId xmlns:p14="http://schemas.microsoft.com/office/powerpoint/2010/main" val="150168194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25</a:t>
            </a:fld>
            <a:endParaRPr lang="zh-TW" altLang="en-US"/>
          </a:p>
        </p:txBody>
      </p:sp>
    </p:spTree>
    <p:extLst>
      <p:ext uri="{BB962C8B-B14F-4D97-AF65-F5344CB8AC3E}">
        <p14:creationId xmlns:p14="http://schemas.microsoft.com/office/powerpoint/2010/main" val="1911675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26</a:t>
            </a:fld>
            <a:endParaRPr lang="zh-TW" altLang="en-US"/>
          </a:p>
        </p:txBody>
      </p:sp>
    </p:spTree>
    <p:extLst>
      <p:ext uri="{BB962C8B-B14F-4D97-AF65-F5344CB8AC3E}">
        <p14:creationId xmlns:p14="http://schemas.microsoft.com/office/powerpoint/2010/main" val="10594661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27</a:t>
            </a:fld>
            <a:endParaRPr lang="zh-TW" altLang="en-US"/>
          </a:p>
        </p:txBody>
      </p:sp>
    </p:spTree>
    <p:extLst>
      <p:ext uri="{BB962C8B-B14F-4D97-AF65-F5344CB8AC3E}">
        <p14:creationId xmlns:p14="http://schemas.microsoft.com/office/powerpoint/2010/main" val="127369188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28</a:t>
            </a:fld>
            <a:endParaRPr lang="zh-TW" altLang="en-US"/>
          </a:p>
        </p:txBody>
      </p:sp>
    </p:spTree>
    <p:extLst>
      <p:ext uri="{BB962C8B-B14F-4D97-AF65-F5344CB8AC3E}">
        <p14:creationId xmlns:p14="http://schemas.microsoft.com/office/powerpoint/2010/main" val="387416470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29</a:t>
            </a:fld>
            <a:endParaRPr lang="zh-TW" altLang="en-US"/>
          </a:p>
        </p:txBody>
      </p:sp>
    </p:spTree>
    <p:extLst>
      <p:ext uri="{BB962C8B-B14F-4D97-AF65-F5344CB8AC3E}">
        <p14:creationId xmlns:p14="http://schemas.microsoft.com/office/powerpoint/2010/main" val="312277716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30</a:t>
            </a:fld>
            <a:endParaRPr lang="zh-TW" altLang="en-US"/>
          </a:p>
        </p:txBody>
      </p:sp>
    </p:spTree>
    <p:extLst>
      <p:ext uri="{BB962C8B-B14F-4D97-AF65-F5344CB8AC3E}">
        <p14:creationId xmlns:p14="http://schemas.microsoft.com/office/powerpoint/2010/main" val="113222568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31</a:t>
            </a:fld>
            <a:endParaRPr lang="zh-TW" altLang="en-US"/>
          </a:p>
        </p:txBody>
      </p:sp>
    </p:spTree>
    <p:extLst>
      <p:ext uri="{BB962C8B-B14F-4D97-AF65-F5344CB8AC3E}">
        <p14:creationId xmlns:p14="http://schemas.microsoft.com/office/powerpoint/2010/main" val="374683784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32</a:t>
            </a:fld>
            <a:endParaRPr lang="zh-TW" altLang="en-US"/>
          </a:p>
        </p:txBody>
      </p:sp>
    </p:spTree>
    <p:extLst>
      <p:ext uri="{BB962C8B-B14F-4D97-AF65-F5344CB8AC3E}">
        <p14:creationId xmlns:p14="http://schemas.microsoft.com/office/powerpoint/2010/main" val="206443820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33</a:t>
            </a:fld>
            <a:endParaRPr lang="zh-TW" altLang="en-US"/>
          </a:p>
        </p:txBody>
      </p:sp>
    </p:spTree>
    <p:extLst>
      <p:ext uri="{BB962C8B-B14F-4D97-AF65-F5344CB8AC3E}">
        <p14:creationId xmlns:p14="http://schemas.microsoft.com/office/powerpoint/2010/main" val="28507619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34</a:t>
            </a:fld>
            <a:endParaRPr lang="zh-TW" altLang="en-US"/>
          </a:p>
        </p:txBody>
      </p:sp>
    </p:spTree>
    <p:extLst>
      <p:ext uri="{BB962C8B-B14F-4D97-AF65-F5344CB8AC3E}">
        <p14:creationId xmlns:p14="http://schemas.microsoft.com/office/powerpoint/2010/main" val="127094930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35</a:t>
            </a:fld>
            <a:endParaRPr lang="zh-TW" altLang="en-US"/>
          </a:p>
        </p:txBody>
      </p:sp>
    </p:spTree>
    <p:extLst>
      <p:ext uri="{BB962C8B-B14F-4D97-AF65-F5344CB8AC3E}">
        <p14:creationId xmlns:p14="http://schemas.microsoft.com/office/powerpoint/2010/main" val="58314140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36</a:t>
            </a:fld>
            <a:endParaRPr lang="zh-TW" altLang="en-US"/>
          </a:p>
        </p:txBody>
      </p:sp>
    </p:spTree>
    <p:extLst>
      <p:ext uri="{BB962C8B-B14F-4D97-AF65-F5344CB8AC3E}">
        <p14:creationId xmlns:p14="http://schemas.microsoft.com/office/powerpoint/2010/main" val="22392864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37</a:t>
            </a:fld>
            <a:endParaRPr lang="zh-TW" altLang="en-US"/>
          </a:p>
        </p:txBody>
      </p:sp>
    </p:spTree>
    <p:extLst>
      <p:ext uri="{BB962C8B-B14F-4D97-AF65-F5344CB8AC3E}">
        <p14:creationId xmlns:p14="http://schemas.microsoft.com/office/powerpoint/2010/main" val="317302938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38</a:t>
            </a:fld>
            <a:endParaRPr lang="zh-TW" altLang="en-US"/>
          </a:p>
        </p:txBody>
      </p:sp>
    </p:spTree>
    <p:extLst>
      <p:ext uri="{BB962C8B-B14F-4D97-AF65-F5344CB8AC3E}">
        <p14:creationId xmlns:p14="http://schemas.microsoft.com/office/powerpoint/2010/main" val="125940690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39</a:t>
            </a:fld>
            <a:endParaRPr lang="zh-TW" altLang="en-US"/>
          </a:p>
        </p:txBody>
      </p:sp>
    </p:spTree>
    <p:extLst>
      <p:ext uri="{BB962C8B-B14F-4D97-AF65-F5344CB8AC3E}">
        <p14:creationId xmlns:p14="http://schemas.microsoft.com/office/powerpoint/2010/main" val="26033804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40</a:t>
            </a:fld>
            <a:endParaRPr lang="zh-TW" altLang="en-US"/>
          </a:p>
        </p:txBody>
      </p:sp>
    </p:spTree>
    <p:extLst>
      <p:ext uri="{BB962C8B-B14F-4D97-AF65-F5344CB8AC3E}">
        <p14:creationId xmlns:p14="http://schemas.microsoft.com/office/powerpoint/2010/main" val="10785353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41</a:t>
            </a:fld>
            <a:endParaRPr lang="zh-TW" altLang="en-US"/>
          </a:p>
        </p:txBody>
      </p:sp>
    </p:spTree>
    <p:extLst>
      <p:ext uri="{BB962C8B-B14F-4D97-AF65-F5344CB8AC3E}">
        <p14:creationId xmlns:p14="http://schemas.microsoft.com/office/powerpoint/2010/main" val="160007846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42</a:t>
            </a:fld>
            <a:endParaRPr lang="zh-TW" altLang="en-US"/>
          </a:p>
        </p:txBody>
      </p:sp>
    </p:spTree>
    <p:extLst>
      <p:ext uri="{BB962C8B-B14F-4D97-AF65-F5344CB8AC3E}">
        <p14:creationId xmlns:p14="http://schemas.microsoft.com/office/powerpoint/2010/main" val="181779594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43</a:t>
            </a:fld>
            <a:endParaRPr lang="zh-TW" altLang="en-US"/>
          </a:p>
        </p:txBody>
      </p:sp>
    </p:spTree>
    <p:extLst>
      <p:ext uri="{BB962C8B-B14F-4D97-AF65-F5344CB8AC3E}">
        <p14:creationId xmlns:p14="http://schemas.microsoft.com/office/powerpoint/2010/main" val="144645521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44</a:t>
            </a:fld>
            <a:endParaRPr lang="zh-TW" altLang="en-US"/>
          </a:p>
        </p:txBody>
      </p:sp>
    </p:spTree>
    <p:extLst>
      <p:ext uri="{BB962C8B-B14F-4D97-AF65-F5344CB8AC3E}">
        <p14:creationId xmlns:p14="http://schemas.microsoft.com/office/powerpoint/2010/main" val="9888934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45</a:t>
            </a:fld>
            <a:endParaRPr lang="zh-TW" altLang="en-US"/>
          </a:p>
        </p:txBody>
      </p:sp>
    </p:spTree>
    <p:extLst>
      <p:ext uri="{BB962C8B-B14F-4D97-AF65-F5344CB8AC3E}">
        <p14:creationId xmlns:p14="http://schemas.microsoft.com/office/powerpoint/2010/main" val="31328720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46</a:t>
            </a:fld>
            <a:endParaRPr lang="zh-TW" altLang="en-US"/>
          </a:p>
        </p:txBody>
      </p:sp>
    </p:spTree>
    <p:extLst>
      <p:ext uri="{BB962C8B-B14F-4D97-AF65-F5344CB8AC3E}">
        <p14:creationId xmlns:p14="http://schemas.microsoft.com/office/powerpoint/2010/main" val="296775739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47</a:t>
            </a:fld>
            <a:endParaRPr lang="zh-TW" altLang="en-US"/>
          </a:p>
        </p:txBody>
      </p:sp>
    </p:spTree>
    <p:extLst>
      <p:ext uri="{BB962C8B-B14F-4D97-AF65-F5344CB8AC3E}">
        <p14:creationId xmlns:p14="http://schemas.microsoft.com/office/powerpoint/2010/main" val="301442888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48</a:t>
            </a:fld>
            <a:endParaRPr lang="zh-TW" altLang="en-US"/>
          </a:p>
        </p:txBody>
      </p:sp>
    </p:spTree>
    <p:extLst>
      <p:ext uri="{BB962C8B-B14F-4D97-AF65-F5344CB8AC3E}">
        <p14:creationId xmlns:p14="http://schemas.microsoft.com/office/powerpoint/2010/main" val="103756146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49</a:t>
            </a:fld>
            <a:endParaRPr lang="zh-TW" altLang="en-US"/>
          </a:p>
        </p:txBody>
      </p:sp>
    </p:spTree>
    <p:extLst>
      <p:ext uri="{BB962C8B-B14F-4D97-AF65-F5344CB8AC3E}">
        <p14:creationId xmlns:p14="http://schemas.microsoft.com/office/powerpoint/2010/main" val="284300620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50</a:t>
            </a:fld>
            <a:endParaRPr lang="zh-TW" altLang="en-US"/>
          </a:p>
        </p:txBody>
      </p:sp>
    </p:spTree>
    <p:extLst>
      <p:ext uri="{BB962C8B-B14F-4D97-AF65-F5344CB8AC3E}">
        <p14:creationId xmlns:p14="http://schemas.microsoft.com/office/powerpoint/2010/main" val="73548805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51</a:t>
            </a:fld>
            <a:endParaRPr lang="zh-TW" altLang="en-US"/>
          </a:p>
        </p:txBody>
      </p:sp>
    </p:spTree>
    <p:extLst>
      <p:ext uri="{BB962C8B-B14F-4D97-AF65-F5344CB8AC3E}">
        <p14:creationId xmlns:p14="http://schemas.microsoft.com/office/powerpoint/2010/main" val="24790605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1524000" y="1122363"/>
            <a:ext cx="9144000" cy="2387600"/>
          </a:xfrm>
        </p:spPr>
        <p:txBody>
          <a:bodyPr anchor="b"/>
          <a:lstStyle>
            <a:lvl1pPr algn="ctr">
              <a:defRPr sz="6000"/>
            </a:lvl1pPr>
          </a:lstStyle>
          <a:p>
            <a:r>
              <a:rPr lang="zh-TW" altLang="en-US" smtClean="0"/>
              <a:t>按一下以編輯母片標題樣式</a:t>
            </a:r>
            <a:endParaRPr lang="zh-TW" altLang="en-US"/>
          </a:p>
        </p:txBody>
      </p:sp>
      <p:sp>
        <p:nvSpPr>
          <p:cNvPr id="3" name="副標題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smtClean="0"/>
              <a:t>按一下以編輯母片副標題樣式</a:t>
            </a:r>
            <a:endParaRPr lang="zh-TW" altLang="en-US"/>
          </a:p>
        </p:txBody>
      </p:sp>
      <p:sp>
        <p:nvSpPr>
          <p:cNvPr id="4" name="日期版面配置區 3"/>
          <p:cNvSpPr>
            <a:spLocks noGrp="1"/>
          </p:cNvSpPr>
          <p:nvPr>
            <p:ph type="dt" sz="half" idx="10"/>
          </p:nvPr>
        </p:nvSpPr>
        <p:spPr/>
        <p:txBody>
          <a:bodyPr/>
          <a:lstStyle/>
          <a:p>
            <a:fld id="{576D2C04-C417-422C-B86A-E32301ABF5DE}" type="datetimeFigureOut">
              <a:rPr lang="zh-TW" altLang="en-US" smtClean="0"/>
              <a:t>2017/7/16</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12406276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內容版面配置區 2"/>
          <p:cNvSpPr>
            <a:spLocks noGrp="1"/>
          </p:cNvSpPr>
          <p:nvPr>
            <p:ph idx="1"/>
          </p:nvPr>
        </p:nvSpPr>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10"/>
          </p:nvPr>
        </p:nvSpPr>
        <p:spPr/>
        <p:txBody>
          <a:bodyPr/>
          <a:lstStyle/>
          <a:p>
            <a:fld id="{576D2C04-C417-422C-B86A-E32301ABF5DE}" type="datetimeFigureOut">
              <a:rPr lang="zh-TW" altLang="en-US" smtClean="0"/>
              <a:t>2017/7/16</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17203116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p:cNvSpPr>
            <a:spLocks noGrp="1"/>
          </p:cNvSpPr>
          <p:nvPr>
            <p:ph type="title"/>
          </p:nvPr>
        </p:nvSpPr>
        <p:spPr>
          <a:xfrm>
            <a:off x="831850" y="1709738"/>
            <a:ext cx="10515600" cy="2852737"/>
          </a:xfrm>
        </p:spPr>
        <p:txBody>
          <a:bodyPr anchor="b"/>
          <a:lstStyle>
            <a:lvl1pPr>
              <a:defRPr sz="6000"/>
            </a:lvl1pPr>
          </a:lstStyle>
          <a:p>
            <a:r>
              <a:rPr lang="zh-TW" altLang="en-US" smtClean="0"/>
              <a:t>按一下以編輯母片標題樣式</a:t>
            </a:r>
            <a:endParaRPr lang="zh-TW" altLang="en-US"/>
          </a:p>
        </p:txBody>
      </p:sp>
      <p:sp>
        <p:nvSpPr>
          <p:cNvPr id="3" name="文字版面配置區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TW" altLang="en-US" smtClean="0"/>
              <a:t>按一下以編輯母片文字樣式</a:t>
            </a:r>
          </a:p>
        </p:txBody>
      </p:sp>
      <p:sp>
        <p:nvSpPr>
          <p:cNvPr id="4" name="日期版面配置區 3"/>
          <p:cNvSpPr>
            <a:spLocks noGrp="1"/>
          </p:cNvSpPr>
          <p:nvPr>
            <p:ph type="dt" sz="half" idx="10"/>
          </p:nvPr>
        </p:nvSpPr>
        <p:spPr/>
        <p:txBody>
          <a:bodyPr/>
          <a:lstStyle/>
          <a:p>
            <a:fld id="{576D2C04-C417-422C-B86A-E32301ABF5DE}" type="datetimeFigureOut">
              <a:rPr lang="zh-TW" altLang="en-US" smtClean="0"/>
              <a:t>2017/7/16</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25576468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內容版面配置區 2"/>
          <p:cNvSpPr>
            <a:spLocks noGrp="1"/>
          </p:cNvSpPr>
          <p:nvPr>
            <p:ph sz="half" idx="1"/>
          </p:nvPr>
        </p:nvSpPr>
        <p:spPr>
          <a:xfrm>
            <a:off x="838200" y="1825625"/>
            <a:ext cx="5181600" cy="4351338"/>
          </a:xfrm>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內容版面配置區 3"/>
          <p:cNvSpPr>
            <a:spLocks noGrp="1"/>
          </p:cNvSpPr>
          <p:nvPr>
            <p:ph sz="half" idx="2"/>
          </p:nvPr>
        </p:nvSpPr>
        <p:spPr>
          <a:xfrm>
            <a:off x="6172200" y="1825625"/>
            <a:ext cx="5181600" cy="4351338"/>
          </a:xfrm>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5" name="日期版面配置區 4"/>
          <p:cNvSpPr>
            <a:spLocks noGrp="1"/>
          </p:cNvSpPr>
          <p:nvPr>
            <p:ph type="dt" sz="half" idx="10"/>
          </p:nvPr>
        </p:nvSpPr>
        <p:spPr/>
        <p:txBody>
          <a:bodyPr/>
          <a:lstStyle/>
          <a:p>
            <a:fld id="{576D2C04-C417-422C-B86A-E32301ABF5DE}" type="datetimeFigureOut">
              <a:rPr lang="zh-TW" altLang="en-US" smtClean="0"/>
              <a:t>2017/7/16</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8474498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a:xfrm>
            <a:off x="839788" y="365125"/>
            <a:ext cx="10515600" cy="1325563"/>
          </a:xfrm>
        </p:spPr>
        <p:txBody>
          <a:bodyPr/>
          <a:lstStyle/>
          <a:p>
            <a:r>
              <a:rPr lang="zh-TW" altLang="en-US" smtClean="0"/>
              <a:t>按一下以編輯母片標題樣式</a:t>
            </a:r>
            <a:endParaRPr lang="zh-TW" altLang="en-US"/>
          </a:p>
        </p:txBody>
      </p:sp>
      <p:sp>
        <p:nvSpPr>
          <p:cNvPr id="3" name="文字版面配置區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smtClean="0"/>
              <a:t>按一下以編輯母片文字樣式</a:t>
            </a:r>
          </a:p>
        </p:txBody>
      </p:sp>
      <p:sp>
        <p:nvSpPr>
          <p:cNvPr id="4" name="內容版面配置區 3"/>
          <p:cNvSpPr>
            <a:spLocks noGrp="1"/>
          </p:cNvSpPr>
          <p:nvPr>
            <p:ph sz="half" idx="2"/>
          </p:nvPr>
        </p:nvSpPr>
        <p:spPr>
          <a:xfrm>
            <a:off x="839788" y="2505075"/>
            <a:ext cx="5157787" cy="3684588"/>
          </a:xfrm>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5" name="文字版面配置區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smtClean="0"/>
              <a:t>按一下以編輯母片文字樣式</a:t>
            </a:r>
          </a:p>
        </p:txBody>
      </p:sp>
      <p:sp>
        <p:nvSpPr>
          <p:cNvPr id="6" name="內容版面配置區 5"/>
          <p:cNvSpPr>
            <a:spLocks noGrp="1"/>
          </p:cNvSpPr>
          <p:nvPr>
            <p:ph sz="quarter" idx="4"/>
          </p:nvPr>
        </p:nvSpPr>
        <p:spPr>
          <a:xfrm>
            <a:off x="6172200" y="2505075"/>
            <a:ext cx="5183188" cy="3684588"/>
          </a:xfrm>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7" name="日期版面配置區 6"/>
          <p:cNvSpPr>
            <a:spLocks noGrp="1"/>
          </p:cNvSpPr>
          <p:nvPr>
            <p:ph type="dt" sz="half" idx="10"/>
          </p:nvPr>
        </p:nvSpPr>
        <p:spPr/>
        <p:txBody>
          <a:bodyPr/>
          <a:lstStyle/>
          <a:p>
            <a:fld id="{576D2C04-C417-422C-B86A-E32301ABF5DE}" type="datetimeFigureOut">
              <a:rPr lang="zh-TW" altLang="en-US" smtClean="0"/>
              <a:t>2017/7/16</a:t>
            </a:fld>
            <a:endParaRPr lang="zh-TW" altLang="en-US"/>
          </a:p>
        </p:txBody>
      </p:sp>
      <p:sp>
        <p:nvSpPr>
          <p:cNvPr id="8" name="頁尾版面配置區 7"/>
          <p:cNvSpPr>
            <a:spLocks noGrp="1"/>
          </p:cNvSpPr>
          <p:nvPr>
            <p:ph type="ftr" sz="quarter" idx="11"/>
          </p:nvPr>
        </p:nvSpPr>
        <p:spPr/>
        <p:txBody>
          <a:bodyPr/>
          <a:lstStyle/>
          <a:p>
            <a:endParaRPr lang="zh-TW" altLang="en-US"/>
          </a:p>
        </p:txBody>
      </p:sp>
      <p:sp>
        <p:nvSpPr>
          <p:cNvPr id="9" name="投影片編號版面配置區 8"/>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2545426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日期版面配置區 2"/>
          <p:cNvSpPr>
            <a:spLocks noGrp="1"/>
          </p:cNvSpPr>
          <p:nvPr>
            <p:ph type="dt" sz="half" idx="10"/>
          </p:nvPr>
        </p:nvSpPr>
        <p:spPr/>
        <p:txBody>
          <a:bodyPr/>
          <a:lstStyle/>
          <a:p>
            <a:fld id="{576D2C04-C417-422C-B86A-E32301ABF5DE}" type="datetimeFigureOut">
              <a:rPr lang="zh-TW" altLang="en-US" smtClean="0"/>
              <a:t>2017/7/16</a:t>
            </a:fld>
            <a:endParaRPr lang="zh-TW" altLang="en-US"/>
          </a:p>
        </p:txBody>
      </p:sp>
      <p:sp>
        <p:nvSpPr>
          <p:cNvPr id="4" name="頁尾版面配置區 3"/>
          <p:cNvSpPr>
            <a:spLocks noGrp="1"/>
          </p:cNvSpPr>
          <p:nvPr>
            <p:ph type="ftr" sz="quarter" idx="11"/>
          </p:nvPr>
        </p:nvSpPr>
        <p:spPr/>
        <p:txBody>
          <a:bodyPr/>
          <a:lstStyle/>
          <a:p>
            <a:endParaRPr lang="zh-TW" altLang="en-US"/>
          </a:p>
        </p:txBody>
      </p:sp>
      <p:sp>
        <p:nvSpPr>
          <p:cNvPr id="5" name="投影片編號版面配置區 4"/>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22927633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p:cNvSpPr>
            <a:spLocks noGrp="1"/>
          </p:cNvSpPr>
          <p:nvPr>
            <p:ph type="dt" sz="half" idx="10"/>
          </p:nvPr>
        </p:nvSpPr>
        <p:spPr/>
        <p:txBody>
          <a:bodyPr/>
          <a:lstStyle/>
          <a:p>
            <a:fld id="{576D2C04-C417-422C-B86A-E32301ABF5DE}" type="datetimeFigureOut">
              <a:rPr lang="zh-TW" altLang="en-US" smtClean="0"/>
              <a:t>2017/7/16</a:t>
            </a:fld>
            <a:endParaRPr lang="zh-TW" altLang="en-US"/>
          </a:p>
        </p:txBody>
      </p:sp>
      <p:sp>
        <p:nvSpPr>
          <p:cNvPr id="3" name="頁尾版面配置區 2"/>
          <p:cNvSpPr>
            <a:spLocks noGrp="1"/>
          </p:cNvSpPr>
          <p:nvPr>
            <p:ph type="ftr" sz="quarter" idx="11"/>
          </p:nvPr>
        </p:nvSpPr>
        <p:spPr/>
        <p:txBody>
          <a:bodyPr/>
          <a:lstStyle/>
          <a:p>
            <a:endParaRPr lang="zh-TW" altLang="en-US"/>
          </a:p>
        </p:txBody>
      </p:sp>
      <p:sp>
        <p:nvSpPr>
          <p:cNvPr id="4" name="投影片編號版面配置區 3"/>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17633113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smtClean="0"/>
              <a:t>按一下以編輯母片標題樣式</a:t>
            </a:r>
            <a:endParaRPr lang="zh-TW" altLang="en-US"/>
          </a:p>
        </p:txBody>
      </p:sp>
      <p:sp>
        <p:nvSpPr>
          <p:cNvPr id="3" name="內容版面配置區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smtClean="0"/>
              <a:t>按一下以編輯母片文字樣式</a:t>
            </a:r>
          </a:p>
        </p:txBody>
      </p:sp>
      <p:sp>
        <p:nvSpPr>
          <p:cNvPr id="5" name="日期版面配置區 4"/>
          <p:cNvSpPr>
            <a:spLocks noGrp="1"/>
          </p:cNvSpPr>
          <p:nvPr>
            <p:ph type="dt" sz="half" idx="10"/>
          </p:nvPr>
        </p:nvSpPr>
        <p:spPr/>
        <p:txBody>
          <a:bodyPr/>
          <a:lstStyle/>
          <a:p>
            <a:fld id="{576D2C04-C417-422C-B86A-E32301ABF5DE}" type="datetimeFigureOut">
              <a:rPr lang="zh-TW" altLang="en-US" smtClean="0"/>
              <a:t>2017/7/16</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20666859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smtClean="0"/>
              <a:t>按一下以編輯母片標題樣式</a:t>
            </a:r>
            <a:endParaRPr lang="zh-TW" altLang="en-US"/>
          </a:p>
        </p:txBody>
      </p:sp>
      <p:sp>
        <p:nvSpPr>
          <p:cNvPr id="3" name="圖片版面配置區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smtClean="0"/>
              <a:t>按一下以編輯母片文字樣式</a:t>
            </a:r>
          </a:p>
        </p:txBody>
      </p:sp>
      <p:sp>
        <p:nvSpPr>
          <p:cNvPr id="5" name="日期版面配置區 4"/>
          <p:cNvSpPr>
            <a:spLocks noGrp="1"/>
          </p:cNvSpPr>
          <p:nvPr>
            <p:ph type="dt" sz="half" idx="10"/>
          </p:nvPr>
        </p:nvSpPr>
        <p:spPr/>
        <p:txBody>
          <a:bodyPr/>
          <a:lstStyle/>
          <a:p>
            <a:fld id="{576D2C04-C417-422C-B86A-E32301ABF5DE}" type="datetimeFigureOut">
              <a:rPr lang="zh-TW" altLang="en-US" smtClean="0"/>
              <a:t>2017/7/16</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19029795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直排文字版面配置區 2"/>
          <p:cNvSpPr>
            <a:spLocks noGrp="1"/>
          </p:cNvSpPr>
          <p:nvPr>
            <p:ph type="body" orient="vert" idx="1"/>
          </p:nvPr>
        </p:nvSpPr>
        <p:spPr/>
        <p:txBody>
          <a:bodyPr vert="eaVert"/>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10"/>
          </p:nvPr>
        </p:nvSpPr>
        <p:spPr/>
        <p:txBody>
          <a:bodyPr/>
          <a:lstStyle/>
          <a:p>
            <a:fld id="{576D2C04-C417-422C-B86A-E32301ABF5DE}" type="datetimeFigureOut">
              <a:rPr lang="zh-TW" altLang="en-US" smtClean="0"/>
              <a:t>2017/7/16</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264014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8724900" y="365125"/>
            <a:ext cx="2628900" cy="5811838"/>
          </a:xfrm>
        </p:spPr>
        <p:txBody>
          <a:bodyPr vert="eaVert"/>
          <a:lstStyle/>
          <a:p>
            <a:r>
              <a:rPr lang="zh-TW" altLang="en-US" smtClean="0"/>
              <a:t>按一下以編輯母片標題樣式</a:t>
            </a:r>
            <a:endParaRPr lang="zh-TW" altLang="en-US"/>
          </a:p>
        </p:txBody>
      </p:sp>
      <p:sp>
        <p:nvSpPr>
          <p:cNvPr id="3" name="直排文字版面配置區 2"/>
          <p:cNvSpPr>
            <a:spLocks noGrp="1"/>
          </p:cNvSpPr>
          <p:nvPr>
            <p:ph type="body" orient="vert" idx="1"/>
          </p:nvPr>
        </p:nvSpPr>
        <p:spPr>
          <a:xfrm>
            <a:off x="838200" y="365125"/>
            <a:ext cx="7734300" cy="5811838"/>
          </a:xfrm>
        </p:spPr>
        <p:txBody>
          <a:bodyPr vert="eaVert"/>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10"/>
          </p:nvPr>
        </p:nvSpPr>
        <p:spPr/>
        <p:txBody>
          <a:bodyPr/>
          <a:lstStyle/>
          <a:p>
            <a:fld id="{576D2C04-C417-422C-B86A-E32301ABF5DE}" type="datetimeFigureOut">
              <a:rPr lang="zh-TW" altLang="en-US" smtClean="0"/>
              <a:t>2017/7/16</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7032429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版面配置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TW" altLang="en-US" smtClean="0"/>
              <a:t>按一下以編輯母片標題樣式</a:t>
            </a:r>
            <a:endParaRPr lang="zh-TW" altLang="en-US"/>
          </a:p>
        </p:txBody>
      </p:sp>
      <p:sp>
        <p:nvSpPr>
          <p:cNvPr id="3" name="文字版面配置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76D2C04-C417-422C-B86A-E32301ABF5DE}" type="datetimeFigureOut">
              <a:rPr lang="zh-TW" altLang="en-US" smtClean="0"/>
              <a:t>2017/7/16</a:t>
            </a:fld>
            <a:endParaRPr lang="zh-TW" altLang="en-US"/>
          </a:p>
        </p:txBody>
      </p:sp>
      <p:sp>
        <p:nvSpPr>
          <p:cNvPr id="5" name="頁尾版面配置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TW" altLang="en-US"/>
          </a:p>
        </p:txBody>
      </p:sp>
      <p:sp>
        <p:nvSpPr>
          <p:cNvPr id="6" name="投影片編號版面配置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36508941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3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3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3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3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3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4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ctrTitle"/>
          </p:nvPr>
        </p:nvSpPr>
        <p:spPr>
          <a:xfrm>
            <a:off x="1524000" y="1954364"/>
            <a:ext cx="9144000" cy="794009"/>
          </a:xfrm>
        </p:spPr>
        <p:txBody>
          <a:bodyPr>
            <a:noAutofit/>
          </a:bodyPr>
          <a:lstStyle/>
          <a:p>
            <a:pPr>
              <a:lnSpc>
                <a:spcPct val="150000"/>
              </a:lnSpc>
            </a:pPr>
            <a:r>
              <a:rPr lang="en-US" altLang="zh-TW" sz="3600" dirty="0" err="1" smtClean="0">
                <a:latin typeface="+mn-lt"/>
                <a:ea typeface="標楷體" panose="03000509000000000000" pitchFamily="65" charset="-120"/>
              </a:rPr>
              <a:t>IoT</a:t>
            </a:r>
            <a:r>
              <a:rPr lang="zh-TW" altLang="en-US" sz="3600" dirty="0" smtClean="0">
                <a:latin typeface="標楷體" panose="03000509000000000000" pitchFamily="65" charset="-120"/>
                <a:ea typeface="標楷體" panose="03000509000000000000" pitchFamily="65" charset="-120"/>
              </a:rPr>
              <a:t>整合管理平台之異常檢測和事件警報系統</a:t>
            </a:r>
            <a:endParaRPr lang="zh-TW" altLang="en-US" sz="3600" dirty="0">
              <a:latin typeface="標楷體" panose="03000509000000000000" pitchFamily="65" charset="-120"/>
              <a:ea typeface="標楷體" panose="03000509000000000000" pitchFamily="65" charset="-120"/>
            </a:endParaRPr>
          </a:p>
        </p:txBody>
      </p:sp>
      <p:sp>
        <p:nvSpPr>
          <p:cNvPr id="3" name="副標題 2"/>
          <p:cNvSpPr>
            <a:spLocks noGrp="1"/>
          </p:cNvSpPr>
          <p:nvPr>
            <p:ph type="subTitle" idx="1"/>
          </p:nvPr>
        </p:nvSpPr>
        <p:spPr>
          <a:xfrm>
            <a:off x="1524000" y="4720041"/>
            <a:ext cx="9144000" cy="1263601"/>
          </a:xfrm>
        </p:spPr>
        <p:txBody>
          <a:bodyPr>
            <a:normAutofit/>
          </a:bodyPr>
          <a:lstStyle/>
          <a:p>
            <a:r>
              <a:rPr lang="zh-TW" altLang="en-US" sz="2000" dirty="0" smtClean="0">
                <a:latin typeface="標楷體" panose="03000509000000000000" pitchFamily="65" charset="-120"/>
                <a:ea typeface="標楷體" panose="03000509000000000000" pitchFamily="65" charset="-120"/>
              </a:rPr>
              <a:t>榮騰翎</a:t>
            </a:r>
            <a:endParaRPr lang="en-US" altLang="zh-TW" sz="2000" dirty="0" smtClean="0">
              <a:latin typeface="標楷體" panose="03000509000000000000" pitchFamily="65" charset="-120"/>
              <a:ea typeface="標楷體" panose="03000509000000000000" pitchFamily="65" charset="-120"/>
            </a:endParaRPr>
          </a:p>
          <a:p>
            <a:r>
              <a:rPr lang="zh-TW" altLang="en-US" sz="2000" dirty="0" smtClean="0">
                <a:latin typeface="標楷體" panose="03000509000000000000" pitchFamily="65" charset="-120"/>
                <a:ea typeface="標楷體" panose="03000509000000000000" pitchFamily="65" charset="-120"/>
              </a:rPr>
              <a:t>指導教授：羅壽之</a:t>
            </a:r>
            <a:endParaRPr lang="en-US" altLang="zh-TW" sz="2000" dirty="0" smtClean="0">
              <a:latin typeface="標楷體" panose="03000509000000000000" pitchFamily="65" charset="-120"/>
              <a:ea typeface="標楷體" panose="03000509000000000000" pitchFamily="65" charset="-120"/>
            </a:endParaRPr>
          </a:p>
          <a:p>
            <a:r>
              <a:rPr lang="en-US" altLang="zh-TW" sz="2000" dirty="0" smtClean="0">
                <a:cs typeface="Times New Roman" panose="02020603050405020304" pitchFamily="18" charset="0"/>
              </a:rPr>
              <a:t>2017.07.20_wiseLab</a:t>
            </a:r>
            <a:endParaRPr lang="zh-TW" altLang="en-US" sz="2000" dirty="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標題 1"/>
          <p:cNvSpPr txBox="1">
            <a:spLocks/>
          </p:cNvSpPr>
          <p:nvPr/>
        </p:nvSpPr>
        <p:spPr>
          <a:xfrm>
            <a:off x="1524000" y="2748373"/>
            <a:ext cx="9144000" cy="1177659"/>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00000"/>
              </a:lnSpc>
            </a:pPr>
            <a:r>
              <a:rPr lang="en-US" altLang="zh-TW" sz="2800" dirty="0" smtClean="0">
                <a:latin typeface="+mn-lt"/>
                <a:cs typeface="Times New Roman" panose="02020603050405020304" pitchFamily="18" charset="0"/>
              </a:rPr>
              <a:t>Anomaly Detection and Event Alert System for </a:t>
            </a:r>
            <a:r>
              <a:rPr lang="en-US" altLang="zh-TW" sz="2800" dirty="0" err="1" smtClean="0">
                <a:latin typeface="+mn-lt"/>
                <a:cs typeface="Times New Roman" panose="02020603050405020304" pitchFamily="18" charset="0"/>
              </a:rPr>
              <a:t>IoT</a:t>
            </a:r>
            <a:r>
              <a:rPr lang="en-US" altLang="zh-TW" sz="2800" dirty="0" smtClean="0">
                <a:latin typeface="+mn-lt"/>
                <a:cs typeface="Times New Roman" panose="02020603050405020304" pitchFamily="18" charset="0"/>
              </a:rPr>
              <a:t> Integrated Management Platform</a:t>
            </a:r>
            <a:endParaRPr lang="zh-TW" altLang="en-US" sz="2800" dirty="0">
              <a:latin typeface="+mn-lt"/>
              <a:cs typeface="Times New Roman" panose="02020603050405020304" pitchFamily="18" charset="0"/>
            </a:endParaRPr>
          </a:p>
        </p:txBody>
      </p:sp>
    </p:spTree>
    <p:extLst>
      <p:ext uri="{BB962C8B-B14F-4D97-AF65-F5344CB8AC3E}">
        <p14:creationId xmlns:p14="http://schemas.microsoft.com/office/powerpoint/2010/main" val="2398998890"/>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smtClean="0"/>
              <a:t>Outline</a:t>
            </a:r>
            <a:endParaRPr lang="zh-TW" altLang="en-US" sz="3200" dirty="0"/>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kumimoji="1" lang="zh-TW" altLang="en-US" dirty="0" smtClean="0">
                <a:latin typeface="標楷體" charset="0"/>
                <a:ea typeface="標楷體" charset="0"/>
                <a:cs typeface="標楷體" charset="0"/>
              </a:rPr>
              <a:t>研究動機與目的</a:t>
            </a:r>
            <a:endParaRPr kumimoji="1" lang="en-US" altLang="zh-TW" dirty="0">
              <a:latin typeface="標楷體" charset="0"/>
              <a:ea typeface="標楷體" charset="0"/>
              <a:cs typeface="標楷體" charset="0"/>
            </a:endParaRPr>
          </a:p>
          <a:p>
            <a:r>
              <a:rPr kumimoji="1" lang="zh-TW" altLang="en-US" dirty="0" smtClean="0">
                <a:latin typeface="標楷體" charset="0"/>
                <a:ea typeface="標楷體" charset="0"/>
                <a:cs typeface="標楷體" charset="0"/>
              </a:rPr>
              <a:t>相關議題</a:t>
            </a:r>
            <a:endParaRPr kumimoji="1" lang="zh-TW" altLang="en-US" dirty="0">
              <a:latin typeface="標楷體" charset="0"/>
              <a:ea typeface="標楷體" charset="0"/>
              <a:cs typeface="標楷體" charset="0"/>
            </a:endParaRPr>
          </a:p>
          <a:p>
            <a:r>
              <a:rPr kumimoji="1" lang="zh-TW" altLang="en-US" dirty="0" smtClean="0">
                <a:latin typeface="標楷體" charset="0"/>
                <a:ea typeface="標楷體" charset="0"/>
                <a:cs typeface="標楷體" charset="0"/>
              </a:rPr>
              <a:t>研究方法</a:t>
            </a:r>
            <a:endParaRPr kumimoji="1" lang="en-US" altLang="zh-TW" dirty="0" smtClean="0">
              <a:latin typeface="標楷體" charset="0"/>
              <a:ea typeface="標楷體" charset="0"/>
              <a:cs typeface="標楷體" charset="0"/>
            </a:endParaRPr>
          </a:p>
          <a:p>
            <a:r>
              <a:rPr kumimoji="1" lang="zh-TW" altLang="en-US" dirty="0" smtClean="0">
                <a:latin typeface="標楷體" charset="0"/>
                <a:ea typeface="標楷體" charset="0"/>
                <a:cs typeface="標楷體" charset="0"/>
              </a:rPr>
              <a:t>實驗一</a:t>
            </a:r>
            <a:endParaRPr kumimoji="1" lang="en-US" altLang="zh-TW" dirty="0" smtClean="0">
              <a:latin typeface="標楷體" charset="0"/>
              <a:ea typeface="標楷體" charset="0"/>
              <a:cs typeface="標楷體" charset="0"/>
            </a:endParaRPr>
          </a:p>
          <a:p>
            <a:r>
              <a:rPr kumimoji="1" lang="zh-TW" altLang="en-US" dirty="0" smtClean="0">
                <a:latin typeface="標楷體" charset="0"/>
                <a:ea typeface="標楷體" charset="0"/>
                <a:cs typeface="標楷體" charset="0"/>
              </a:rPr>
              <a:t>實驗二</a:t>
            </a:r>
            <a:endParaRPr kumimoji="1" lang="en-US" altLang="zh-TW" dirty="0" smtClean="0">
              <a:latin typeface="標楷體" charset="0"/>
              <a:ea typeface="標楷體" charset="0"/>
              <a:cs typeface="標楷體" charset="0"/>
            </a:endParaRPr>
          </a:p>
          <a:p>
            <a:r>
              <a:rPr kumimoji="1" lang="zh-TW" altLang="en-US" dirty="0" smtClean="0">
                <a:latin typeface="標楷體" charset="0"/>
                <a:ea typeface="標楷體" charset="0"/>
                <a:cs typeface="標楷體" charset="0"/>
              </a:rPr>
              <a:t>結論</a:t>
            </a:r>
            <a:endParaRPr kumimoji="1" lang="zh-TW" altLang="en-US" dirty="0">
              <a:latin typeface="標楷體" charset="0"/>
              <a:ea typeface="標楷體" charset="0"/>
              <a:cs typeface="標楷體" charset="0"/>
            </a:endParaRPr>
          </a:p>
        </p:txBody>
      </p:sp>
    </p:spTree>
    <p:extLst>
      <p:ext uri="{BB962C8B-B14F-4D97-AF65-F5344CB8AC3E}">
        <p14:creationId xmlns:p14="http://schemas.microsoft.com/office/powerpoint/2010/main" val="325124482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研究動機與目的</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85982747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智慧城市</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參考日本電氣</a:t>
            </a:r>
            <a:r>
              <a:rPr lang="zh-TW" altLang="en-US" dirty="0" smtClean="0">
                <a:ea typeface="標楷體" panose="03000509000000000000" pitchFamily="65" charset="-120"/>
              </a:rPr>
              <a:t>（</a:t>
            </a:r>
            <a:r>
              <a:rPr lang="en-US" altLang="zh-TW" dirty="0" smtClean="0">
                <a:ea typeface="標楷體" panose="03000509000000000000" pitchFamily="65" charset="-120"/>
                <a:cs typeface="Times New Roman" panose="02020603050405020304" pitchFamily="18" charset="0"/>
              </a:rPr>
              <a:t>NEC</a:t>
            </a:r>
            <a:r>
              <a:rPr lang="zh-TW" altLang="en-US" dirty="0" smtClean="0">
                <a:ea typeface="標楷體" panose="03000509000000000000" pitchFamily="65" charset="-120"/>
                <a:cs typeface="Times New Roman" panose="02020603050405020304" pitchFamily="18" charset="0"/>
              </a:rPr>
              <a:t> </a:t>
            </a:r>
            <a:r>
              <a:rPr lang="en-US" altLang="zh-TW" dirty="0" err="1" smtClean="0">
                <a:ea typeface="標楷體" panose="03000509000000000000" pitchFamily="65" charset="-120"/>
                <a:cs typeface="Times New Roman" panose="02020603050405020304" pitchFamily="18" charset="0"/>
              </a:rPr>
              <a:t>Coropration</a:t>
            </a:r>
            <a:r>
              <a:rPr lang="zh-TW" altLang="en-US" dirty="0" smtClean="0">
                <a:ea typeface="標楷體" panose="03000509000000000000" pitchFamily="65" charset="-120"/>
              </a:rPr>
              <a:t>）</a:t>
            </a:r>
            <a:r>
              <a:rPr lang="zh-TW" altLang="en-US" dirty="0" smtClean="0">
                <a:latin typeface="標楷體" panose="03000509000000000000" pitchFamily="65" charset="-120"/>
                <a:ea typeface="標楷體" panose="03000509000000000000" pitchFamily="65" charset="-120"/>
              </a:rPr>
              <a:t>對智慧城市的定義</a:t>
            </a:r>
            <a:endParaRPr lang="zh-TW" altLang="en-US" dirty="0">
              <a:latin typeface="標楷體" panose="03000509000000000000" pitchFamily="65" charset="-120"/>
              <a:ea typeface="標楷體" panose="03000509000000000000" pitchFamily="65" charset="-120"/>
            </a:endParaRPr>
          </a:p>
        </p:txBody>
      </p:sp>
      <p:pic>
        <p:nvPicPr>
          <p:cNvPr id="6" name="圖片 5"/>
          <p:cNvPicPr>
            <a:picLocks noChangeAspect="1"/>
          </p:cNvPicPr>
          <p:nvPr/>
        </p:nvPicPr>
        <p:blipFill>
          <a:blip r:embed="rId3"/>
          <a:stretch>
            <a:fillRect/>
          </a:stretch>
        </p:blipFill>
        <p:spPr>
          <a:xfrm>
            <a:off x="3426424" y="2274479"/>
            <a:ext cx="5339151" cy="3902484"/>
          </a:xfrm>
          <a:prstGeom prst="rect">
            <a:avLst/>
          </a:prstGeom>
        </p:spPr>
      </p:pic>
    </p:spTree>
    <p:extLst>
      <p:ext uri="{BB962C8B-B14F-4D97-AF65-F5344CB8AC3E}">
        <p14:creationId xmlns:p14="http://schemas.microsoft.com/office/powerpoint/2010/main" val="1694557944"/>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資料共享</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a:latin typeface="標楷體" panose="03000509000000000000" pitchFamily="65" charset="-120"/>
                <a:ea typeface="標楷體" panose="03000509000000000000" pitchFamily="65" charset="-120"/>
              </a:rPr>
              <a:t>政府資料開放平台</a:t>
            </a:r>
            <a:r>
              <a:rPr lang="zh-TW" altLang="en-US" dirty="0">
                <a:ea typeface="標楷體" panose="03000509000000000000" pitchFamily="65" charset="-120"/>
              </a:rPr>
              <a:t>（</a:t>
            </a:r>
            <a:r>
              <a:rPr lang="en-US" altLang="zh-TW" dirty="0">
                <a:ea typeface="標楷體" panose="03000509000000000000" pitchFamily="65" charset="-120"/>
              </a:rPr>
              <a:t>data.gov.tw</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endParaRPr lang="en-US" altLang="zh-TW" dirty="0">
              <a:latin typeface="標楷體" panose="03000509000000000000" pitchFamily="65" charset="-120"/>
              <a:ea typeface="標楷體" panose="03000509000000000000" pitchFamily="65" charset="-120"/>
            </a:endParaRPr>
          </a:p>
          <a:p>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原始資料對一般使用者參考價值較低</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無拖管私人資料來源的方式</a:t>
            </a:r>
            <a:endParaRPr lang="zh-TW" altLang="en-US" dirty="0">
              <a:latin typeface="標楷體" panose="03000509000000000000" pitchFamily="65" charset="-120"/>
              <a:ea typeface="標楷體" panose="03000509000000000000" pitchFamily="65" charset="-120"/>
            </a:endParaRPr>
          </a:p>
        </p:txBody>
      </p:sp>
      <p:pic>
        <p:nvPicPr>
          <p:cNvPr id="6" name="圖片 5"/>
          <p:cNvPicPr>
            <a:picLocks noChangeAspect="1"/>
          </p:cNvPicPr>
          <p:nvPr/>
        </p:nvPicPr>
        <p:blipFill>
          <a:blip r:embed="rId3"/>
          <a:stretch>
            <a:fillRect/>
          </a:stretch>
        </p:blipFill>
        <p:spPr>
          <a:xfrm>
            <a:off x="1204523" y="2457450"/>
            <a:ext cx="2505075" cy="647700"/>
          </a:xfrm>
          <a:prstGeom prst="rect">
            <a:avLst/>
          </a:prstGeom>
        </p:spPr>
      </p:pic>
    </p:spTree>
    <p:extLst>
      <p:ext uri="{BB962C8B-B14F-4D97-AF65-F5344CB8AC3E}">
        <p14:creationId xmlns:p14="http://schemas.microsoft.com/office/powerpoint/2010/main" val="3710177620"/>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資料分析</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環境狀態改變或情境事件發生通常</a:t>
            </a:r>
            <a:r>
              <a:rPr lang="zh-TW" altLang="en-US" dirty="0">
                <a:latin typeface="標楷體" panose="03000509000000000000" pitchFamily="65" charset="-120"/>
                <a:ea typeface="標楷體" panose="03000509000000000000" pitchFamily="65" charset="-120"/>
              </a:rPr>
              <a:t>會造成裝置感測數值</a:t>
            </a:r>
            <a:r>
              <a:rPr lang="zh-TW" altLang="en-US" dirty="0" smtClean="0">
                <a:latin typeface="標楷體" panose="03000509000000000000" pitchFamily="65" charset="-120"/>
                <a:ea typeface="標楷體" panose="03000509000000000000" pitchFamily="65" charset="-120"/>
              </a:rPr>
              <a:t>的變化。</a:t>
            </a:r>
            <a:endParaRPr lang="en-US" altLang="zh-TW" dirty="0" smtClean="0">
              <a:latin typeface="標楷體" panose="03000509000000000000" pitchFamily="65" charset="-120"/>
              <a:ea typeface="標楷體" panose="03000509000000000000" pitchFamily="65" charset="-120"/>
            </a:endParaRPr>
          </a:p>
          <a:p>
            <a:r>
              <a:rPr lang="zh-TW" altLang="en-US" dirty="0">
                <a:latin typeface="標楷體" panose="03000509000000000000" pitchFamily="65" charset="-120"/>
                <a:ea typeface="標楷體" panose="03000509000000000000" pitchFamily="65" charset="-120"/>
              </a:rPr>
              <a:t>隨著事件發生後所經過的時間越長</a:t>
            </a:r>
            <a:r>
              <a:rPr lang="zh-TW" altLang="en-US" dirty="0" smtClean="0">
                <a:latin typeface="標楷體" panose="03000509000000000000" pitchFamily="65" charset="-120"/>
                <a:ea typeface="標楷體" panose="03000509000000000000" pitchFamily="65" charset="-120"/>
              </a:rPr>
              <a:t>，回報</a:t>
            </a:r>
            <a:r>
              <a:rPr lang="zh-TW" altLang="en-US" dirty="0">
                <a:latin typeface="標楷體" panose="03000509000000000000" pitchFamily="65" charset="-120"/>
                <a:ea typeface="標楷體" panose="03000509000000000000" pitchFamily="65" charset="-120"/>
              </a:rPr>
              <a:t>的訊息價值也越</a:t>
            </a:r>
            <a:r>
              <a:rPr lang="zh-TW" altLang="en-US" dirty="0" smtClean="0">
                <a:latin typeface="標楷體" panose="03000509000000000000" pitchFamily="65" charset="-120"/>
                <a:ea typeface="標楷體" panose="03000509000000000000" pitchFamily="65" charset="-120"/>
              </a:rPr>
              <a:t>低。</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即時串流的偵測演算法必須輕量有效。</a:t>
            </a:r>
            <a:endParaRPr lang="zh-TW" altLang="en-US"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1859217160"/>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相關議題</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2168024443"/>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感測數據分析</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檢查原始數據的完整性（處理缺失、冗餘）。</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利用分割</a:t>
            </a:r>
            <a:r>
              <a:rPr lang="zh-TW" altLang="en-US" dirty="0" smtClean="0">
                <a:ea typeface="標楷體" panose="03000509000000000000" pitchFamily="65" charset="-120"/>
              </a:rPr>
              <a:t>（</a:t>
            </a:r>
            <a:r>
              <a:rPr lang="en-US" altLang="zh-TW" dirty="0" smtClean="0">
                <a:ea typeface="標楷體" panose="03000509000000000000" pitchFamily="65" charset="-120"/>
                <a:cs typeface="Times New Roman" panose="02020603050405020304" pitchFamily="18" charset="0"/>
              </a:rPr>
              <a:t>Segmented</a:t>
            </a:r>
            <a:r>
              <a:rPr lang="zh-TW" altLang="en-US" dirty="0" smtClean="0">
                <a:ea typeface="標楷體" panose="03000509000000000000" pitchFamily="65" charset="-120"/>
              </a:rPr>
              <a:t>）</a:t>
            </a:r>
            <a:r>
              <a:rPr lang="zh-TW" altLang="en-US" dirty="0" smtClean="0">
                <a:latin typeface="標楷體" panose="03000509000000000000" pitchFamily="65" charset="-120"/>
                <a:ea typeface="標楷體" panose="03000509000000000000" pitchFamily="65" charset="-120"/>
              </a:rPr>
              <a:t>滑動視窗</a:t>
            </a:r>
            <a:r>
              <a:rPr lang="zh-TW" altLang="en-US" dirty="0" smtClean="0">
                <a:ea typeface="標楷體" panose="03000509000000000000" pitchFamily="65" charset="-120"/>
              </a:rPr>
              <a:t>（</a:t>
            </a:r>
            <a:r>
              <a:rPr lang="en-US" altLang="zh-TW" dirty="0" smtClean="0">
                <a:ea typeface="標楷體" panose="03000509000000000000" pitchFamily="65" charset="-120"/>
                <a:cs typeface="Times New Roman" panose="02020603050405020304" pitchFamily="18" charset="0"/>
              </a:rPr>
              <a:t>Sliding Window</a:t>
            </a:r>
            <a:r>
              <a:rPr lang="zh-TW" altLang="en-US" dirty="0" smtClean="0">
                <a:ea typeface="標楷體" panose="03000509000000000000" pitchFamily="65" charset="-120"/>
              </a:rPr>
              <a:t>），</a:t>
            </a:r>
            <a:r>
              <a:rPr lang="zh-TW" altLang="en-US" dirty="0" smtClean="0">
                <a:latin typeface="標楷體" panose="03000509000000000000" pitchFamily="65" charset="-120"/>
                <a:ea typeface="標楷體" panose="03000509000000000000" pitchFamily="65" charset="-120"/>
              </a:rPr>
              <a:t>或是其他</a:t>
            </a:r>
            <a:r>
              <a:rPr lang="zh-TW" altLang="en-US" dirty="0">
                <a:latin typeface="標楷體" panose="03000509000000000000" pitchFamily="65" charset="-120"/>
                <a:ea typeface="標楷體" panose="03000509000000000000" pitchFamily="65" charset="-120"/>
              </a:rPr>
              <a:t>統計</a:t>
            </a:r>
            <a:r>
              <a:rPr lang="zh-TW" altLang="en-US" dirty="0" smtClean="0">
                <a:latin typeface="標楷體" panose="03000509000000000000" pitchFamily="65" charset="-120"/>
                <a:ea typeface="標楷體" panose="03000509000000000000" pitchFamily="65" charset="-120"/>
              </a:rPr>
              <a:t>方式</a:t>
            </a:r>
            <a:r>
              <a:rPr lang="zh-TW" altLang="en-US" dirty="0">
                <a:latin typeface="標楷體" panose="03000509000000000000" pitchFamily="65" charset="-120"/>
                <a:ea typeface="標楷體" panose="03000509000000000000" pitchFamily="65" charset="-120"/>
              </a:rPr>
              <a:t>觀察</a:t>
            </a:r>
            <a:r>
              <a:rPr lang="zh-TW" altLang="en-US" dirty="0" smtClean="0">
                <a:latin typeface="標楷體" panose="03000509000000000000" pitchFamily="65" charset="-120"/>
                <a:ea typeface="標楷體" panose="03000509000000000000" pitchFamily="65" charset="-120"/>
              </a:rPr>
              <a:t>固定</a:t>
            </a:r>
            <a:r>
              <a:rPr lang="zh-TW" altLang="en-US" dirty="0">
                <a:latin typeface="標楷體" panose="03000509000000000000" pitchFamily="65" charset="-120"/>
                <a:ea typeface="標楷體" panose="03000509000000000000" pitchFamily="65" charset="-120"/>
              </a:rPr>
              <a:t>區間的</a:t>
            </a:r>
            <a:r>
              <a:rPr lang="zh-TW" altLang="en-US" dirty="0" smtClean="0">
                <a:latin typeface="標楷體" panose="03000509000000000000" pitchFamily="65" charset="-120"/>
                <a:ea typeface="標楷體" panose="03000509000000000000" pitchFamily="65" charset="-120"/>
              </a:rPr>
              <a:t>資料，提取片</a:t>
            </a:r>
            <a:r>
              <a:rPr lang="zh-TW" altLang="en-US" dirty="0">
                <a:latin typeface="標楷體" panose="03000509000000000000" pitchFamily="65" charset="-120"/>
                <a:ea typeface="標楷體" panose="03000509000000000000" pitchFamily="65" charset="-120"/>
              </a:rPr>
              <a:t>段</a:t>
            </a:r>
            <a:r>
              <a:rPr lang="zh-TW" altLang="en-US" dirty="0" smtClean="0">
                <a:latin typeface="標楷體" panose="03000509000000000000" pitchFamily="65" charset="-120"/>
                <a:ea typeface="標楷體" panose="03000509000000000000" pitchFamily="65" charset="-120"/>
              </a:rPr>
              <a:t>特徵。</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初步特徵結果用於訓練資料模組</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獲得的判斷條件可成為</a:t>
            </a:r>
            <a:r>
              <a:rPr lang="zh-TW" altLang="en-US" dirty="0">
                <a:latin typeface="標楷體" panose="03000509000000000000" pitchFamily="65" charset="-120"/>
                <a:ea typeface="標楷體" panose="03000509000000000000" pitchFamily="65" charset="-120"/>
              </a:rPr>
              <a:t>實際</a:t>
            </a:r>
            <a:r>
              <a:rPr lang="zh-TW" altLang="en-US" dirty="0" smtClean="0">
                <a:latin typeface="標楷體" panose="03000509000000000000" pitchFamily="65" charset="-120"/>
                <a:ea typeface="標楷體" panose="03000509000000000000" pitchFamily="65" charset="-120"/>
              </a:rPr>
              <a:t>應用的參考依據</a:t>
            </a:r>
            <a:endParaRPr lang="en-US" altLang="zh-TW" dirty="0" smtClean="0">
              <a:latin typeface="標楷體" panose="03000509000000000000" pitchFamily="65" charset="-120"/>
              <a:ea typeface="標楷體" panose="03000509000000000000" pitchFamily="65" charset="-120"/>
            </a:endParaRPr>
          </a:p>
          <a:p>
            <a:pPr lvl="1"/>
            <a:r>
              <a:rPr lang="zh-TW" altLang="en-US" dirty="0" smtClean="0">
                <a:latin typeface="標楷體" panose="03000509000000000000" pitchFamily="65" charset="-120"/>
                <a:ea typeface="標楷體" panose="03000509000000000000" pitchFamily="65" charset="-120"/>
              </a:rPr>
              <a:t>異常偵測</a:t>
            </a:r>
            <a:endParaRPr lang="en-US" altLang="zh-TW" dirty="0">
              <a:latin typeface="標楷體" panose="03000509000000000000" pitchFamily="65" charset="-120"/>
              <a:ea typeface="標楷體" panose="03000509000000000000" pitchFamily="65" charset="-120"/>
            </a:endParaRPr>
          </a:p>
          <a:p>
            <a:pPr lvl="1"/>
            <a:r>
              <a:rPr lang="zh-TW" altLang="en-US" dirty="0" smtClean="0">
                <a:latin typeface="標楷體" panose="03000509000000000000" pitchFamily="65" charset="-120"/>
                <a:ea typeface="標楷體" panose="03000509000000000000" pitchFamily="65" charset="-120"/>
              </a:rPr>
              <a:t>人體動作判讀</a:t>
            </a:r>
            <a:endParaRPr lang="en-US" altLang="zh-TW" dirty="0" smtClean="0">
              <a:latin typeface="標楷體" panose="03000509000000000000" pitchFamily="65" charset="-120"/>
              <a:ea typeface="標楷體" panose="03000509000000000000" pitchFamily="65" charset="-120"/>
            </a:endParaRPr>
          </a:p>
          <a:p>
            <a:pPr lvl="1"/>
            <a:r>
              <a:rPr lang="zh-TW" altLang="en-US" dirty="0" smtClean="0">
                <a:latin typeface="標楷體" panose="03000509000000000000" pitchFamily="65" charset="-120"/>
                <a:ea typeface="標楷體" panose="03000509000000000000" pitchFamily="65" charset="-120"/>
              </a:rPr>
              <a:t>居間照護</a:t>
            </a:r>
            <a:r>
              <a:rPr lang="zh-TW" altLang="en-US" dirty="0">
                <a:latin typeface="標楷體" panose="03000509000000000000" pitchFamily="65" charset="-120"/>
                <a:ea typeface="標楷體" panose="03000509000000000000" pitchFamily="65" charset="-120"/>
              </a:rPr>
              <a:t>監控</a:t>
            </a:r>
          </a:p>
        </p:txBody>
      </p:sp>
    </p:spTree>
    <p:extLst>
      <p:ext uri="{BB962C8B-B14F-4D97-AF65-F5344CB8AC3E}">
        <p14:creationId xmlns:p14="http://schemas.microsoft.com/office/powerpoint/2010/main" val="4246773191"/>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何謂異常</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a:latin typeface="標楷體" panose="03000509000000000000" pitchFamily="65" charset="-120"/>
                <a:ea typeface="標楷體" panose="03000509000000000000" pitchFamily="65" charset="-120"/>
              </a:rPr>
              <a:t>在資料集中還未被</a:t>
            </a:r>
            <a:r>
              <a:rPr lang="zh-TW" altLang="en-US" dirty="0" smtClean="0">
                <a:latin typeface="標楷體" panose="03000509000000000000" pitchFamily="65" charset="-120"/>
                <a:ea typeface="標楷體" panose="03000509000000000000" pitchFamily="65" charset="-120"/>
              </a:rPr>
              <a:t>清楚</a:t>
            </a:r>
            <a:r>
              <a:rPr lang="zh-TW" altLang="en-US" dirty="0">
                <a:latin typeface="標楷體" panose="03000509000000000000" pitchFamily="65" charset="-120"/>
                <a:ea typeface="標楷體" panose="03000509000000000000" pitchFamily="65" charset="-120"/>
              </a:rPr>
              <a:t>定義的資料</a:t>
            </a:r>
            <a:r>
              <a:rPr lang="zh-TW" altLang="en-US" dirty="0" smtClean="0">
                <a:latin typeface="標楷體" panose="03000509000000000000" pitchFamily="65" charset="-120"/>
                <a:ea typeface="標楷體" panose="03000509000000000000" pitchFamily="65" charset="-120"/>
              </a:rPr>
              <a:t>特徵。</a:t>
            </a:r>
            <a:endParaRPr lang="en-US" altLang="zh-TW" dirty="0" smtClean="0">
              <a:latin typeface="標楷體" panose="03000509000000000000" pitchFamily="65" charset="-120"/>
              <a:ea typeface="標楷體" panose="03000509000000000000" pitchFamily="65" charset="-120"/>
            </a:endParaRPr>
          </a:p>
          <a:p>
            <a:r>
              <a:rPr lang="zh-TW" altLang="en-US" dirty="0">
                <a:latin typeface="標楷體" panose="03000509000000000000" pitchFamily="65" charset="-120"/>
                <a:ea typeface="標楷體" panose="03000509000000000000" pitchFamily="65" charset="-120"/>
              </a:rPr>
              <a:t>不同異常</a:t>
            </a:r>
            <a:r>
              <a:rPr lang="zh-TW" altLang="en-US" dirty="0" smtClean="0">
                <a:latin typeface="標楷體" panose="03000509000000000000" pitchFamily="65" charset="-120"/>
                <a:ea typeface="標楷體" panose="03000509000000000000" pitchFamily="65" charset="-120"/>
              </a:rPr>
              <a:t>事件會</a:t>
            </a:r>
            <a:r>
              <a:rPr lang="zh-TW" altLang="en-US" dirty="0">
                <a:latin typeface="標楷體" panose="03000509000000000000" pitchFamily="65" charset="-120"/>
                <a:ea typeface="標楷體" panose="03000509000000000000" pitchFamily="65" charset="-120"/>
              </a:rPr>
              <a:t>有不同的表現模式，混雜於大多數正常的狀態</a:t>
            </a:r>
            <a:r>
              <a:rPr lang="zh-TW" altLang="en-US" dirty="0" smtClean="0">
                <a:latin typeface="標楷體" panose="03000509000000000000" pitchFamily="65" charset="-120"/>
                <a:ea typeface="標楷體" panose="03000509000000000000" pitchFamily="65" charset="-120"/>
              </a:rPr>
              <a:t>中。</a:t>
            </a:r>
            <a:endParaRPr lang="zh-TW" altLang="en-US"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2848559461"/>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異常的種類</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單</a:t>
            </a:r>
            <a:r>
              <a:rPr lang="zh-TW" altLang="en-US" dirty="0">
                <a:latin typeface="標楷體" panose="03000509000000000000" pitchFamily="65" charset="-120"/>
                <a:ea typeface="標楷體" panose="03000509000000000000" pitchFamily="65" charset="-120"/>
              </a:rPr>
              <a:t>點異常</a:t>
            </a:r>
            <a:r>
              <a:rPr lang="zh-TW" altLang="en-US" dirty="0">
                <a:ea typeface="標楷體" panose="03000509000000000000" pitchFamily="65" charset="-120"/>
              </a:rPr>
              <a:t>（</a:t>
            </a:r>
            <a:r>
              <a:rPr lang="en-US" altLang="zh-TW" dirty="0">
                <a:ea typeface="標楷體" panose="03000509000000000000" pitchFamily="65" charset="-120"/>
              </a:rPr>
              <a:t>point anomaly</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集體</a:t>
            </a:r>
            <a:r>
              <a:rPr lang="zh-TW" altLang="en-US" dirty="0">
                <a:latin typeface="標楷體" panose="03000509000000000000" pitchFamily="65" charset="-120"/>
                <a:ea typeface="標楷體" panose="03000509000000000000" pitchFamily="65" charset="-120"/>
              </a:rPr>
              <a:t>異常</a:t>
            </a:r>
            <a:r>
              <a:rPr lang="zh-TW" altLang="en-US" dirty="0">
                <a:ea typeface="標楷體" panose="03000509000000000000" pitchFamily="65" charset="-120"/>
              </a:rPr>
              <a:t>（</a:t>
            </a:r>
            <a:r>
              <a:rPr lang="en-US" altLang="zh-TW" dirty="0">
                <a:ea typeface="標楷體" panose="03000509000000000000" pitchFamily="65" charset="-120"/>
              </a:rPr>
              <a:t>collective anomaly</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r>
              <a:rPr lang="zh-TW" altLang="en-US" dirty="0">
                <a:latin typeface="標楷體" panose="03000509000000000000" pitchFamily="65" charset="-120"/>
                <a:ea typeface="標楷體" panose="03000509000000000000" pitchFamily="65" charset="-120"/>
              </a:rPr>
              <a:t>條件式異常</a:t>
            </a:r>
            <a:r>
              <a:rPr lang="zh-TW" altLang="en-US" dirty="0">
                <a:ea typeface="標楷體" panose="03000509000000000000" pitchFamily="65" charset="-120"/>
              </a:rPr>
              <a:t>（</a:t>
            </a:r>
            <a:r>
              <a:rPr lang="en-US" altLang="zh-TW" dirty="0">
                <a:ea typeface="標楷體" panose="03000509000000000000" pitchFamily="65" charset="-120"/>
              </a:rPr>
              <a:t>conditional or contextual anomaly</a:t>
            </a:r>
            <a:r>
              <a:rPr lang="zh-TW" altLang="en-US" dirty="0" smtClean="0">
                <a:ea typeface="標楷體" panose="03000509000000000000" pitchFamily="65" charset="-120"/>
              </a:rPr>
              <a:t>）</a:t>
            </a:r>
            <a:endParaRPr lang="en-US" altLang="zh-TW" dirty="0">
              <a:ea typeface="標楷體" panose="03000509000000000000" pitchFamily="65" charset="-120"/>
            </a:endParaRPr>
          </a:p>
        </p:txBody>
      </p:sp>
    </p:spTree>
    <p:extLst>
      <p:ext uri="{BB962C8B-B14F-4D97-AF65-F5344CB8AC3E}">
        <p14:creationId xmlns:p14="http://schemas.microsoft.com/office/powerpoint/2010/main" val="355089682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單點異常</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6" name="內容版面配置區 5"/>
          <p:cNvPicPr>
            <a:picLocks noGrp="1" noChangeAspect="1"/>
          </p:cNvPicPr>
          <p:nvPr>
            <p:ph idx="1"/>
          </p:nvPr>
        </p:nvPicPr>
        <p:blipFill>
          <a:blip r:embed="rId3"/>
          <a:stretch>
            <a:fillRect/>
          </a:stretch>
        </p:blipFill>
        <p:spPr>
          <a:xfrm>
            <a:off x="1906824" y="2008675"/>
            <a:ext cx="8378352" cy="4351338"/>
          </a:xfrm>
          <a:prstGeom prst="rect">
            <a:avLst/>
          </a:prstGeom>
        </p:spPr>
      </p:pic>
      <p:sp>
        <p:nvSpPr>
          <p:cNvPr id="7" name="橢圓 6"/>
          <p:cNvSpPr/>
          <p:nvPr/>
        </p:nvSpPr>
        <p:spPr>
          <a:xfrm>
            <a:off x="4273420" y="2202025"/>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 name="橢圓 7"/>
          <p:cNvSpPr/>
          <p:nvPr/>
        </p:nvSpPr>
        <p:spPr>
          <a:xfrm>
            <a:off x="6117772" y="5862735"/>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橢圓 8"/>
          <p:cNvSpPr/>
          <p:nvPr/>
        </p:nvSpPr>
        <p:spPr>
          <a:xfrm>
            <a:off x="7971452" y="3184850"/>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橢圓 9"/>
          <p:cNvSpPr/>
          <p:nvPr/>
        </p:nvSpPr>
        <p:spPr>
          <a:xfrm>
            <a:off x="8130073" y="2574987"/>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1592266826"/>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集體異常</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內容版面配置區 6"/>
          <p:cNvPicPr>
            <a:picLocks noGrp="1" noChangeAspect="1"/>
          </p:cNvPicPr>
          <p:nvPr>
            <p:ph idx="1"/>
          </p:nvPr>
        </p:nvPicPr>
        <p:blipFill>
          <a:blip r:embed="rId3"/>
          <a:stretch>
            <a:fillRect/>
          </a:stretch>
        </p:blipFill>
        <p:spPr>
          <a:xfrm>
            <a:off x="1893680" y="1875813"/>
            <a:ext cx="8404639" cy="4351338"/>
          </a:xfrm>
          <a:prstGeom prst="rect">
            <a:avLst/>
          </a:prstGeom>
        </p:spPr>
      </p:pic>
      <p:sp>
        <p:nvSpPr>
          <p:cNvPr id="8" name="橢圓 7"/>
          <p:cNvSpPr/>
          <p:nvPr/>
        </p:nvSpPr>
        <p:spPr>
          <a:xfrm>
            <a:off x="5548604" y="2074363"/>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橢圓 8"/>
          <p:cNvSpPr/>
          <p:nvPr/>
        </p:nvSpPr>
        <p:spPr>
          <a:xfrm>
            <a:off x="5699682" y="2472614"/>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橢圓 9"/>
          <p:cNvSpPr/>
          <p:nvPr/>
        </p:nvSpPr>
        <p:spPr>
          <a:xfrm>
            <a:off x="5856513" y="2119694"/>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橢圓 10"/>
          <p:cNvSpPr/>
          <p:nvPr/>
        </p:nvSpPr>
        <p:spPr>
          <a:xfrm>
            <a:off x="6005337" y="2295331"/>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橢圓 11"/>
          <p:cNvSpPr/>
          <p:nvPr/>
        </p:nvSpPr>
        <p:spPr>
          <a:xfrm>
            <a:off x="6139077" y="2121482"/>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3" name="橢圓 12"/>
          <p:cNvSpPr/>
          <p:nvPr/>
        </p:nvSpPr>
        <p:spPr>
          <a:xfrm>
            <a:off x="6295053" y="2413520"/>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4" name="橢圓 13"/>
          <p:cNvSpPr/>
          <p:nvPr/>
        </p:nvSpPr>
        <p:spPr>
          <a:xfrm>
            <a:off x="6447452" y="2214000"/>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橢圓 14"/>
          <p:cNvSpPr/>
          <p:nvPr/>
        </p:nvSpPr>
        <p:spPr>
          <a:xfrm>
            <a:off x="6599852" y="2306449"/>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 name="橢圓 15"/>
          <p:cNvSpPr/>
          <p:nvPr/>
        </p:nvSpPr>
        <p:spPr>
          <a:xfrm>
            <a:off x="6727838" y="2239348"/>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7" name="橢圓 16"/>
          <p:cNvSpPr/>
          <p:nvPr/>
        </p:nvSpPr>
        <p:spPr>
          <a:xfrm>
            <a:off x="6882417" y="2430860"/>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2142547662"/>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條件式異常</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內容版面配置區 6"/>
          <p:cNvPicPr>
            <a:picLocks noGrp="1" noChangeAspect="1"/>
          </p:cNvPicPr>
          <p:nvPr>
            <p:ph idx="1"/>
          </p:nvPr>
        </p:nvPicPr>
        <p:blipFill>
          <a:blip r:embed="rId3"/>
          <a:stretch>
            <a:fillRect/>
          </a:stretch>
        </p:blipFill>
        <p:spPr>
          <a:xfrm>
            <a:off x="1905208" y="1771945"/>
            <a:ext cx="8381584" cy="4351338"/>
          </a:xfrm>
          <a:prstGeom prst="rect">
            <a:avLst/>
          </a:prstGeom>
        </p:spPr>
      </p:pic>
      <p:sp>
        <p:nvSpPr>
          <p:cNvPr id="8" name="文字方塊 7"/>
          <p:cNvSpPr txBox="1"/>
          <p:nvPr/>
        </p:nvSpPr>
        <p:spPr>
          <a:xfrm>
            <a:off x="1905208" y="6123283"/>
            <a:ext cx="595035" cy="338554"/>
          </a:xfrm>
          <a:prstGeom prst="rect">
            <a:avLst/>
          </a:prstGeom>
          <a:noFill/>
        </p:spPr>
        <p:txBody>
          <a:bodyPr wrap="none" rtlCol="0">
            <a:spAutoFit/>
          </a:bodyPr>
          <a:lstStyle/>
          <a:p>
            <a:r>
              <a:rPr lang="zh-TW" altLang="en-US" sz="1600" dirty="0" smtClean="0">
                <a:latin typeface="標楷體" panose="03000509000000000000" pitchFamily="65" charset="-120"/>
                <a:ea typeface="標楷體" panose="03000509000000000000" pitchFamily="65" charset="-120"/>
              </a:rPr>
              <a:t>時間</a:t>
            </a:r>
            <a:endParaRPr lang="zh-TW" altLang="en-US" sz="1600" dirty="0">
              <a:latin typeface="標楷體" panose="03000509000000000000" pitchFamily="65" charset="-120"/>
              <a:ea typeface="標楷體" panose="03000509000000000000" pitchFamily="65" charset="-120"/>
            </a:endParaRPr>
          </a:p>
        </p:txBody>
      </p:sp>
      <p:sp>
        <p:nvSpPr>
          <p:cNvPr id="10" name="橢圓 9"/>
          <p:cNvSpPr/>
          <p:nvPr/>
        </p:nvSpPr>
        <p:spPr>
          <a:xfrm>
            <a:off x="9047583" y="4910870"/>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橢圓 10"/>
          <p:cNvSpPr/>
          <p:nvPr/>
        </p:nvSpPr>
        <p:spPr>
          <a:xfrm>
            <a:off x="9209313" y="3206477"/>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橢圓 11"/>
          <p:cNvSpPr/>
          <p:nvPr/>
        </p:nvSpPr>
        <p:spPr>
          <a:xfrm>
            <a:off x="9371044" y="3622818"/>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3" name="橢圓 12"/>
          <p:cNvSpPr/>
          <p:nvPr/>
        </p:nvSpPr>
        <p:spPr>
          <a:xfrm>
            <a:off x="9542105" y="3215808"/>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4" name="橢圓 13"/>
          <p:cNvSpPr/>
          <p:nvPr/>
        </p:nvSpPr>
        <p:spPr>
          <a:xfrm>
            <a:off x="9694504" y="4475441"/>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文字方塊 14"/>
          <p:cNvSpPr txBox="1"/>
          <p:nvPr/>
        </p:nvSpPr>
        <p:spPr>
          <a:xfrm>
            <a:off x="3442997" y="5216468"/>
            <a:ext cx="1005403" cy="338554"/>
          </a:xfrm>
          <a:prstGeom prst="rect">
            <a:avLst/>
          </a:prstGeom>
          <a:noFill/>
        </p:spPr>
        <p:txBody>
          <a:bodyPr wrap="none" rtlCol="0">
            <a:spAutoFit/>
          </a:bodyPr>
          <a:lstStyle/>
          <a:p>
            <a:r>
              <a:rPr lang="zh-TW" altLang="en-US" sz="1600" dirty="0" smtClean="0">
                <a:latin typeface="標楷體" panose="03000509000000000000" pitchFamily="65" charset="-120"/>
                <a:ea typeface="標楷體" panose="03000509000000000000" pitchFamily="65" charset="-120"/>
              </a:rPr>
              <a:t>上班時段</a:t>
            </a:r>
            <a:endParaRPr lang="zh-TW" altLang="en-US" sz="1600" dirty="0">
              <a:latin typeface="標楷體" panose="03000509000000000000" pitchFamily="65" charset="-120"/>
              <a:ea typeface="標楷體" panose="03000509000000000000" pitchFamily="65" charset="-120"/>
            </a:endParaRPr>
          </a:p>
        </p:txBody>
      </p:sp>
      <p:sp>
        <p:nvSpPr>
          <p:cNvPr id="16" name="文字方塊 15"/>
          <p:cNvSpPr txBox="1"/>
          <p:nvPr/>
        </p:nvSpPr>
        <p:spPr>
          <a:xfrm>
            <a:off x="8923004" y="5216468"/>
            <a:ext cx="1005403" cy="338554"/>
          </a:xfrm>
          <a:prstGeom prst="rect">
            <a:avLst/>
          </a:prstGeom>
          <a:noFill/>
        </p:spPr>
        <p:txBody>
          <a:bodyPr wrap="none" rtlCol="0">
            <a:spAutoFit/>
          </a:bodyPr>
          <a:lstStyle/>
          <a:p>
            <a:r>
              <a:rPr lang="zh-TW" altLang="en-US" sz="1600" dirty="0" smtClean="0">
                <a:latin typeface="標楷體" panose="03000509000000000000" pitchFamily="65" charset="-120"/>
                <a:ea typeface="標楷體" panose="03000509000000000000" pitchFamily="65" charset="-120"/>
              </a:rPr>
              <a:t>深夜時段</a:t>
            </a:r>
            <a:endParaRPr lang="zh-TW" altLang="en-US" sz="1600" dirty="0">
              <a:latin typeface="標楷體" panose="03000509000000000000" pitchFamily="65" charset="-120"/>
              <a:ea typeface="標楷體" panose="03000509000000000000" pitchFamily="65" charset="-120"/>
            </a:endParaRPr>
          </a:p>
        </p:txBody>
      </p:sp>
      <p:sp>
        <p:nvSpPr>
          <p:cNvPr id="17" name="文字方塊 16"/>
          <p:cNvSpPr txBox="1"/>
          <p:nvPr/>
        </p:nvSpPr>
        <p:spPr>
          <a:xfrm>
            <a:off x="1228100" y="3206477"/>
            <a:ext cx="677108" cy="1323439"/>
          </a:xfrm>
          <a:prstGeom prst="rect">
            <a:avLst/>
          </a:prstGeom>
          <a:noFill/>
        </p:spPr>
        <p:txBody>
          <a:bodyPr vert="eaVert" wrap="none" rtlCol="0">
            <a:spAutoFit/>
          </a:bodyPr>
          <a:lstStyle/>
          <a:p>
            <a:r>
              <a:rPr lang="zh-TW" altLang="en-US" sz="1600" dirty="0">
                <a:latin typeface="標楷體" panose="03000509000000000000" pitchFamily="65" charset="-120"/>
                <a:ea typeface="標楷體" panose="03000509000000000000" pitchFamily="65" charset="-120"/>
              </a:rPr>
              <a:t>商業區用電量</a:t>
            </a:r>
          </a:p>
          <a:p>
            <a:endParaRPr lang="zh-TW" altLang="en-US" sz="1600" dirty="0"/>
          </a:p>
        </p:txBody>
      </p:sp>
    </p:spTree>
    <p:extLst>
      <p:ext uri="{BB962C8B-B14F-4D97-AF65-F5344CB8AC3E}">
        <p14:creationId xmlns:p14="http://schemas.microsoft.com/office/powerpoint/2010/main" val="1745028408"/>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異常偵測的方法</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分類</a:t>
            </a:r>
            <a:r>
              <a:rPr lang="zh-TW" altLang="en-US" dirty="0">
                <a:ea typeface="標楷體" panose="03000509000000000000" pitchFamily="65" charset="-120"/>
              </a:rPr>
              <a:t>（</a:t>
            </a:r>
            <a:r>
              <a:rPr lang="en-US" altLang="zh-TW" dirty="0">
                <a:ea typeface="標楷體" panose="03000509000000000000" pitchFamily="65" charset="-120"/>
              </a:rPr>
              <a:t>Classification</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分</a:t>
            </a:r>
            <a:r>
              <a:rPr lang="zh-TW" altLang="en-US" dirty="0">
                <a:latin typeface="標楷體" panose="03000509000000000000" pitchFamily="65" charset="-120"/>
                <a:ea typeface="標楷體" panose="03000509000000000000" pitchFamily="65" charset="-120"/>
              </a:rPr>
              <a:t>群</a:t>
            </a:r>
            <a:r>
              <a:rPr lang="zh-TW" altLang="en-US" dirty="0">
                <a:ea typeface="標楷體" panose="03000509000000000000" pitchFamily="65" charset="-120"/>
              </a:rPr>
              <a:t>（</a:t>
            </a:r>
            <a:r>
              <a:rPr lang="en-US" altLang="zh-TW" dirty="0">
                <a:ea typeface="標楷體" panose="03000509000000000000" pitchFamily="65" charset="-120"/>
              </a:rPr>
              <a:t>Clustering</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鄰近</a:t>
            </a:r>
            <a:r>
              <a:rPr lang="zh-TW" altLang="en-US" dirty="0">
                <a:latin typeface="標楷體" panose="03000509000000000000" pitchFamily="65" charset="-120"/>
                <a:ea typeface="標楷體" panose="03000509000000000000" pitchFamily="65" charset="-120"/>
              </a:rPr>
              <a:t>點</a:t>
            </a:r>
            <a:r>
              <a:rPr lang="zh-TW" altLang="en-US" dirty="0">
                <a:ea typeface="標楷體" panose="03000509000000000000" pitchFamily="65" charset="-120"/>
              </a:rPr>
              <a:t>（</a:t>
            </a:r>
            <a:r>
              <a:rPr lang="en-US" altLang="zh-TW" dirty="0">
                <a:ea typeface="標楷體" panose="03000509000000000000" pitchFamily="65" charset="-120"/>
              </a:rPr>
              <a:t>Nearest Neighbor</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統計</a:t>
            </a:r>
            <a:r>
              <a:rPr lang="zh-TW" altLang="en-US" dirty="0">
                <a:latin typeface="標楷體" panose="03000509000000000000" pitchFamily="65" charset="-120"/>
                <a:ea typeface="標楷體" panose="03000509000000000000" pitchFamily="65" charset="-120"/>
              </a:rPr>
              <a:t>為基礎的判斷方法</a:t>
            </a:r>
          </a:p>
        </p:txBody>
      </p:sp>
    </p:spTree>
    <p:extLst>
      <p:ext uri="{BB962C8B-B14F-4D97-AF65-F5344CB8AC3E}">
        <p14:creationId xmlns:p14="http://schemas.microsoft.com/office/powerpoint/2010/main" val="1615788325"/>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分類</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透過監督或半監督的方式學習正常類型的資料</a:t>
            </a:r>
            <a:endParaRPr lang="en-US" altLang="zh-TW" dirty="0" smtClean="0">
              <a:latin typeface="標楷體" panose="03000509000000000000" pitchFamily="65" charset="-120"/>
              <a:ea typeface="標楷體" panose="03000509000000000000" pitchFamily="65" charset="-120"/>
            </a:endParaRPr>
          </a:p>
        </p:txBody>
      </p:sp>
      <p:sp>
        <p:nvSpPr>
          <p:cNvPr id="8" name="矩形 7"/>
          <p:cNvSpPr/>
          <p:nvPr/>
        </p:nvSpPr>
        <p:spPr>
          <a:xfrm>
            <a:off x="8304414" y="2827482"/>
            <a:ext cx="3600000" cy="3600000"/>
          </a:xfrm>
          <a:prstGeom prst="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endParaRPr lang="zh-TW" altLang="en-US" dirty="0"/>
          </a:p>
        </p:txBody>
      </p:sp>
      <p:sp>
        <p:nvSpPr>
          <p:cNvPr id="123" name="文字方塊 122"/>
          <p:cNvSpPr txBox="1"/>
          <p:nvPr/>
        </p:nvSpPr>
        <p:spPr>
          <a:xfrm>
            <a:off x="11347170" y="2974927"/>
            <a:ext cx="595035" cy="338554"/>
          </a:xfrm>
          <a:prstGeom prst="rect">
            <a:avLst/>
          </a:prstGeom>
          <a:noFill/>
        </p:spPr>
        <p:txBody>
          <a:bodyPr wrap="none" rtlCol="0">
            <a:spAutoFit/>
          </a:bodyPr>
          <a:lstStyle/>
          <a:p>
            <a:r>
              <a:rPr lang="zh-TW" altLang="en-US" sz="1600" dirty="0" smtClean="0">
                <a:solidFill>
                  <a:srgbClr val="0070C0"/>
                </a:solidFill>
                <a:latin typeface="標楷體" panose="03000509000000000000" pitchFamily="65" charset="-120"/>
                <a:ea typeface="標楷體" panose="03000509000000000000" pitchFamily="65" charset="-120"/>
              </a:rPr>
              <a:t>正常</a:t>
            </a:r>
            <a:endParaRPr lang="zh-TW" altLang="en-US" sz="1600" dirty="0">
              <a:solidFill>
                <a:srgbClr val="0070C0"/>
              </a:solidFill>
              <a:latin typeface="標楷體" panose="03000509000000000000" pitchFamily="65" charset="-120"/>
              <a:ea typeface="標楷體" panose="03000509000000000000" pitchFamily="65" charset="-120"/>
            </a:endParaRPr>
          </a:p>
        </p:txBody>
      </p:sp>
      <p:sp>
        <p:nvSpPr>
          <p:cNvPr id="127" name="流程圖: 接點 126"/>
          <p:cNvSpPr/>
          <p:nvPr/>
        </p:nvSpPr>
        <p:spPr>
          <a:xfrm>
            <a:off x="10165458" y="2920389"/>
            <a:ext cx="1316180" cy="1249132"/>
          </a:xfrm>
          <a:prstGeom prst="flowChartConnector">
            <a:avLst/>
          </a:prstGeom>
          <a:ln w="28575">
            <a:solidFill>
              <a:srgbClr val="0070C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zh-TW" altLang="en-US"/>
          </a:p>
        </p:txBody>
      </p:sp>
      <p:sp>
        <p:nvSpPr>
          <p:cNvPr id="9" name="流程圖: 接點 8"/>
          <p:cNvSpPr/>
          <p:nvPr/>
        </p:nvSpPr>
        <p:spPr>
          <a:xfrm>
            <a:off x="10809630" y="34485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4" name="流程圖: 接點 63"/>
          <p:cNvSpPr/>
          <p:nvPr/>
        </p:nvSpPr>
        <p:spPr>
          <a:xfrm>
            <a:off x="10504510" y="32265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5" name="流程圖: 接點 64"/>
          <p:cNvSpPr/>
          <p:nvPr/>
        </p:nvSpPr>
        <p:spPr>
          <a:xfrm>
            <a:off x="11082892" y="32625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6" name="流程圖: 接點 65"/>
          <p:cNvSpPr/>
          <p:nvPr/>
        </p:nvSpPr>
        <p:spPr>
          <a:xfrm>
            <a:off x="11005537" y="361663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7" name="流程圖: 接點 66"/>
          <p:cNvSpPr/>
          <p:nvPr/>
        </p:nvSpPr>
        <p:spPr>
          <a:xfrm>
            <a:off x="10486716" y="367729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8" name="流程圖: 接點 67"/>
          <p:cNvSpPr/>
          <p:nvPr/>
        </p:nvSpPr>
        <p:spPr>
          <a:xfrm>
            <a:off x="10493426" y="308794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9" name="流程圖: 接點 68"/>
          <p:cNvSpPr/>
          <p:nvPr/>
        </p:nvSpPr>
        <p:spPr>
          <a:xfrm>
            <a:off x="10829107" y="374283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0" name="流程圖: 接點 69"/>
          <p:cNvSpPr/>
          <p:nvPr/>
        </p:nvSpPr>
        <p:spPr>
          <a:xfrm>
            <a:off x="9151848" y="3896048"/>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1" name="流程圖: 接點 70"/>
          <p:cNvSpPr/>
          <p:nvPr/>
        </p:nvSpPr>
        <p:spPr>
          <a:xfrm>
            <a:off x="11092853" y="353129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2" name="流程圖: 接點 71"/>
          <p:cNvSpPr/>
          <p:nvPr/>
        </p:nvSpPr>
        <p:spPr>
          <a:xfrm>
            <a:off x="10767702" y="362459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3" name="流程圖: 接點 72"/>
          <p:cNvSpPr/>
          <p:nvPr/>
        </p:nvSpPr>
        <p:spPr>
          <a:xfrm>
            <a:off x="10767702" y="331609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4" name="流程圖: 接點 73"/>
          <p:cNvSpPr/>
          <p:nvPr/>
        </p:nvSpPr>
        <p:spPr>
          <a:xfrm>
            <a:off x="10940519" y="38311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5" name="流程圖: 接點 74"/>
          <p:cNvSpPr/>
          <p:nvPr/>
        </p:nvSpPr>
        <p:spPr>
          <a:xfrm>
            <a:off x="11216196" y="38311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6" name="流程圖: 接點 75"/>
          <p:cNvSpPr/>
          <p:nvPr/>
        </p:nvSpPr>
        <p:spPr>
          <a:xfrm>
            <a:off x="11133504" y="308794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dirty="0"/>
          </a:p>
        </p:txBody>
      </p:sp>
      <p:sp>
        <p:nvSpPr>
          <p:cNvPr id="77" name="流程圖: 接點 76"/>
          <p:cNvSpPr/>
          <p:nvPr/>
        </p:nvSpPr>
        <p:spPr>
          <a:xfrm>
            <a:off x="11001491" y="348220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8" name="流程圖: 接點 77"/>
          <p:cNvSpPr/>
          <p:nvPr/>
        </p:nvSpPr>
        <p:spPr>
          <a:xfrm>
            <a:off x="11089145" y="375157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9" name="流程圖: 接點 78"/>
          <p:cNvSpPr/>
          <p:nvPr/>
        </p:nvSpPr>
        <p:spPr>
          <a:xfrm>
            <a:off x="10631211" y="39060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0" name="流程圖: 接點 79"/>
          <p:cNvSpPr/>
          <p:nvPr/>
        </p:nvSpPr>
        <p:spPr>
          <a:xfrm>
            <a:off x="11147359" y="336542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1" name="流程圖: 接點 80"/>
          <p:cNvSpPr/>
          <p:nvPr/>
        </p:nvSpPr>
        <p:spPr>
          <a:xfrm>
            <a:off x="11155497" y="367630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2" name="流程圖: 接點 81"/>
          <p:cNvSpPr/>
          <p:nvPr/>
        </p:nvSpPr>
        <p:spPr>
          <a:xfrm>
            <a:off x="11056853" y="388412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3" name="流程圖: 接點 82"/>
          <p:cNvSpPr/>
          <p:nvPr/>
        </p:nvSpPr>
        <p:spPr>
          <a:xfrm>
            <a:off x="10859164" y="35589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4" name="流程圖: 接點 83"/>
          <p:cNvSpPr/>
          <p:nvPr/>
        </p:nvSpPr>
        <p:spPr>
          <a:xfrm>
            <a:off x="10565513" y="356532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5" name="流程圖: 接點 84"/>
          <p:cNvSpPr/>
          <p:nvPr/>
        </p:nvSpPr>
        <p:spPr>
          <a:xfrm>
            <a:off x="10710402" y="357399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6" name="流程圖: 接點 85"/>
          <p:cNvSpPr/>
          <p:nvPr/>
        </p:nvSpPr>
        <p:spPr>
          <a:xfrm>
            <a:off x="10904519" y="344412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7" name="流程圖: 接點 86"/>
          <p:cNvSpPr/>
          <p:nvPr/>
        </p:nvSpPr>
        <p:spPr>
          <a:xfrm>
            <a:off x="10618069" y="372752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8" name="流程圖: 接點 87"/>
          <p:cNvSpPr/>
          <p:nvPr/>
        </p:nvSpPr>
        <p:spPr>
          <a:xfrm>
            <a:off x="10406887" y="3578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9" name="流程圖: 接點 88"/>
          <p:cNvSpPr/>
          <p:nvPr/>
        </p:nvSpPr>
        <p:spPr>
          <a:xfrm>
            <a:off x="10620932" y="381043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0" name="流程圖: 接點 89"/>
          <p:cNvSpPr/>
          <p:nvPr/>
        </p:nvSpPr>
        <p:spPr>
          <a:xfrm>
            <a:off x="10922867" y="373361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1" name="流程圖: 接點 90"/>
          <p:cNvSpPr/>
          <p:nvPr/>
        </p:nvSpPr>
        <p:spPr>
          <a:xfrm>
            <a:off x="10706830" y="348139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2" name="流程圖: 接點 91"/>
          <p:cNvSpPr/>
          <p:nvPr/>
        </p:nvSpPr>
        <p:spPr>
          <a:xfrm>
            <a:off x="10826155" y="31978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3" name="流程圖: 接點 92"/>
          <p:cNvSpPr/>
          <p:nvPr/>
        </p:nvSpPr>
        <p:spPr>
          <a:xfrm>
            <a:off x="9712032" y="3270828"/>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4" name="流程圖: 接點 93"/>
          <p:cNvSpPr/>
          <p:nvPr/>
        </p:nvSpPr>
        <p:spPr>
          <a:xfrm>
            <a:off x="9429399" y="3445396"/>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5" name="流程圖: 接點 94"/>
          <p:cNvSpPr/>
          <p:nvPr/>
        </p:nvSpPr>
        <p:spPr>
          <a:xfrm>
            <a:off x="11052744" y="365961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6" name="流程圖: 接點 95"/>
          <p:cNvSpPr/>
          <p:nvPr/>
        </p:nvSpPr>
        <p:spPr>
          <a:xfrm>
            <a:off x="10433874" y="339745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7" name="流程圖: 接點 96"/>
          <p:cNvSpPr/>
          <p:nvPr/>
        </p:nvSpPr>
        <p:spPr>
          <a:xfrm>
            <a:off x="10244045" y="327914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8" name="流程圖: 接點 97"/>
          <p:cNvSpPr/>
          <p:nvPr/>
        </p:nvSpPr>
        <p:spPr>
          <a:xfrm>
            <a:off x="11248111" y="351739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9" name="流程圖: 接點 98"/>
          <p:cNvSpPr/>
          <p:nvPr/>
        </p:nvSpPr>
        <p:spPr>
          <a:xfrm>
            <a:off x="11285906" y="36849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0" name="流程圖: 接點 99"/>
          <p:cNvSpPr/>
          <p:nvPr/>
        </p:nvSpPr>
        <p:spPr>
          <a:xfrm>
            <a:off x="10684822" y="36899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1" name="流程圖: 接點 100"/>
          <p:cNvSpPr/>
          <p:nvPr/>
        </p:nvSpPr>
        <p:spPr>
          <a:xfrm>
            <a:off x="10397874" y="392012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2" name="流程圖: 接點 101"/>
          <p:cNvSpPr/>
          <p:nvPr/>
        </p:nvSpPr>
        <p:spPr>
          <a:xfrm>
            <a:off x="10911568" y="36129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3" name="流程圖: 接點 102"/>
          <p:cNvSpPr/>
          <p:nvPr/>
        </p:nvSpPr>
        <p:spPr>
          <a:xfrm>
            <a:off x="10875568" y="398115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4" name="流程圖: 接點 103"/>
          <p:cNvSpPr/>
          <p:nvPr/>
        </p:nvSpPr>
        <p:spPr>
          <a:xfrm>
            <a:off x="11004617" y="321598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5" name="流程圖: 接點 104"/>
          <p:cNvSpPr/>
          <p:nvPr/>
        </p:nvSpPr>
        <p:spPr>
          <a:xfrm>
            <a:off x="10801019" y="3470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6" name="流程圖: 接點 105"/>
          <p:cNvSpPr/>
          <p:nvPr/>
        </p:nvSpPr>
        <p:spPr>
          <a:xfrm>
            <a:off x="10895164" y="332044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7" name="流程圖: 接點 106"/>
          <p:cNvSpPr/>
          <p:nvPr/>
        </p:nvSpPr>
        <p:spPr>
          <a:xfrm>
            <a:off x="10815847" y="384812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8" name="流程圖: 接點 107"/>
          <p:cNvSpPr/>
          <p:nvPr/>
        </p:nvSpPr>
        <p:spPr>
          <a:xfrm>
            <a:off x="10695702" y="332347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9" name="流程圖: 接點 108"/>
          <p:cNvSpPr/>
          <p:nvPr/>
        </p:nvSpPr>
        <p:spPr>
          <a:xfrm>
            <a:off x="9685311" y="3551029"/>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0" name="流程圖: 接點 109"/>
          <p:cNvSpPr/>
          <p:nvPr/>
        </p:nvSpPr>
        <p:spPr>
          <a:xfrm>
            <a:off x="8876910" y="3098530"/>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1" name="流程圖: 接點 110"/>
          <p:cNvSpPr/>
          <p:nvPr/>
        </p:nvSpPr>
        <p:spPr>
          <a:xfrm>
            <a:off x="10778830" y="300759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2" name="流程圖: 接點 111"/>
          <p:cNvSpPr/>
          <p:nvPr/>
        </p:nvSpPr>
        <p:spPr>
          <a:xfrm>
            <a:off x="9822869" y="3730798"/>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3" name="流程圖: 接點 112"/>
          <p:cNvSpPr/>
          <p:nvPr/>
        </p:nvSpPr>
        <p:spPr>
          <a:xfrm>
            <a:off x="10723529" y="39420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4" name="流程圖: 接點 113"/>
          <p:cNvSpPr/>
          <p:nvPr/>
        </p:nvSpPr>
        <p:spPr>
          <a:xfrm>
            <a:off x="10479572" y="3506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5" name="流程圖: 接點 114"/>
          <p:cNvSpPr/>
          <p:nvPr/>
        </p:nvSpPr>
        <p:spPr>
          <a:xfrm>
            <a:off x="10787548" y="378967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6" name="流程圖: 接點 115"/>
          <p:cNvSpPr/>
          <p:nvPr/>
        </p:nvSpPr>
        <p:spPr>
          <a:xfrm>
            <a:off x="10601513" y="3434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7" name="流程圖: 接點 116"/>
          <p:cNvSpPr/>
          <p:nvPr/>
        </p:nvSpPr>
        <p:spPr>
          <a:xfrm>
            <a:off x="10978334" y="33317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8" name="流程圖: 接點 117"/>
          <p:cNvSpPr/>
          <p:nvPr/>
        </p:nvSpPr>
        <p:spPr>
          <a:xfrm>
            <a:off x="11030717" y="401906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9" name="流程圖: 接點 118"/>
          <p:cNvSpPr/>
          <p:nvPr/>
        </p:nvSpPr>
        <p:spPr>
          <a:xfrm>
            <a:off x="10504510" y="379730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0" name="流程圖: 接點 119"/>
          <p:cNvSpPr/>
          <p:nvPr/>
        </p:nvSpPr>
        <p:spPr>
          <a:xfrm>
            <a:off x="11321852" y="337255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1" name="流程圖: 接點 120"/>
          <p:cNvSpPr/>
          <p:nvPr/>
        </p:nvSpPr>
        <p:spPr>
          <a:xfrm>
            <a:off x="10906334" y="313453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2" name="流程圖: 接點 121"/>
          <p:cNvSpPr/>
          <p:nvPr/>
        </p:nvSpPr>
        <p:spPr>
          <a:xfrm>
            <a:off x="11072588" y="340066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8" name="流程圖: 接點 127"/>
          <p:cNvSpPr/>
          <p:nvPr/>
        </p:nvSpPr>
        <p:spPr>
          <a:xfrm>
            <a:off x="11118892" y="5649273"/>
            <a:ext cx="710043" cy="655653"/>
          </a:xfrm>
          <a:prstGeom prst="flowChartConnector">
            <a:avLst/>
          </a:prstGeom>
          <a:ln w="28575">
            <a:solidFill>
              <a:srgbClr val="0070C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zh-TW" altLang="en-US"/>
          </a:p>
        </p:txBody>
      </p:sp>
      <p:sp>
        <p:nvSpPr>
          <p:cNvPr id="10" name="流程圖: 接點 9"/>
          <p:cNvSpPr/>
          <p:nvPr/>
        </p:nvSpPr>
        <p:spPr>
          <a:xfrm>
            <a:off x="11482639" y="58893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 name="流程圖: 接點 10"/>
          <p:cNvSpPr/>
          <p:nvPr/>
        </p:nvSpPr>
        <p:spPr>
          <a:xfrm>
            <a:off x="11477098" y="597523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 name="流程圖: 接點 11"/>
          <p:cNvSpPr/>
          <p:nvPr/>
        </p:nvSpPr>
        <p:spPr>
          <a:xfrm>
            <a:off x="11418909" y="59419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3" name="流程圖: 接點 12"/>
          <p:cNvSpPr/>
          <p:nvPr/>
        </p:nvSpPr>
        <p:spPr>
          <a:xfrm>
            <a:off x="11526974" y="596691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4" name="流程圖: 接點 13"/>
          <p:cNvSpPr/>
          <p:nvPr/>
        </p:nvSpPr>
        <p:spPr>
          <a:xfrm>
            <a:off x="11443847"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5" name="流程圖: 接點 14"/>
          <p:cNvSpPr/>
          <p:nvPr/>
        </p:nvSpPr>
        <p:spPr>
          <a:xfrm>
            <a:off x="11485412" y="602510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6" name="流程圖: 接點 15"/>
          <p:cNvSpPr/>
          <p:nvPr/>
        </p:nvSpPr>
        <p:spPr>
          <a:xfrm>
            <a:off x="11427222" y="581729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7" name="流程圖: 接點 16"/>
          <p:cNvSpPr/>
          <p:nvPr/>
        </p:nvSpPr>
        <p:spPr>
          <a:xfrm>
            <a:off x="11294217" y="59004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8" name="流程圖: 接點 17"/>
          <p:cNvSpPr/>
          <p:nvPr/>
        </p:nvSpPr>
        <p:spPr>
          <a:xfrm>
            <a:off x="11335781" y="60084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9" name="流程圖: 接點 18"/>
          <p:cNvSpPr/>
          <p:nvPr/>
        </p:nvSpPr>
        <p:spPr>
          <a:xfrm>
            <a:off x="11335781" y="58754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0" name="流程圖: 接點 19"/>
          <p:cNvSpPr/>
          <p:nvPr/>
        </p:nvSpPr>
        <p:spPr>
          <a:xfrm>
            <a:off x="11385658" y="59586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1" name="流程圖: 接點 20"/>
          <p:cNvSpPr/>
          <p:nvPr/>
        </p:nvSpPr>
        <p:spPr>
          <a:xfrm>
            <a:off x="11585162" y="587547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2" name="流程圖: 接點 21"/>
          <p:cNvSpPr/>
          <p:nvPr/>
        </p:nvSpPr>
        <p:spPr>
          <a:xfrm>
            <a:off x="11618413" y="59336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3" name="流程圖: 接點 22"/>
          <p:cNvSpPr/>
          <p:nvPr/>
        </p:nvSpPr>
        <p:spPr>
          <a:xfrm>
            <a:off x="11543599" y="580897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4" name="流程圖: 接點 23"/>
          <p:cNvSpPr/>
          <p:nvPr/>
        </p:nvSpPr>
        <p:spPr>
          <a:xfrm>
            <a:off x="11601787"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5" name="流程圖: 接點 24"/>
          <p:cNvSpPr/>
          <p:nvPr/>
        </p:nvSpPr>
        <p:spPr>
          <a:xfrm>
            <a:off x="11585162" y="5925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6" name="流程圖: 接點 25"/>
          <p:cNvSpPr/>
          <p:nvPr/>
        </p:nvSpPr>
        <p:spPr>
          <a:xfrm>
            <a:off x="11344094" y="574247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7" name="流程圖: 接點 26"/>
          <p:cNvSpPr/>
          <p:nvPr/>
        </p:nvSpPr>
        <p:spPr>
          <a:xfrm>
            <a:off x="11443847" y="609161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8" name="流程圖: 接點 27"/>
          <p:cNvSpPr/>
          <p:nvPr/>
        </p:nvSpPr>
        <p:spPr>
          <a:xfrm>
            <a:off x="11493723" y="574247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9" name="流程圖: 接點 28"/>
          <p:cNvSpPr/>
          <p:nvPr/>
        </p:nvSpPr>
        <p:spPr>
          <a:xfrm>
            <a:off x="11252654" y="599185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0" name="流程圖: 接點 29"/>
          <p:cNvSpPr/>
          <p:nvPr/>
        </p:nvSpPr>
        <p:spPr>
          <a:xfrm>
            <a:off x="11668291" y="580066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1" name="流程圖: 接點 30"/>
          <p:cNvSpPr/>
          <p:nvPr/>
        </p:nvSpPr>
        <p:spPr>
          <a:xfrm>
            <a:off x="11684916" y="592535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2" name="流程圖: 接點 31"/>
          <p:cNvSpPr/>
          <p:nvPr/>
        </p:nvSpPr>
        <p:spPr>
          <a:xfrm>
            <a:off x="11502036" y="591704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3" name="流程圖: 接點 32"/>
          <p:cNvSpPr/>
          <p:nvPr/>
        </p:nvSpPr>
        <p:spPr>
          <a:xfrm>
            <a:off x="11377345" y="587547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4" name="流程圖: 接點 33"/>
          <p:cNvSpPr/>
          <p:nvPr/>
        </p:nvSpPr>
        <p:spPr>
          <a:xfrm>
            <a:off x="11560224" y="581729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5" name="流程圖: 接點 34"/>
          <p:cNvSpPr/>
          <p:nvPr/>
        </p:nvSpPr>
        <p:spPr>
          <a:xfrm>
            <a:off x="11568536" y="585054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6" name="流程圖: 接點 35"/>
          <p:cNvSpPr/>
          <p:nvPr/>
        </p:nvSpPr>
        <p:spPr>
          <a:xfrm>
            <a:off x="11526973" y="588379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7" name="流程圖: 接點 36"/>
          <p:cNvSpPr/>
          <p:nvPr/>
        </p:nvSpPr>
        <p:spPr>
          <a:xfrm>
            <a:off x="11418908" y="59586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8" name="流程圖: 接點 37"/>
          <p:cNvSpPr/>
          <p:nvPr/>
        </p:nvSpPr>
        <p:spPr>
          <a:xfrm>
            <a:off x="11427221" y="601679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9" name="流程圖: 接點 38"/>
          <p:cNvSpPr/>
          <p:nvPr/>
        </p:nvSpPr>
        <p:spPr>
          <a:xfrm>
            <a:off x="11435535" y="588379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0" name="流程圖: 接點 39"/>
          <p:cNvSpPr/>
          <p:nvPr/>
        </p:nvSpPr>
        <p:spPr>
          <a:xfrm>
            <a:off x="11485409" y="593366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1" name="流程圖: 接點 40"/>
          <p:cNvSpPr/>
          <p:nvPr/>
        </p:nvSpPr>
        <p:spPr>
          <a:xfrm>
            <a:off x="11443848" y="593366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2" name="流程圖: 接點 41"/>
          <p:cNvSpPr/>
          <p:nvPr/>
        </p:nvSpPr>
        <p:spPr>
          <a:xfrm>
            <a:off x="11576849" y="595860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3" name="流程圖: 接點 42"/>
          <p:cNvSpPr/>
          <p:nvPr/>
        </p:nvSpPr>
        <p:spPr>
          <a:xfrm>
            <a:off x="11551910" y="59336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4" name="流程圖: 接點 43"/>
          <p:cNvSpPr/>
          <p:nvPr/>
        </p:nvSpPr>
        <p:spPr>
          <a:xfrm>
            <a:off x="11526974"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5" name="流程圖: 接點 44"/>
          <p:cNvSpPr/>
          <p:nvPr/>
        </p:nvSpPr>
        <p:spPr>
          <a:xfrm>
            <a:off x="11518662" y="600848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6" name="流程圖: 接點 45"/>
          <p:cNvSpPr/>
          <p:nvPr/>
        </p:nvSpPr>
        <p:spPr>
          <a:xfrm>
            <a:off x="11593475" y="579235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7" name="流程圖: 接點 46"/>
          <p:cNvSpPr/>
          <p:nvPr/>
        </p:nvSpPr>
        <p:spPr>
          <a:xfrm>
            <a:off x="11377342" y="591704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8" name="流程圖: 接點 47"/>
          <p:cNvSpPr/>
          <p:nvPr/>
        </p:nvSpPr>
        <p:spPr>
          <a:xfrm>
            <a:off x="11294217" y="610823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9" name="流程圖: 接點 48"/>
          <p:cNvSpPr/>
          <p:nvPr/>
        </p:nvSpPr>
        <p:spPr>
          <a:xfrm>
            <a:off x="11551912" y="610823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0" name="流程圖: 接點 49"/>
          <p:cNvSpPr/>
          <p:nvPr/>
        </p:nvSpPr>
        <p:spPr>
          <a:xfrm>
            <a:off x="11410596"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1" name="流程圖: 接點 50"/>
          <p:cNvSpPr/>
          <p:nvPr/>
        </p:nvSpPr>
        <p:spPr>
          <a:xfrm>
            <a:off x="11285906" y="597523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2" name="流程圖: 接點 51"/>
          <p:cNvSpPr/>
          <p:nvPr/>
        </p:nvSpPr>
        <p:spPr>
          <a:xfrm>
            <a:off x="11335781" y="595029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3" name="流程圖: 接點 52"/>
          <p:cNvSpPr/>
          <p:nvPr/>
        </p:nvSpPr>
        <p:spPr>
          <a:xfrm>
            <a:off x="11460471" y="62079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4" name="流程圖: 接點 53"/>
          <p:cNvSpPr/>
          <p:nvPr/>
        </p:nvSpPr>
        <p:spPr>
          <a:xfrm>
            <a:off x="11385656" y="610823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5" name="流程圖: 接點 54"/>
          <p:cNvSpPr/>
          <p:nvPr/>
        </p:nvSpPr>
        <p:spPr>
          <a:xfrm>
            <a:off x="11485405" y="580897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6" name="流程圖: 接點 55"/>
          <p:cNvSpPr/>
          <p:nvPr/>
        </p:nvSpPr>
        <p:spPr>
          <a:xfrm>
            <a:off x="11518659" y="584222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7" name="流程圖: 接點 56"/>
          <p:cNvSpPr/>
          <p:nvPr/>
        </p:nvSpPr>
        <p:spPr>
          <a:xfrm>
            <a:off x="11294217" y="584222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8" name="流程圖: 接點 57"/>
          <p:cNvSpPr/>
          <p:nvPr/>
        </p:nvSpPr>
        <p:spPr>
          <a:xfrm>
            <a:off x="11377345" y="580897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9" name="流程圖: 接點 58"/>
          <p:cNvSpPr/>
          <p:nvPr/>
        </p:nvSpPr>
        <p:spPr>
          <a:xfrm>
            <a:off x="11435533" y="58339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0" name="流程圖: 接點 59"/>
          <p:cNvSpPr/>
          <p:nvPr/>
        </p:nvSpPr>
        <p:spPr>
          <a:xfrm>
            <a:off x="11518658" y="576741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1" name="流程圖: 接點 60"/>
          <p:cNvSpPr/>
          <p:nvPr/>
        </p:nvSpPr>
        <p:spPr>
          <a:xfrm>
            <a:off x="11460472" y="57840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2" name="流程圖: 接點 61"/>
          <p:cNvSpPr/>
          <p:nvPr/>
        </p:nvSpPr>
        <p:spPr>
          <a:xfrm>
            <a:off x="10853643" y="5817289"/>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3" name="流程圖: 接點 62"/>
          <p:cNvSpPr/>
          <p:nvPr/>
        </p:nvSpPr>
        <p:spPr>
          <a:xfrm>
            <a:off x="9166162" y="6232926"/>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9" name="文字方塊 128"/>
          <p:cNvSpPr txBox="1"/>
          <p:nvPr/>
        </p:nvSpPr>
        <p:spPr>
          <a:xfrm>
            <a:off x="11356895" y="5311345"/>
            <a:ext cx="595035" cy="338554"/>
          </a:xfrm>
          <a:prstGeom prst="rect">
            <a:avLst/>
          </a:prstGeom>
          <a:noFill/>
        </p:spPr>
        <p:txBody>
          <a:bodyPr wrap="none" rtlCol="0">
            <a:spAutoFit/>
          </a:bodyPr>
          <a:lstStyle/>
          <a:p>
            <a:r>
              <a:rPr lang="zh-TW" altLang="en-US" sz="1600" dirty="0" smtClean="0">
                <a:solidFill>
                  <a:srgbClr val="0070C0"/>
                </a:solidFill>
                <a:latin typeface="標楷體" panose="03000509000000000000" pitchFamily="65" charset="-120"/>
                <a:ea typeface="標楷體" panose="03000509000000000000" pitchFamily="65" charset="-120"/>
              </a:rPr>
              <a:t>正常</a:t>
            </a:r>
            <a:endParaRPr lang="zh-TW" altLang="en-US" sz="1600" dirty="0">
              <a:solidFill>
                <a:srgbClr val="0070C0"/>
              </a:solidFill>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1163723540"/>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分群</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分群演算法能自動判斷資料的分布狀態</a:t>
            </a:r>
            <a:endParaRPr lang="en-US" altLang="zh-TW" dirty="0" smtClean="0">
              <a:latin typeface="標楷體" panose="03000509000000000000" pitchFamily="65" charset="-120"/>
              <a:ea typeface="標楷體" panose="03000509000000000000" pitchFamily="65" charset="-120"/>
            </a:endParaRPr>
          </a:p>
          <a:p>
            <a:pPr lvl="1"/>
            <a:r>
              <a:rPr lang="en-US" altLang="zh-TW" dirty="0" smtClean="0">
                <a:ea typeface="標楷體" panose="03000509000000000000" pitchFamily="65" charset="-120"/>
                <a:cs typeface="Times New Roman" panose="02020603050405020304" pitchFamily="18" charset="0"/>
              </a:rPr>
              <a:t>K-means</a:t>
            </a:r>
          </a:p>
          <a:p>
            <a:pPr lvl="1"/>
            <a:r>
              <a:rPr lang="en-US" altLang="zh-TW" dirty="0" smtClean="0">
                <a:ea typeface="標楷體" panose="03000509000000000000" pitchFamily="65" charset="-120"/>
                <a:cs typeface="Times New Roman" panose="02020603050405020304" pitchFamily="18" charset="0"/>
              </a:rPr>
              <a:t>GMM (Gaussian mixture model)</a:t>
            </a:r>
          </a:p>
        </p:txBody>
      </p:sp>
      <p:sp>
        <p:nvSpPr>
          <p:cNvPr id="6" name="矩形 5"/>
          <p:cNvSpPr/>
          <p:nvPr/>
        </p:nvSpPr>
        <p:spPr>
          <a:xfrm>
            <a:off x="8071149" y="2827482"/>
            <a:ext cx="3600000" cy="3600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zh-TW" altLang="en-US" dirty="0"/>
          </a:p>
        </p:txBody>
      </p:sp>
      <p:sp>
        <p:nvSpPr>
          <p:cNvPr id="7" name="流程圖: 接點 6"/>
          <p:cNvSpPr/>
          <p:nvPr/>
        </p:nvSpPr>
        <p:spPr>
          <a:xfrm>
            <a:off x="9514738" y="40462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 name="流程圖: 接點 7"/>
          <p:cNvSpPr/>
          <p:nvPr/>
        </p:nvSpPr>
        <p:spPr>
          <a:xfrm>
            <a:off x="11249374" y="58893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 name="流程圖: 接點 8"/>
          <p:cNvSpPr/>
          <p:nvPr/>
        </p:nvSpPr>
        <p:spPr>
          <a:xfrm>
            <a:off x="11243833" y="597523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 name="流程圖: 接點 9"/>
          <p:cNvSpPr/>
          <p:nvPr/>
        </p:nvSpPr>
        <p:spPr>
          <a:xfrm>
            <a:off x="11185644" y="59419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 name="流程圖: 接點 10"/>
          <p:cNvSpPr/>
          <p:nvPr/>
        </p:nvSpPr>
        <p:spPr>
          <a:xfrm>
            <a:off x="11293709" y="596691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 name="流程圖: 接點 11"/>
          <p:cNvSpPr/>
          <p:nvPr/>
        </p:nvSpPr>
        <p:spPr>
          <a:xfrm>
            <a:off x="11210582"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3" name="流程圖: 接點 12"/>
          <p:cNvSpPr/>
          <p:nvPr/>
        </p:nvSpPr>
        <p:spPr>
          <a:xfrm>
            <a:off x="11252147" y="602510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4" name="流程圖: 接點 13"/>
          <p:cNvSpPr/>
          <p:nvPr/>
        </p:nvSpPr>
        <p:spPr>
          <a:xfrm>
            <a:off x="11193957" y="581729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5" name="流程圖: 接點 14"/>
          <p:cNvSpPr/>
          <p:nvPr/>
        </p:nvSpPr>
        <p:spPr>
          <a:xfrm>
            <a:off x="11060952" y="59004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6" name="流程圖: 接點 15"/>
          <p:cNvSpPr/>
          <p:nvPr/>
        </p:nvSpPr>
        <p:spPr>
          <a:xfrm>
            <a:off x="11102516" y="60084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7" name="流程圖: 接點 16"/>
          <p:cNvSpPr/>
          <p:nvPr/>
        </p:nvSpPr>
        <p:spPr>
          <a:xfrm>
            <a:off x="11102516" y="58754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8" name="流程圖: 接點 17"/>
          <p:cNvSpPr/>
          <p:nvPr/>
        </p:nvSpPr>
        <p:spPr>
          <a:xfrm>
            <a:off x="11152393" y="59586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9" name="流程圖: 接點 18"/>
          <p:cNvSpPr/>
          <p:nvPr/>
        </p:nvSpPr>
        <p:spPr>
          <a:xfrm>
            <a:off x="11351897" y="587547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0" name="流程圖: 接點 19"/>
          <p:cNvSpPr/>
          <p:nvPr/>
        </p:nvSpPr>
        <p:spPr>
          <a:xfrm>
            <a:off x="11385148" y="59336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1" name="流程圖: 接點 20"/>
          <p:cNvSpPr/>
          <p:nvPr/>
        </p:nvSpPr>
        <p:spPr>
          <a:xfrm>
            <a:off x="11310334" y="580897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2" name="流程圖: 接點 21"/>
          <p:cNvSpPr/>
          <p:nvPr/>
        </p:nvSpPr>
        <p:spPr>
          <a:xfrm>
            <a:off x="11368522"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3" name="流程圖: 接點 22"/>
          <p:cNvSpPr/>
          <p:nvPr/>
        </p:nvSpPr>
        <p:spPr>
          <a:xfrm>
            <a:off x="11351897" y="5925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4" name="流程圖: 接點 23"/>
          <p:cNvSpPr/>
          <p:nvPr/>
        </p:nvSpPr>
        <p:spPr>
          <a:xfrm>
            <a:off x="11110829" y="574247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5" name="流程圖: 接點 24"/>
          <p:cNvSpPr/>
          <p:nvPr/>
        </p:nvSpPr>
        <p:spPr>
          <a:xfrm>
            <a:off x="11210582" y="609161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6" name="流程圖: 接點 25"/>
          <p:cNvSpPr/>
          <p:nvPr/>
        </p:nvSpPr>
        <p:spPr>
          <a:xfrm>
            <a:off x="11260458" y="574247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7" name="流程圖: 接點 26"/>
          <p:cNvSpPr/>
          <p:nvPr/>
        </p:nvSpPr>
        <p:spPr>
          <a:xfrm>
            <a:off x="11019389" y="599185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8" name="流程圖: 接點 27"/>
          <p:cNvSpPr/>
          <p:nvPr/>
        </p:nvSpPr>
        <p:spPr>
          <a:xfrm>
            <a:off x="11435026" y="580066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9" name="流程圖: 接點 28"/>
          <p:cNvSpPr/>
          <p:nvPr/>
        </p:nvSpPr>
        <p:spPr>
          <a:xfrm>
            <a:off x="11451651" y="592535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0" name="流程圖: 接點 29"/>
          <p:cNvSpPr/>
          <p:nvPr/>
        </p:nvSpPr>
        <p:spPr>
          <a:xfrm>
            <a:off x="11268771" y="591704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1" name="流程圖: 接點 30"/>
          <p:cNvSpPr/>
          <p:nvPr/>
        </p:nvSpPr>
        <p:spPr>
          <a:xfrm>
            <a:off x="11144080" y="587547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2" name="流程圖: 接點 31"/>
          <p:cNvSpPr/>
          <p:nvPr/>
        </p:nvSpPr>
        <p:spPr>
          <a:xfrm>
            <a:off x="11326959" y="581729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3" name="流程圖: 接點 32"/>
          <p:cNvSpPr/>
          <p:nvPr/>
        </p:nvSpPr>
        <p:spPr>
          <a:xfrm>
            <a:off x="11335271" y="585054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4" name="流程圖: 接點 33"/>
          <p:cNvSpPr/>
          <p:nvPr/>
        </p:nvSpPr>
        <p:spPr>
          <a:xfrm>
            <a:off x="11293708" y="588379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5" name="流程圖: 接點 34"/>
          <p:cNvSpPr/>
          <p:nvPr/>
        </p:nvSpPr>
        <p:spPr>
          <a:xfrm>
            <a:off x="11185643" y="59586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6" name="流程圖: 接點 35"/>
          <p:cNvSpPr/>
          <p:nvPr/>
        </p:nvSpPr>
        <p:spPr>
          <a:xfrm>
            <a:off x="11193956" y="601679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7" name="流程圖: 接點 36"/>
          <p:cNvSpPr/>
          <p:nvPr/>
        </p:nvSpPr>
        <p:spPr>
          <a:xfrm>
            <a:off x="11202270" y="588379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8" name="流程圖: 接點 37"/>
          <p:cNvSpPr/>
          <p:nvPr/>
        </p:nvSpPr>
        <p:spPr>
          <a:xfrm>
            <a:off x="11252144" y="593366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9" name="流程圖: 接點 38"/>
          <p:cNvSpPr/>
          <p:nvPr/>
        </p:nvSpPr>
        <p:spPr>
          <a:xfrm>
            <a:off x="11210583" y="593366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0" name="流程圖: 接點 39"/>
          <p:cNvSpPr/>
          <p:nvPr/>
        </p:nvSpPr>
        <p:spPr>
          <a:xfrm>
            <a:off x="11343584" y="595860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1" name="流程圖: 接點 40"/>
          <p:cNvSpPr/>
          <p:nvPr/>
        </p:nvSpPr>
        <p:spPr>
          <a:xfrm>
            <a:off x="11318645" y="59336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2" name="流程圖: 接點 41"/>
          <p:cNvSpPr/>
          <p:nvPr/>
        </p:nvSpPr>
        <p:spPr>
          <a:xfrm>
            <a:off x="11293709"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3" name="流程圖: 接點 42"/>
          <p:cNvSpPr/>
          <p:nvPr/>
        </p:nvSpPr>
        <p:spPr>
          <a:xfrm>
            <a:off x="11285397" y="600848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4" name="流程圖: 接點 43"/>
          <p:cNvSpPr/>
          <p:nvPr/>
        </p:nvSpPr>
        <p:spPr>
          <a:xfrm>
            <a:off x="11360210" y="579235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5" name="流程圖: 接點 44"/>
          <p:cNvSpPr/>
          <p:nvPr/>
        </p:nvSpPr>
        <p:spPr>
          <a:xfrm>
            <a:off x="11144077" y="591704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6" name="流程圖: 接點 45"/>
          <p:cNvSpPr/>
          <p:nvPr/>
        </p:nvSpPr>
        <p:spPr>
          <a:xfrm>
            <a:off x="11060952" y="610823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7" name="流程圖: 接點 46"/>
          <p:cNvSpPr/>
          <p:nvPr/>
        </p:nvSpPr>
        <p:spPr>
          <a:xfrm>
            <a:off x="11318647" y="610823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8" name="流程圖: 接點 47"/>
          <p:cNvSpPr/>
          <p:nvPr/>
        </p:nvSpPr>
        <p:spPr>
          <a:xfrm>
            <a:off x="11177331"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9" name="流程圖: 接點 48"/>
          <p:cNvSpPr/>
          <p:nvPr/>
        </p:nvSpPr>
        <p:spPr>
          <a:xfrm>
            <a:off x="11052641" y="597523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0" name="流程圖: 接點 49"/>
          <p:cNvSpPr/>
          <p:nvPr/>
        </p:nvSpPr>
        <p:spPr>
          <a:xfrm>
            <a:off x="11102516" y="595029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1" name="流程圖: 接點 50"/>
          <p:cNvSpPr/>
          <p:nvPr/>
        </p:nvSpPr>
        <p:spPr>
          <a:xfrm>
            <a:off x="11227206" y="62079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2" name="流程圖: 接點 51"/>
          <p:cNvSpPr/>
          <p:nvPr/>
        </p:nvSpPr>
        <p:spPr>
          <a:xfrm>
            <a:off x="11152391" y="610823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3" name="流程圖: 接點 52"/>
          <p:cNvSpPr/>
          <p:nvPr/>
        </p:nvSpPr>
        <p:spPr>
          <a:xfrm>
            <a:off x="11252140" y="580897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4" name="流程圖: 接點 53"/>
          <p:cNvSpPr/>
          <p:nvPr/>
        </p:nvSpPr>
        <p:spPr>
          <a:xfrm>
            <a:off x="11285394" y="584222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5" name="流程圖: 接點 54"/>
          <p:cNvSpPr/>
          <p:nvPr/>
        </p:nvSpPr>
        <p:spPr>
          <a:xfrm>
            <a:off x="11060952" y="584222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6" name="流程圖: 接點 55"/>
          <p:cNvSpPr/>
          <p:nvPr/>
        </p:nvSpPr>
        <p:spPr>
          <a:xfrm>
            <a:off x="11144080" y="580897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7" name="流程圖: 接點 56"/>
          <p:cNvSpPr/>
          <p:nvPr/>
        </p:nvSpPr>
        <p:spPr>
          <a:xfrm>
            <a:off x="11202268" y="58339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8" name="流程圖: 接點 57"/>
          <p:cNvSpPr/>
          <p:nvPr/>
        </p:nvSpPr>
        <p:spPr>
          <a:xfrm>
            <a:off x="11285393" y="576741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9" name="流程圖: 接點 58"/>
          <p:cNvSpPr/>
          <p:nvPr/>
        </p:nvSpPr>
        <p:spPr>
          <a:xfrm>
            <a:off x="11227207" y="57840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0" name="流程圖: 接點 59"/>
          <p:cNvSpPr/>
          <p:nvPr/>
        </p:nvSpPr>
        <p:spPr>
          <a:xfrm>
            <a:off x="10620378" y="58172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1" name="流程圖: 接點 60"/>
          <p:cNvSpPr/>
          <p:nvPr/>
        </p:nvSpPr>
        <p:spPr>
          <a:xfrm>
            <a:off x="8932897" y="623292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2" name="流程圖: 接點 61"/>
          <p:cNvSpPr/>
          <p:nvPr/>
        </p:nvSpPr>
        <p:spPr>
          <a:xfrm>
            <a:off x="9812033" y="412706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3" name="流程圖: 接點 62"/>
          <p:cNvSpPr/>
          <p:nvPr/>
        </p:nvSpPr>
        <p:spPr>
          <a:xfrm>
            <a:off x="9810774" y="41610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4" name="流程圖: 接點 63"/>
          <p:cNvSpPr/>
          <p:nvPr/>
        </p:nvSpPr>
        <p:spPr>
          <a:xfrm>
            <a:off x="9911653" y="424891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5" name="流程圖: 接點 64"/>
          <p:cNvSpPr/>
          <p:nvPr/>
        </p:nvSpPr>
        <p:spPr>
          <a:xfrm>
            <a:off x="9486938" y="428491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6" name="流程圖: 接點 65"/>
          <p:cNvSpPr/>
          <p:nvPr/>
        </p:nvSpPr>
        <p:spPr>
          <a:xfrm>
            <a:off x="10054025" y="402842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7" name="流程圖: 接點 66"/>
          <p:cNvSpPr/>
          <p:nvPr/>
        </p:nvSpPr>
        <p:spPr>
          <a:xfrm>
            <a:off x="9447151" y="434754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8" name="流程圖: 接點 67"/>
          <p:cNvSpPr/>
          <p:nvPr/>
        </p:nvSpPr>
        <p:spPr>
          <a:xfrm>
            <a:off x="9894402" y="38111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9" name="流程圖: 接點 68"/>
          <p:cNvSpPr/>
          <p:nvPr/>
        </p:nvSpPr>
        <p:spPr>
          <a:xfrm>
            <a:off x="9329137" y="432091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0" name="流程圖: 接點 69"/>
          <p:cNvSpPr/>
          <p:nvPr/>
        </p:nvSpPr>
        <p:spPr>
          <a:xfrm>
            <a:off x="9467705" y="467795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1" name="流程圖: 接點 70"/>
          <p:cNvSpPr/>
          <p:nvPr/>
        </p:nvSpPr>
        <p:spPr>
          <a:xfrm>
            <a:off x="9372611" y="444617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2" name="流程圖: 接點 71"/>
          <p:cNvSpPr/>
          <p:nvPr/>
        </p:nvSpPr>
        <p:spPr>
          <a:xfrm>
            <a:off x="10041151" y="432788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3" name="流程圖: 接點 72"/>
          <p:cNvSpPr/>
          <p:nvPr/>
        </p:nvSpPr>
        <p:spPr>
          <a:xfrm>
            <a:off x="9698476" y="421458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4" name="流程圖: 接點 73"/>
          <p:cNvSpPr/>
          <p:nvPr/>
        </p:nvSpPr>
        <p:spPr>
          <a:xfrm>
            <a:off x="9835149" y="44135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dirty="0"/>
          </a:p>
        </p:txBody>
      </p:sp>
      <p:sp>
        <p:nvSpPr>
          <p:cNvPr id="75" name="流程圖: 接點 74"/>
          <p:cNvSpPr/>
          <p:nvPr/>
        </p:nvSpPr>
        <p:spPr>
          <a:xfrm>
            <a:off x="9422230" y="423932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6" name="流程圖: 接點 75"/>
          <p:cNvSpPr/>
          <p:nvPr/>
        </p:nvSpPr>
        <p:spPr>
          <a:xfrm>
            <a:off x="9438439" y="416259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7" name="流程圖: 接點 76"/>
          <p:cNvSpPr/>
          <p:nvPr/>
        </p:nvSpPr>
        <p:spPr>
          <a:xfrm>
            <a:off x="10084361" y="426557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8" name="流程圖: 接點 77"/>
          <p:cNvSpPr/>
          <p:nvPr/>
        </p:nvSpPr>
        <p:spPr>
          <a:xfrm>
            <a:off x="9906991" y="402745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9" name="流程圖: 接點 78"/>
          <p:cNvSpPr/>
          <p:nvPr/>
        </p:nvSpPr>
        <p:spPr>
          <a:xfrm>
            <a:off x="9971949" y="417072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0" name="流程圖: 接點 79"/>
          <p:cNvSpPr/>
          <p:nvPr/>
        </p:nvSpPr>
        <p:spPr>
          <a:xfrm>
            <a:off x="9719835" y="42184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1" name="流程圖: 接點 80"/>
          <p:cNvSpPr/>
          <p:nvPr/>
        </p:nvSpPr>
        <p:spPr>
          <a:xfrm>
            <a:off x="9256141" y="454517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2" name="流程圖: 接點 81"/>
          <p:cNvSpPr/>
          <p:nvPr/>
        </p:nvSpPr>
        <p:spPr>
          <a:xfrm>
            <a:off x="9568280" y="402842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3" name="流程圖: 接點 82"/>
          <p:cNvSpPr/>
          <p:nvPr/>
        </p:nvSpPr>
        <p:spPr>
          <a:xfrm>
            <a:off x="9681865" y="409684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4" name="流程圖: 接點 83"/>
          <p:cNvSpPr/>
          <p:nvPr/>
        </p:nvSpPr>
        <p:spPr>
          <a:xfrm>
            <a:off x="9656113" y="44240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5" name="流程圖: 接點 84"/>
          <p:cNvSpPr/>
          <p:nvPr/>
        </p:nvSpPr>
        <p:spPr>
          <a:xfrm>
            <a:off x="9478738" y="44274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6" name="流程圖: 接點 85"/>
          <p:cNvSpPr/>
          <p:nvPr/>
        </p:nvSpPr>
        <p:spPr>
          <a:xfrm>
            <a:off x="9750478" y="42850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7" name="流程圖: 接點 86"/>
          <p:cNvSpPr/>
          <p:nvPr/>
        </p:nvSpPr>
        <p:spPr>
          <a:xfrm>
            <a:off x="9589581" y="43039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8" name="流程圖: 接點 87"/>
          <p:cNvSpPr/>
          <p:nvPr/>
        </p:nvSpPr>
        <p:spPr>
          <a:xfrm>
            <a:off x="9589581" y="456545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9" name="流程圖: 接點 88"/>
          <p:cNvSpPr/>
          <p:nvPr/>
        </p:nvSpPr>
        <p:spPr>
          <a:xfrm>
            <a:off x="9859709" y="455402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0" name="流程圖: 接點 89"/>
          <p:cNvSpPr/>
          <p:nvPr/>
        </p:nvSpPr>
        <p:spPr>
          <a:xfrm>
            <a:off x="9822402" y="405500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1" name="流程圖: 接點 90"/>
          <p:cNvSpPr/>
          <p:nvPr/>
        </p:nvSpPr>
        <p:spPr>
          <a:xfrm>
            <a:off x="9402439" y="407248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2" name="流程圖: 接點 91"/>
          <p:cNvSpPr/>
          <p:nvPr/>
        </p:nvSpPr>
        <p:spPr>
          <a:xfrm>
            <a:off x="9670969" y="434147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3" name="流程圖: 接點 92"/>
          <p:cNvSpPr/>
          <p:nvPr/>
        </p:nvSpPr>
        <p:spPr>
          <a:xfrm>
            <a:off x="9748539" y="406052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4" name="流程圖: 接點 93"/>
          <p:cNvSpPr/>
          <p:nvPr/>
        </p:nvSpPr>
        <p:spPr>
          <a:xfrm>
            <a:off x="9382463" y="417072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5" name="流程圖: 接點 94"/>
          <p:cNvSpPr/>
          <p:nvPr/>
        </p:nvSpPr>
        <p:spPr>
          <a:xfrm>
            <a:off x="9861743" y="416485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6" name="流程圖: 接點 95"/>
          <p:cNvSpPr/>
          <p:nvPr/>
        </p:nvSpPr>
        <p:spPr>
          <a:xfrm>
            <a:off x="9856601" y="392180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7" name="流程圖: 接點 96"/>
          <p:cNvSpPr/>
          <p:nvPr/>
        </p:nvSpPr>
        <p:spPr>
          <a:xfrm>
            <a:off x="9935949" y="44940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8" name="流程圖: 接點 97"/>
          <p:cNvSpPr/>
          <p:nvPr/>
        </p:nvSpPr>
        <p:spPr>
          <a:xfrm>
            <a:off x="9304438" y="424994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9" name="流程圖: 接點 98"/>
          <p:cNvSpPr/>
          <p:nvPr/>
        </p:nvSpPr>
        <p:spPr>
          <a:xfrm>
            <a:off x="9221073" y="436811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0" name="流程圖: 接點 99"/>
          <p:cNvSpPr/>
          <p:nvPr/>
        </p:nvSpPr>
        <p:spPr>
          <a:xfrm>
            <a:off x="9595833" y="413514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1" name="流程圖: 接點 100"/>
          <p:cNvSpPr/>
          <p:nvPr/>
        </p:nvSpPr>
        <p:spPr>
          <a:xfrm>
            <a:off x="9503705" y="417691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2" name="流程圖: 接點 101"/>
          <p:cNvSpPr/>
          <p:nvPr/>
        </p:nvSpPr>
        <p:spPr>
          <a:xfrm>
            <a:off x="9855401" y="431011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3" name="流程圖: 接點 102"/>
          <p:cNvSpPr/>
          <p:nvPr/>
        </p:nvSpPr>
        <p:spPr>
          <a:xfrm>
            <a:off x="9503705" y="389984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4" name="流程圖: 接點 103"/>
          <p:cNvSpPr/>
          <p:nvPr/>
        </p:nvSpPr>
        <p:spPr>
          <a:xfrm>
            <a:off x="9719640" y="43759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5" name="流程圖: 接點 104"/>
          <p:cNvSpPr/>
          <p:nvPr/>
        </p:nvSpPr>
        <p:spPr>
          <a:xfrm>
            <a:off x="9829129" y="471597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6" name="流程圖: 接點 105"/>
          <p:cNvSpPr/>
          <p:nvPr/>
        </p:nvSpPr>
        <p:spPr>
          <a:xfrm>
            <a:off x="9949663" y="409767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7" name="流程圖: 接點 106"/>
          <p:cNvSpPr/>
          <p:nvPr/>
        </p:nvSpPr>
        <p:spPr>
          <a:xfrm>
            <a:off x="9788661" y="45215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8" name="流程圖: 接點 107"/>
          <p:cNvSpPr/>
          <p:nvPr/>
        </p:nvSpPr>
        <p:spPr>
          <a:xfrm>
            <a:off x="9962939" y="396900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9" name="流程圖: 接點 108"/>
          <p:cNvSpPr/>
          <p:nvPr/>
        </p:nvSpPr>
        <p:spPr>
          <a:xfrm>
            <a:off x="10048361" y="417631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0" name="流程圖: 接點 109"/>
          <p:cNvSpPr/>
          <p:nvPr/>
        </p:nvSpPr>
        <p:spPr>
          <a:xfrm>
            <a:off x="9576789" y="384278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1" name="流程圖: 接點 110"/>
          <p:cNvSpPr/>
          <p:nvPr/>
        </p:nvSpPr>
        <p:spPr>
          <a:xfrm>
            <a:off x="9165652" y="405500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2" name="流程圖: 接點 111"/>
          <p:cNvSpPr/>
          <p:nvPr/>
        </p:nvSpPr>
        <p:spPr>
          <a:xfrm>
            <a:off x="9694894" y="44855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3" name="流程圖: 接點 112"/>
          <p:cNvSpPr/>
          <p:nvPr/>
        </p:nvSpPr>
        <p:spPr>
          <a:xfrm>
            <a:off x="9973137" y="468091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4" name="流程圖: 接點 113"/>
          <p:cNvSpPr/>
          <p:nvPr/>
        </p:nvSpPr>
        <p:spPr>
          <a:xfrm>
            <a:off x="9666417" y="467384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5" name="流程圖: 接點 114"/>
          <p:cNvSpPr/>
          <p:nvPr/>
        </p:nvSpPr>
        <p:spPr>
          <a:xfrm>
            <a:off x="9947653" y="437747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6" name="流程圖: 接點 115"/>
          <p:cNvSpPr/>
          <p:nvPr/>
        </p:nvSpPr>
        <p:spPr>
          <a:xfrm>
            <a:off x="9714293" y="39386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7" name="流程圖: 接點 116"/>
          <p:cNvSpPr/>
          <p:nvPr/>
        </p:nvSpPr>
        <p:spPr>
          <a:xfrm>
            <a:off x="9529901" y="452554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8" name="流程圖: 接點 117"/>
          <p:cNvSpPr/>
          <p:nvPr/>
        </p:nvSpPr>
        <p:spPr>
          <a:xfrm>
            <a:off x="10070298" y="448954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9" name="流程圖: 接點 118"/>
          <p:cNvSpPr/>
          <p:nvPr/>
        </p:nvSpPr>
        <p:spPr>
          <a:xfrm>
            <a:off x="9707989" y="459369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0" name="流程圖: 接點 119"/>
          <p:cNvSpPr/>
          <p:nvPr/>
        </p:nvSpPr>
        <p:spPr>
          <a:xfrm>
            <a:off x="9606348" y="420087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1" name="文字方塊 120"/>
          <p:cNvSpPr txBox="1"/>
          <p:nvPr/>
        </p:nvSpPr>
        <p:spPr>
          <a:xfrm>
            <a:off x="9779989" y="3460373"/>
            <a:ext cx="397866" cy="338554"/>
          </a:xfrm>
          <a:prstGeom prst="rect">
            <a:avLst/>
          </a:prstGeom>
          <a:noFill/>
        </p:spPr>
        <p:txBody>
          <a:bodyPr wrap="none" rtlCol="0">
            <a:spAutoFit/>
          </a:bodyPr>
          <a:lstStyle/>
          <a:p>
            <a:r>
              <a:rPr lang="en-US" altLang="zh-TW" sz="1600" dirty="0" smtClean="0"/>
              <a:t>C1</a:t>
            </a:r>
            <a:endParaRPr lang="zh-TW" altLang="en-US" sz="1600" dirty="0"/>
          </a:p>
        </p:txBody>
      </p:sp>
      <p:sp>
        <p:nvSpPr>
          <p:cNvPr id="122" name="文字方塊 121"/>
          <p:cNvSpPr txBox="1"/>
          <p:nvPr/>
        </p:nvSpPr>
        <p:spPr>
          <a:xfrm>
            <a:off x="11233198" y="5407802"/>
            <a:ext cx="397866" cy="338554"/>
          </a:xfrm>
          <a:prstGeom prst="rect">
            <a:avLst/>
          </a:prstGeom>
          <a:noFill/>
        </p:spPr>
        <p:txBody>
          <a:bodyPr wrap="none" rtlCol="0">
            <a:spAutoFit/>
          </a:bodyPr>
          <a:lstStyle/>
          <a:p>
            <a:r>
              <a:rPr lang="en-US" altLang="zh-TW" sz="1600" dirty="0" smtClean="0"/>
              <a:t>C2</a:t>
            </a:r>
            <a:endParaRPr lang="zh-TW" altLang="en-US" sz="1600" dirty="0"/>
          </a:p>
        </p:txBody>
      </p:sp>
      <p:sp>
        <p:nvSpPr>
          <p:cNvPr id="123" name="文字方塊 122"/>
          <p:cNvSpPr txBox="1"/>
          <p:nvPr/>
        </p:nvSpPr>
        <p:spPr>
          <a:xfrm>
            <a:off x="10459659" y="5473194"/>
            <a:ext cx="397866" cy="338554"/>
          </a:xfrm>
          <a:prstGeom prst="rect">
            <a:avLst/>
          </a:prstGeom>
          <a:noFill/>
        </p:spPr>
        <p:txBody>
          <a:bodyPr wrap="none" rtlCol="0">
            <a:spAutoFit/>
          </a:bodyPr>
          <a:lstStyle/>
          <a:p>
            <a:r>
              <a:rPr lang="en-US" altLang="zh-TW" sz="1600" dirty="0" smtClean="0"/>
              <a:t>o1</a:t>
            </a:r>
            <a:endParaRPr lang="zh-TW" altLang="en-US" sz="1600" dirty="0"/>
          </a:p>
        </p:txBody>
      </p:sp>
      <p:sp>
        <p:nvSpPr>
          <p:cNvPr id="124" name="文字方塊 123"/>
          <p:cNvSpPr txBox="1"/>
          <p:nvPr/>
        </p:nvSpPr>
        <p:spPr>
          <a:xfrm>
            <a:off x="8789923" y="5889289"/>
            <a:ext cx="397866" cy="338554"/>
          </a:xfrm>
          <a:prstGeom prst="rect">
            <a:avLst/>
          </a:prstGeom>
          <a:noFill/>
        </p:spPr>
        <p:txBody>
          <a:bodyPr wrap="none" rtlCol="0">
            <a:spAutoFit/>
          </a:bodyPr>
          <a:lstStyle/>
          <a:p>
            <a:r>
              <a:rPr lang="en-US" altLang="zh-TW" sz="1600" dirty="0"/>
              <a:t>o</a:t>
            </a:r>
            <a:r>
              <a:rPr lang="en-US" altLang="zh-TW" sz="1600" dirty="0" smtClean="0"/>
              <a:t>1</a:t>
            </a:r>
            <a:endParaRPr lang="zh-TW" altLang="en-US" sz="1600" dirty="0"/>
          </a:p>
        </p:txBody>
      </p:sp>
    </p:spTree>
    <p:extLst>
      <p:ext uri="{BB962C8B-B14F-4D97-AF65-F5344CB8AC3E}">
        <p14:creationId xmlns:p14="http://schemas.microsoft.com/office/powerpoint/2010/main" val="1525711567"/>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鄰近點</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觀察資料與鄰近資料之間的距離</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常搭配其他方法</a:t>
            </a:r>
            <a:endParaRPr lang="en-US" altLang="zh-TW" dirty="0" smtClean="0">
              <a:latin typeface="標楷體" panose="03000509000000000000" pitchFamily="65" charset="-120"/>
              <a:ea typeface="標楷體" panose="03000509000000000000" pitchFamily="65" charset="-120"/>
            </a:endParaRPr>
          </a:p>
          <a:p>
            <a:pPr lvl="1"/>
            <a:r>
              <a:rPr lang="zh-TW" altLang="en-US" dirty="0" smtClean="0">
                <a:latin typeface="標楷體" panose="03000509000000000000" pitchFamily="65" charset="-120"/>
                <a:ea typeface="標楷體" panose="03000509000000000000" pitchFamily="65" charset="-120"/>
              </a:rPr>
              <a:t>如：</a:t>
            </a:r>
            <a:r>
              <a:rPr lang="en-US" altLang="zh-TW" dirty="0" smtClean="0">
                <a:ea typeface="標楷體" panose="03000509000000000000" pitchFamily="65" charset="-120"/>
                <a:cs typeface="Times New Roman" panose="02020603050405020304" pitchFamily="18" charset="0"/>
              </a:rPr>
              <a:t>LOF(Local Outlier Factor)</a:t>
            </a:r>
            <a:r>
              <a:rPr lang="zh-TW" altLang="en-US" dirty="0" smtClean="0">
                <a:latin typeface="標楷體" panose="03000509000000000000" pitchFamily="65" charset="-120"/>
                <a:ea typeface="標楷體" panose="03000509000000000000" pitchFamily="65" charset="-120"/>
              </a:rPr>
              <a:t>中使用</a:t>
            </a:r>
            <a:r>
              <a:rPr lang="en-US" altLang="zh-TW" dirty="0" smtClean="0">
                <a:ea typeface="標楷體" panose="03000509000000000000" pitchFamily="65" charset="-120"/>
                <a:cs typeface="Times New Roman" panose="02020603050405020304" pitchFamily="18" charset="0"/>
              </a:rPr>
              <a:t>K Nearest Neighbor</a:t>
            </a:r>
            <a:r>
              <a:rPr lang="zh-TW" altLang="en-US" dirty="0" smtClean="0">
                <a:latin typeface="標楷體" panose="03000509000000000000" pitchFamily="65" charset="-120"/>
                <a:ea typeface="標楷體" panose="03000509000000000000" pitchFamily="65" charset="-120"/>
              </a:rPr>
              <a:t>決定計算密度的區域範圍。</a:t>
            </a:r>
            <a:endParaRPr lang="en-US" altLang="zh-TW" dirty="0" smtClean="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2465680144"/>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統計為基礎的判斷方法</a:t>
            </a: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預想一般情況下，正常狀態資料發生的機率會高於異常的機率。</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取得區段資料的統計狀態</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預測可能的變動</a:t>
            </a:r>
            <a:r>
              <a:rPr lang="zh-TW" altLang="en-US" dirty="0">
                <a:latin typeface="標楷體" panose="03000509000000000000" pitchFamily="65" charset="-120"/>
                <a:ea typeface="標楷體" panose="03000509000000000000" pitchFamily="65" charset="-120"/>
              </a:rPr>
              <a:t>趨勢</a:t>
            </a:r>
          </a:p>
        </p:txBody>
      </p:sp>
    </p:spTree>
    <p:extLst>
      <p:ext uri="{BB962C8B-B14F-4D97-AF65-F5344CB8AC3E}">
        <p14:creationId xmlns:p14="http://schemas.microsoft.com/office/powerpoint/2010/main" val="1116527360"/>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研究方</a:t>
            </a:r>
            <a:r>
              <a:rPr lang="zh-TW" altLang="en-US" sz="3200" dirty="0">
                <a:latin typeface="標楷體" panose="03000509000000000000" pitchFamily="65" charset="-120"/>
                <a:ea typeface="標楷體" panose="03000509000000000000" pitchFamily="65" charset="-120"/>
              </a:rPr>
              <a:t>法</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660156671"/>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ea typeface="標楷體" panose="03000509000000000000" pitchFamily="65" charset="-120"/>
                <a:cs typeface="Times New Roman" panose="02020603050405020304" pitchFamily="18" charset="0"/>
              </a:rPr>
              <a:t>一般常態分佈</a:t>
            </a:r>
            <a:endParaRPr lang="en-US" altLang="zh-TW" sz="3200" dirty="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a:latin typeface="標楷體" panose="03000509000000000000" pitchFamily="65" charset="-120"/>
                <a:ea typeface="標楷體" panose="03000509000000000000" pitchFamily="65" charset="-120"/>
              </a:rPr>
              <a:t>常態分佈的自然特性也是機率統計學被廣泛使用的一種分佈</a:t>
            </a:r>
            <a:r>
              <a:rPr lang="zh-TW" altLang="en-US" dirty="0" smtClean="0">
                <a:latin typeface="標楷體" panose="03000509000000000000" pitchFamily="65" charset="-120"/>
                <a:ea typeface="標楷體" panose="03000509000000000000" pitchFamily="65" charset="-120"/>
              </a:rPr>
              <a:t>類型</a:t>
            </a:r>
            <a:endParaRPr lang="en-US" altLang="zh-TW" dirty="0" smtClean="0">
              <a:latin typeface="標楷體" panose="03000509000000000000" pitchFamily="65" charset="-120"/>
              <a:ea typeface="標楷體" panose="03000509000000000000" pitchFamily="65" charset="-120"/>
            </a:endParaRPr>
          </a:p>
          <a:p>
            <a:r>
              <a:rPr lang="zh-TW" altLang="en-US" dirty="0">
                <a:latin typeface="標楷體" panose="03000509000000000000" pitchFamily="65" charset="-120"/>
                <a:ea typeface="標楷體" panose="03000509000000000000" pitchFamily="65" charset="-120"/>
              </a:rPr>
              <a:t>各科學領域中也能觀察到許多資料特徵符合常態分佈的</a:t>
            </a:r>
            <a:r>
              <a:rPr lang="zh-TW" altLang="en-US" dirty="0" smtClean="0">
                <a:latin typeface="標楷體" panose="03000509000000000000" pitchFamily="65" charset="-120"/>
                <a:ea typeface="標楷體" panose="03000509000000000000" pitchFamily="65" charset="-120"/>
              </a:rPr>
              <a:t>條件</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因此假定感測器產生的環境指標在不受人為干擾的情況下，其感測數值所得之機率密度函數應該會符合常態分佈的行為模式</a:t>
            </a:r>
            <a:endParaRPr lang="zh-TW" altLang="en-US"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1415281877"/>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ea typeface="標楷體" panose="03000509000000000000" pitchFamily="65" charset="-120"/>
                <a:cs typeface="Times New Roman" panose="02020603050405020304" pitchFamily="18" charset="0"/>
              </a:rPr>
              <a:t>一般常態分佈</a:t>
            </a:r>
            <a:endParaRPr lang="en-US" altLang="zh-TW" sz="3200" dirty="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6" name="內容版面配置區 5"/>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2496000" y="1875813"/>
            <a:ext cx="7200000" cy="5101200"/>
          </a:xfrm>
        </p:spPr>
      </p:pic>
    </p:spTree>
    <p:extLst>
      <p:ext uri="{BB962C8B-B14F-4D97-AF65-F5344CB8AC3E}">
        <p14:creationId xmlns:p14="http://schemas.microsoft.com/office/powerpoint/2010/main" val="3181965952"/>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smtClean="0">
                <a:ea typeface="標楷體" panose="03000509000000000000" pitchFamily="65" charset="-120"/>
                <a:cs typeface="Times New Roman" panose="02020603050405020304" pitchFamily="18" charset="0"/>
              </a:rPr>
              <a:t>CUSUM</a:t>
            </a:r>
            <a:r>
              <a:rPr lang="zh-TW" altLang="en-US" sz="3200" dirty="0" smtClean="0">
                <a:ea typeface="標楷體" panose="03000509000000000000" pitchFamily="65" charset="-120"/>
                <a:cs typeface="Times New Roman" panose="02020603050405020304" pitchFamily="18" charset="0"/>
              </a:rPr>
              <a:t>（</a:t>
            </a:r>
            <a:r>
              <a:rPr lang="en-US" altLang="zh-TW" sz="3200" dirty="0" smtClean="0">
                <a:ea typeface="標楷體" panose="03000509000000000000" pitchFamily="65" charset="-120"/>
                <a:cs typeface="Times New Roman" panose="02020603050405020304" pitchFamily="18" charset="0"/>
              </a:rPr>
              <a:t>Cumulative Sum</a:t>
            </a:r>
            <a:r>
              <a:rPr lang="zh-TW" altLang="en-US" sz="3200" dirty="0" smtClean="0">
                <a:ea typeface="標楷體" panose="03000509000000000000" pitchFamily="65" charset="-120"/>
                <a:cs typeface="Times New Roman" panose="02020603050405020304" pitchFamily="18" charset="0"/>
              </a:rPr>
              <a:t>）</a:t>
            </a:r>
            <a:endParaRPr lang="en-US" altLang="zh-TW" sz="3200" dirty="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內容版面配置區 5"/>
          <p:cNvSpPr>
            <a:spLocks noGrp="1"/>
          </p:cNvSpPr>
          <p:nvPr>
            <p:ph idx="1"/>
          </p:nvPr>
        </p:nvSpPr>
        <p:spPr/>
        <p:txBody>
          <a:bodyPr/>
          <a:lstStyle/>
          <a:p>
            <a:r>
              <a:rPr lang="zh-TW" altLang="zh-TW" dirty="0" smtClean="0">
                <a:latin typeface="標楷體" panose="03000509000000000000" pitchFamily="65" charset="-120"/>
                <a:ea typeface="標楷體" panose="03000509000000000000" pitchFamily="65" charset="-120"/>
              </a:rPr>
              <a:t>主要</a:t>
            </a:r>
            <a:r>
              <a:rPr lang="zh-TW" altLang="zh-TW" dirty="0">
                <a:latin typeface="標楷體" panose="03000509000000000000" pitchFamily="65" charset="-120"/>
                <a:ea typeface="標楷體" panose="03000509000000000000" pitchFamily="65" charset="-120"/>
              </a:rPr>
              <a:t>概念是觀察資料變化的離散</a:t>
            </a:r>
            <a:r>
              <a:rPr lang="zh-TW" altLang="zh-TW" dirty="0" smtClean="0">
                <a:latin typeface="標楷體" panose="03000509000000000000" pitchFamily="65" charset="-120"/>
                <a:ea typeface="標楷體" panose="03000509000000000000" pitchFamily="65" charset="-120"/>
              </a:rPr>
              <a:t>趨勢</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資料的波動大於限制區間便會開始記錄變化幅度的大小，如果趨勢呈現持續增加或減少，變化量會在持續的過程中累加，而累加值到達定量後就會認定資料變化正在偏移原本的狀態</a:t>
            </a:r>
            <a:r>
              <a:rPr lang="zh-TW" altLang="zh-TW" dirty="0" smtClean="0">
                <a:latin typeface="標楷體" panose="03000509000000000000" pitchFamily="65" charset="-120"/>
                <a:ea typeface="標楷體" panose="03000509000000000000" pitchFamily="65" charset="-120"/>
              </a:rPr>
              <a:t>。</a:t>
            </a:r>
            <a:endParaRPr lang="en-US" altLang="zh-TW" dirty="0" smtClean="0">
              <a:latin typeface="標楷體" panose="03000509000000000000" pitchFamily="65" charset="-120"/>
              <a:ea typeface="標楷體" panose="03000509000000000000" pitchFamily="65" charset="-120"/>
            </a:endParaRPr>
          </a:p>
          <a:p>
            <a:r>
              <a:rPr lang="zh-TW" altLang="zh-TW" dirty="0" smtClean="0">
                <a:latin typeface="標楷體" panose="03000509000000000000" pitchFamily="65" charset="-120"/>
                <a:ea typeface="標楷體" panose="03000509000000000000" pitchFamily="65" charset="-120"/>
              </a:rPr>
              <a:t>須定義</a:t>
            </a:r>
            <a:r>
              <a:rPr lang="zh-TW" altLang="zh-TW" dirty="0">
                <a:latin typeface="標楷體" panose="03000509000000000000" pitchFamily="65" charset="-120"/>
                <a:ea typeface="標楷體" panose="03000509000000000000" pitchFamily="65" charset="-120"/>
              </a:rPr>
              <a:t>兩個</a:t>
            </a:r>
            <a:r>
              <a:rPr lang="zh-TW" altLang="zh-TW" dirty="0" smtClean="0">
                <a:latin typeface="標楷體" panose="03000509000000000000" pitchFamily="65" charset="-120"/>
                <a:ea typeface="標楷體" panose="03000509000000000000" pitchFamily="65" charset="-120"/>
              </a:rPr>
              <a:t>參數</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資料波動可容忍的區間範圍（常使用</a:t>
            </a:r>
            <a:r>
              <a:rPr lang="en-US" altLang="zh-TW" dirty="0">
                <a:latin typeface="標楷體" panose="03000509000000000000" pitchFamily="65" charset="-120"/>
                <a:ea typeface="標楷體" panose="03000509000000000000" pitchFamily="65" charset="-120"/>
              </a:rPr>
              <a:t>1/2</a:t>
            </a:r>
            <a:r>
              <a:rPr lang="zh-TW" altLang="zh-TW" dirty="0">
                <a:latin typeface="標楷體" panose="03000509000000000000" pitchFamily="65" charset="-120"/>
                <a:ea typeface="標楷體" panose="03000509000000000000" pitchFamily="65" charset="-120"/>
              </a:rPr>
              <a:t>或</a:t>
            </a:r>
            <a:r>
              <a:rPr lang="en-US" altLang="zh-TW" dirty="0">
                <a:latin typeface="標楷體" panose="03000509000000000000" pitchFamily="65" charset="-120"/>
                <a:ea typeface="標楷體" panose="03000509000000000000" pitchFamily="65" charset="-120"/>
              </a:rPr>
              <a:t>1</a:t>
            </a:r>
            <a:r>
              <a:rPr lang="zh-TW" altLang="zh-TW" dirty="0">
                <a:latin typeface="標楷體" panose="03000509000000000000" pitchFamily="65" charset="-120"/>
                <a:ea typeface="標楷體" panose="03000509000000000000" pitchFamily="65" charset="-120"/>
              </a:rPr>
              <a:t>倍標準</a:t>
            </a:r>
            <a:r>
              <a:rPr lang="zh-TW" altLang="zh-TW" dirty="0" smtClean="0">
                <a:latin typeface="標楷體" panose="03000509000000000000" pitchFamily="65" charset="-120"/>
                <a:ea typeface="標楷體" panose="03000509000000000000" pitchFamily="65" charset="-120"/>
              </a:rPr>
              <a:t>差）</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變化累積量的門檻</a:t>
            </a:r>
            <a:r>
              <a:rPr lang="zh-TW" altLang="zh-TW" dirty="0" smtClean="0">
                <a:latin typeface="標楷體" panose="03000509000000000000" pitchFamily="65" charset="-120"/>
                <a:ea typeface="標楷體" panose="03000509000000000000" pitchFamily="65" charset="-120"/>
              </a:rPr>
              <a:t>（</a:t>
            </a:r>
            <a:r>
              <a:rPr lang="zh-TW" altLang="en-US" dirty="0">
                <a:latin typeface="標楷體" panose="03000509000000000000" pitchFamily="65" charset="-120"/>
                <a:ea typeface="標楷體" panose="03000509000000000000" pitchFamily="65" charset="-120"/>
              </a:rPr>
              <a:t>常</a:t>
            </a:r>
            <a:r>
              <a:rPr lang="zh-TW" altLang="zh-TW" dirty="0" smtClean="0">
                <a:latin typeface="標楷體" panose="03000509000000000000" pitchFamily="65" charset="-120"/>
                <a:ea typeface="標楷體" panose="03000509000000000000" pitchFamily="65" charset="-120"/>
              </a:rPr>
              <a:t>使用</a:t>
            </a:r>
            <a:r>
              <a:rPr lang="zh-TW" altLang="zh-TW" dirty="0">
                <a:latin typeface="標楷體" panose="03000509000000000000" pitchFamily="65" charset="-120"/>
                <a:ea typeface="標楷體" panose="03000509000000000000" pitchFamily="65" charset="-120"/>
              </a:rPr>
              <a:t>四或五倍標準差）</a:t>
            </a:r>
            <a:endParaRPr lang="zh-TW" altLang="en-US"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4234059994"/>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smtClean="0">
                <a:ea typeface="標楷體" panose="03000509000000000000" pitchFamily="65" charset="-120"/>
                <a:cs typeface="Times New Roman" panose="02020603050405020304" pitchFamily="18" charset="0"/>
              </a:rPr>
              <a:t>CUSUM</a:t>
            </a:r>
            <a:r>
              <a:rPr lang="zh-TW" altLang="en-US" sz="3200" dirty="0" smtClean="0">
                <a:ea typeface="標楷體" panose="03000509000000000000" pitchFamily="65" charset="-120"/>
                <a:cs typeface="Times New Roman" panose="02020603050405020304" pitchFamily="18" charset="0"/>
              </a:rPr>
              <a:t>（</a:t>
            </a:r>
            <a:r>
              <a:rPr lang="en-US" altLang="zh-TW" sz="3200" dirty="0" smtClean="0">
                <a:ea typeface="標楷體" panose="03000509000000000000" pitchFamily="65" charset="-120"/>
                <a:cs typeface="Times New Roman" panose="02020603050405020304" pitchFamily="18" charset="0"/>
              </a:rPr>
              <a:t>Cumulative Sum</a:t>
            </a:r>
            <a:r>
              <a:rPr lang="zh-TW" altLang="en-US" sz="3200" dirty="0" smtClean="0">
                <a:ea typeface="標楷體" panose="03000509000000000000" pitchFamily="65" charset="-120"/>
                <a:cs typeface="Times New Roman" panose="02020603050405020304" pitchFamily="18" charset="0"/>
              </a:rPr>
              <a:t>）</a:t>
            </a:r>
            <a:endParaRPr lang="en-US" altLang="zh-TW" sz="3200" dirty="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3" name="內容版面配置區 2"/>
              <p:cNvSpPr>
                <a:spLocks noGrp="1"/>
              </p:cNvSpPr>
              <p:nvPr>
                <p:ph idx="1"/>
              </p:nvPr>
            </p:nvSpPr>
            <p:spPr/>
            <p:txBody>
              <a:bodyPr/>
              <a:lstStyle/>
              <a:p>
                <a14:m>
                  <m:oMath xmlns:m="http://schemas.openxmlformats.org/officeDocument/2006/math">
                    <m:r>
                      <m:rPr>
                        <m:sty m:val="p"/>
                      </m:rPr>
                      <a:rPr lang="en-US" altLang="zh-TW">
                        <a:latin typeface="Cambria Math" panose="02040503050406030204" pitchFamily="18" charset="0"/>
                      </a:rPr>
                      <m:t>SH</m:t>
                    </m:r>
                    <m:d>
                      <m:dPr>
                        <m:ctrlPr>
                          <a:rPr lang="zh-TW" altLang="zh-TW" i="1">
                            <a:latin typeface="Cambria Math" panose="02040503050406030204" pitchFamily="18" charset="0"/>
                          </a:rPr>
                        </m:ctrlPr>
                      </m:dPr>
                      <m:e>
                        <m:r>
                          <a:rPr lang="en-US" altLang="zh-TW" i="1">
                            <a:latin typeface="Cambria Math" panose="02040503050406030204" pitchFamily="18" charset="0"/>
                          </a:rPr>
                          <m:t>𝑖</m:t>
                        </m:r>
                      </m:e>
                    </m:d>
                    <m:r>
                      <a:rPr lang="en-US" altLang="zh-TW" i="1">
                        <a:latin typeface="Cambria Math" panose="02040503050406030204" pitchFamily="18" charset="0"/>
                      </a:rPr>
                      <m:t>=</m:t>
                    </m:r>
                    <m:r>
                      <a:rPr lang="en-US" altLang="zh-TW" i="1">
                        <a:latin typeface="Cambria Math" panose="02040503050406030204" pitchFamily="18" charset="0"/>
                      </a:rPr>
                      <m:t>𝑀𝑎𝑥</m:t>
                    </m:r>
                    <m:d>
                      <m:dPr>
                        <m:begChr m:val="["/>
                        <m:endChr m:val="]"/>
                        <m:ctrlPr>
                          <a:rPr lang="zh-TW" altLang="zh-TW" i="1">
                            <a:latin typeface="Cambria Math" panose="02040503050406030204" pitchFamily="18" charset="0"/>
                          </a:rPr>
                        </m:ctrlPr>
                      </m:dPr>
                      <m:e>
                        <m:r>
                          <a:rPr lang="en-US" altLang="zh-TW" i="1">
                            <a:latin typeface="Cambria Math" panose="02040503050406030204" pitchFamily="18" charset="0"/>
                          </a:rPr>
                          <m:t>0,</m:t>
                        </m:r>
                        <m:r>
                          <a:rPr lang="en-US" altLang="zh-TW" i="1">
                            <a:latin typeface="Cambria Math" panose="02040503050406030204" pitchFamily="18" charset="0"/>
                          </a:rPr>
                          <m:t>𝑆𝐻</m:t>
                        </m:r>
                        <m:d>
                          <m:dPr>
                            <m:ctrlPr>
                              <a:rPr lang="zh-TW" altLang="zh-TW" i="1">
                                <a:latin typeface="Cambria Math" panose="02040503050406030204" pitchFamily="18" charset="0"/>
                              </a:rPr>
                            </m:ctrlPr>
                          </m:dPr>
                          <m:e>
                            <m:r>
                              <a:rPr lang="en-US" altLang="zh-TW" i="1">
                                <a:latin typeface="Cambria Math" panose="02040503050406030204" pitchFamily="18" charset="0"/>
                              </a:rPr>
                              <m:t>𝑖</m:t>
                            </m:r>
                            <m:r>
                              <a:rPr lang="en-US" altLang="zh-TW" i="1">
                                <a:latin typeface="Cambria Math" panose="02040503050406030204" pitchFamily="18" charset="0"/>
                              </a:rPr>
                              <m:t>−1</m:t>
                            </m:r>
                          </m:e>
                        </m:d>
                        <m:r>
                          <a:rPr lang="en-US" altLang="zh-TW" i="1">
                            <a:latin typeface="Cambria Math" panose="02040503050406030204" pitchFamily="18" charset="0"/>
                          </a:rPr>
                          <m:t>+</m:t>
                        </m:r>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e>
                    </m:d>
                  </m:oMath>
                </a14:m>
                <a:endParaRPr lang="zh-TW" altLang="zh-TW" dirty="0">
                  <a:latin typeface="+mj-lt"/>
                </a:endParaRPr>
              </a:p>
              <a:p>
                <a14:m>
                  <m:oMath xmlns:m="http://schemas.openxmlformats.org/officeDocument/2006/math">
                    <m:r>
                      <m:rPr>
                        <m:sty m:val="p"/>
                      </m:rPr>
                      <a:rPr lang="en-US" altLang="zh-TW">
                        <a:latin typeface="Cambria Math" panose="02040503050406030204" pitchFamily="18" charset="0"/>
                      </a:rPr>
                      <m:t>SL</m:t>
                    </m:r>
                    <m:d>
                      <m:dPr>
                        <m:ctrlPr>
                          <a:rPr lang="zh-TW" altLang="zh-TW" i="1">
                            <a:latin typeface="Cambria Math" panose="02040503050406030204" pitchFamily="18" charset="0"/>
                          </a:rPr>
                        </m:ctrlPr>
                      </m:dPr>
                      <m:e>
                        <m:r>
                          <a:rPr lang="en-US" altLang="zh-TW" i="1">
                            <a:latin typeface="Cambria Math" panose="02040503050406030204" pitchFamily="18" charset="0"/>
                          </a:rPr>
                          <m:t>𝑖</m:t>
                        </m:r>
                      </m:e>
                    </m:d>
                    <m:r>
                      <a:rPr lang="en-US" altLang="zh-TW" i="1">
                        <a:latin typeface="Cambria Math" panose="02040503050406030204" pitchFamily="18" charset="0"/>
                      </a:rPr>
                      <m:t>=</m:t>
                    </m:r>
                    <m:r>
                      <a:rPr lang="en-US" altLang="zh-TW" i="1">
                        <a:latin typeface="Cambria Math" panose="02040503050406030204" pitchFamily="18" charset="0"/>
                      </a:rPr>
                      <m:t>𝑀𝑖𝑛</m:t>
                    </m:r>
                    <m:d>
                      <m:dPr>
                        <m:begChr m:val="["/>
                        <m:endChr m:val="]"/>
                        <m:ctrlPr>
                          <a:rPr lang="zh-TW" altLang="zh-TW" i="1">
                            <a:latin typeface="Cambria Math" panose="02040503050406030204" pitchFamily="18" charset="0"/>
                          </a:rPr>
                        </m:ctrlPr>
                      </m:dPr>
                      <m:e>
                        <m:r>
                          <a:rPr lang="en-US" altLang="zh-TW" i="1">
                            <a:latin typeface="Cambria Math" panose="02040503050406030204" pitchFamily="18" charset="0"/>
                          </a:rPr>
                          <m:t>0,</m:t>
                        </m:r>
                        <m:r>
                          <a:rPr lang="en-US" altLang="zh-TW" i="1">
                            <a:latin typeface="Cambria Math" panose="02040503050406030204" pitchFamily="18" charset="0"/>
                          </a:rPr>
                          <m:t>𝑆𝐿</m:t>
                        </m:r>
                        <m:d>
                          <m:dPr>
                            <m:ctrlPr>
                              <a:rPr lang="zh-TW" altLang="zh-TW" i="1">
                                <a:latin typeface="Cambria Math" panose="02040503050406030204" pitchFamily="18" charset="0"/>
                              </a:rPr>
                            </m:ctrlPr>
                          </m:dPr>
                          <m:e>
                            <m:r>
                              <a:rPr lang="en-US" altLang="zh-TW" i="1">
                                <a:latin typeface="Cambria Math" panose="02040503050406030204" pitchFamily="18" charset="0"/>
                              </a:rPr>
                              <m:t>𝑖</m:t>
                            </m:r>
                            <m:r>
                              <a:rPr lang="en-US" altLang="zh-TW" i="1">
                                <a:latin typeface="Cambria Math" panose="02040503050406030204" pitchFamily="18" charset="0"/>
                              </a:rPr>
                              <m:t>−1</m:t>
                            </m:r>
                          </m:e>
                        </m:d>
                        <m:r>
                          <a:rPr lang="en-US" altLang="zh-TW" i="1">
                            <a:latin typeface="Cambria Math" panose="02040503050406030204" pitchFamily="18" charset="0"/>
                          </a:rPr>
                          <m:t>+</m:t>
                        </m:r>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e>
                    </m:d>
                  </m:oMath>
                </a14:m>
                <a:endParaRPr lang="en-US" altLang="zh-TW" dirty="0" smtClean="0">
                  <a:latin typeface="+mj-lt"/>
                </a:endParaRPr>
              </a:p>
              <a:p>
                <a:pPr lvl="1"/>
                <a14:m>
                  <m:oMath xmlns:m="http://schemas.openxmlformats.org/officeDocument/2006/math">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oMath>
                </a14:m>
                <a:r>
                  <a:rPr lang="en-US" altLang="zh-TW" dirty="0" smtClean="0">
                    <a:latin typeface="標楷體" panose="03000509000000000000" pitchFamily="65" charset="-120"/>
                    <a:ea typeface="標楷體" panose="03000509000000000000" pitchFamily="65" charset="-120"/>
                  </a:rPr>
                  <a:t> =</a:t>
                </a:r>
                <a:r>
                  <a:rPr lang="zh-TW" altLang="en-US" dirty="0" smtClean="0">
                    <a:latin typeface="標楷體" panose="03000509000000000000" pitchFamily="65" charset="-120"/>
                    <a:ea typeface="標楷體" panose="03000509000000000000" pitchFamily="65" charset="-120"/>
                  </a:rPr>
                  <a:t> 資料數值</a:t>
                </a:r>
                <a:endParaRPr lang="en-US" altLang="zh-TW" dirty="0" smtClean="0">
                  <a:latin typeface="標楷體" panose="03000509000000000000" pitchFamily="65" charset="-120"/>
                  <a:ea typeface="標楷體" panose="03000509000000000000" pitchFamily="65" charset="-120"/>
                </a:endParaRPr>
              </a:p>
              <a:p>
                <a:pPr lvl="1"/>
                <a14:m>
                  <m:oMath xmlns:m="http://schemas.openxmlformats.org/officeDocument/2006/math">
                    <m:r>
                      <a:rPr lang="en-US" altLang="zh-TW" i="1">
                        <a:latin typeface="Cambria Math" panose="02040503050406030204" pitchFamily="18" charset="0"/>
                      </a:rPr>
                      <m:t>𝐺𝑜𝑎𝑙</m:t>
                    </m:r>
                  </m:oMath>
                </a14:m>
                <a:r>
                  <a:rPr lang="en-US" altLang="zh-TW" dirty="0" smtClean="0"/>
                  <a:t> =</a:t>
                </a:r>
                <a:r>
                  <a:rPr lang="zh-TW" altLang="en-US" dirty="0" smtClean="0"/>
                  <a:t> </a:t>
                </a:r>
                <a:r>
                  <a:rPr lang="zh-TW" altLang="en-US" dirty="0" smtClean="0">
                    <a:latin typeface="標楷體" panose="03000509000000000000" pitchFamily="65" charset="-120"/>
                    <a:ea typeface="標楷體" panose="03000509000000000000" pitchFamily="65" charset="-120"/>
                  </a:rPr>
                  <a:t>平均值</a:t>
                </a:r>
                <a:endParaRPr lang="en-US" altLang="zh-TW" dirty="0" smtClean="0">
                  <a:latin typeface="標楷體" panose="03000509000000000000" pitchFamily="65" charset="-120"/>
                  <a:ea typeface="標楷體" panose="03000509000000000000" pitchFamily="65" charset="-120"/>
                </a:endParaRPr>
              </a:p>
              <a:p>
                <a:pPr lvl="1"/>
                <a14:m>
                  <m:oMath xmlns:m="http://schemas.openxmlformats.org/officeDocument/2006/math">
                    <m:r>
                      <a:rPr lang="en-US" altLang="zh-TW" i="1">
                        <a:latin typeface="Cambria Math" panose="02040503050406030204" pitchFamily="18" charset="0"/>
                      </a:rPr>
                      <m:t>𝑘</m:t>
                    </m:r>
                  </m:oMath>
                </a14:m>
                <a:r>
                  <a:rPr lang="zh-TW" altLang="en-US" dirty="0" smtClean="0"/>
                  <a:t> </a:t>
                </a:r>
                <a:r>
                  <a:rPr lang="en-US" altLang="zh-TW" dirty="0" smtClean="0"/>
                  <a:t>=</a:t>
                </a:r>
                <a:r>
                  <a:rPr lang="zh-TW" altLang="en-US" dirty="0" smtClean="0"/>
                  <a:t> </a:t>
                </a:r>
                <a:r>
                  <a:rPr lang="en-US" altLang="zh-TW" dirty="0" smtClean="0"/>
                  <a:t>½~1</a:t>
                </a:r>
                <a:r>
                  <a:rPr lang="zh-TW" altLang="en-US" dirty="0" smtClean="0">
                    <a:latin typeface="標楷體" panose="03000509000000000000" pitchFamily="65" charset="-120"/>
                    <a:ea typeface="標楷體" panose="03000509000000000000" pitchFamily="65" charset="-120"/>
                  </a:rPr>
                  <a:t>倍標準差</a:t>
                </a:r>
                <a:endParaRPr lang="en-US" altLang="zh-TW" dirty="0" smtClean="0">
                  <a:latin typeface="標楷體" panose="03000509000000000000" pitchFamily="65" charset="-120"/>
                  <a:ea typeface="標楷體" panose="03000509000000000000" pitchFamily="65" charset="-120"/>
                </a:endParaRPr>
              </a:p>
              <a:p>
                <a:r>
                  <a:rPr lang="zh-TW" altLang="zh-TW" dirty="0" smtClean="0">
                    <a:latin typeface="標楷體" panose="03000509000000000000" pitchFamily="65" charset="-120"/>
                    <a:ea typeface="標楷體" panose="03000509000000000000" pitchFamily="65" charset="-120"/>
                  </a:rPr>
                  <a:t>觀察</a:t>
                </a:r>
                <a:endParaRPr lang="en-US" altLang="zh-TW" dirty="0" smtClean="0">
                  <a:latin typeface="標楷體" panose="03000509000000000000" pitchFamily="65" charset="-120"/>
                  <a:ea typeface="標楷體" panose="03000509000000000000" pitchFamily="65" charset="-120"/>
                </a:endParaRPr>
              </a:p>
              <a:p>
                <a:pPr lvl="1"/>
                <a14:m>
                  <m:oMath xmlns:m="http://schemas.openxmlformats.org/officeDocument/2006/math">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r>
                      <a:rPr lang="en-US" altLang="zh-TW" i="1">
                        <a:latin typeface="Cambria Math" panose="02040503050406030204" pitchFamily="18" charset="0"/>
                      </a:rPr>
                      <m:t>=</m:t>
                    </m:r>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d>
                      <m:dPr>
                        <m:ctrlPr>
                          <a:rPr lang="zh-TW" altLang="zh-TW" i="1">
                            <a:latin typeface="Cambria Math" panose="02040503050406030204" pitchFamily="18" charset="0"/>
                          </a:rPr>
                        </m:ctrlPr>
                      </m:dPr>
                      <m:e>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e>
                    </m:d>
                  </m:oMath>
                </a14:m>
                <a:endParaRPr lang="en-US" altLang="zh-TW" dirty="0" smtClean="0">
                  <a:ea typeface="標楷體" panose="03000509000000000000" pitchFamily="65" charset="-120"/>
                </a:endParaRPr>
              </a:p>
              <a:p>
                <a:pPr lvl="1"/>
                <a14:m>
                  <m:oMath xmlns:m="http://schemas.openxmlformats.org/officeDocument/2006/math">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r>
                      <a:rPr lang="en-US" altLang="zh-TW" i="1">
                        <a:latin typeface="Cambria Math" panose="02040503050406030204" pitchFamily="18" charset="0"/>
                      </a:rPr>
                      <m:t>=</m:t>
                    </m:r>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d>
                      <m:dPr>
                        <m:ctrlPr>
                          <a:rPr lang="zh-TW" altLang="zh-TW" i="1">
                            <a:latin typeface="Cambria Math" panose="02040503050406030204" pitchFamily="18" charset="0"/>
                          </a:rPr>
                        </m:ctrlPr>
                      </m:dPr>
                      <m:e>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e>
                    </m:d>
                  </m:oMath>
                </a14:m>
                <a:endParaRPr lang="zh-TW" altLang="zh-TW" dirty="0">
                  <a:ea typeface="標楷體" panose="03000509000000000000" pitchFamily="65" charset="-120"/>
                </a:endParaRPr>
              </a:p>
              <a:p>
                <a:endParaRPr lang="zh-TW" altLang="en-US" dirty="0"/>
              </a:p>
            </p:txBody>
          </p:sp>
        </mc:Choice>
        <mc:Fallback xmlns="">
          <p:sp>
            <p:nvSpPr>
              <p:cNvPr id="3" name="內容版面配置區 2"/>
              <p:cNvSpPr>
                <a:spLocks noGrp="1" noRot="1" noChangeAspect="1" noMove="1" noResize="1" noEditPoints="1" noAdjustHandles="1" noChangeArrowheads="1" noChangeShapeType="1" noTextEdit="1"/>
              </p:cNvSpPr>
              <p:nvPr>
                <p:ph idx="1"/>
              </p:nvPr>
            </p:nvSpPr>
            <p:spPr>
              <a:blipFill>
                <a:blip r:embed="rId3"/>
                <a:stretch>
                  <a:fillRect l="-1043"/>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345191707"/>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smtClean="0">
                <a:ea typeface="標楷體" panose="03000509000000000000" pitchFamily="65" charset="-120"/>
                <a:cs typeface="Times New Roman" panose="02020603050405020304" pitchFamily="18" charset="0"/>
              </a:rPr>
              <a:t>LOF</a:t>
            </a:r>
            <a:r>
              <a:rPr lang="zh-TW" altLang="en-US" sz="3200" dirty="0" smtClean="0">
                <a:ea typeface="標楷體" panose="03000509000000000000" pitchFamily="65" charset="-120"/>
                <a:cs typeface="Times New Roman" panose="02020603050405020304" pitchFamily="18" charset="0"/>
              </a:rPr>
              <a:t>（</a:t>
            </a:r>
            <a:r>
              <a:rPr lang="en-US" altLang="zh-TW" sz="3200" dirty="0" smtClean="0">
                <a:ea typeface="標楷體" panose="03000509000000000000" pitchFamily="65" charset="-120"/>
                <a:cs typeface="Times New Roman" panose="02020603050405020304" pitchFamily="18" charset="0"/>
              </a:rPr>
              <a:t>Local Outlier Factor</a:t>
            </a:r>
            <a:r>
              <a:rPr lang="zh-TW" altLang="en-US" sz="3200" dirty="0" smtClean="0">
                <a:ea typeface="標楷體" panose="03000509000000000000" pitchFamily="65" charset="-120"/>
                <a:cs typeface="Times New Roman" panose="02020603050405020304" pitchFamily="18" charset="0"/>
              </a:rPr>
              <a:t>）</a:t>
            </a:r>
            <a:endParaRPr lang="en-US" altLang="zh-TW" sz="3200" dirty="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a:xfrm>
            <a:off x="838200" y="1690688"/>
            <a:ext cx="10515600" cy="4351338"/>
          </a:xfrm>
        </p:spPr>
        <p:txBody>
          <a:bodyPr/>
          <a:lstStyle/>
          <a:p>
            <a:r>
              <a:rPr lang="en-US" altLang="zh-TW" dirty="0"/>
              <a:t>LOF</a:t>
            </a:r>
            <a:r>
              <a:rPr lang="zh-TW" altLang="zh-TW" dirty="0">
                <a:latin typeface="標楷體" panose="03000509000000000000" pitchFamily="65" charset="-120"/>
                <a:ea typeface="標楷體" panose="03000509000000000000" pitchFamily="65" charset="-120"/>
              </a:rPr>
              <a:t>是參考資料點間距離與區域分布密度作為檢測標準的演算法</a:t>
            </a:r>
            <a:endParaRPr lang="zh-TW" altLang="en-US" dirty="0">
              <a:latin typeface="標楷體" panose="03000509000000000000" pitchFamily="65" charset="-120"/>
              <a:ea typeface="標楷體" panose="03000509000000000000" pitchFamily="65" charset="-120"/>
            </a:endParaRPr>
          </a:p>
        </p:txBody>
      </p:sp>
      <p:pic>
        <p:nvPicPr>
          <p:cNvPr id="8" name="內容版面配置區 6"/>
          <p:cNvPicPr>
            <a:picLocks/>
          </p:cNvPicPr>
          <p:nvPr/>
        </p:nvPicPr>
        <p:blipFill>
          <a:blip r:embed="rId3"/>
          <a:stretch>
            <a:fillRect/>
          </a:stretch>
        </p:blipFill>
        <p:spPr>
          <a:xfrm>
            <a:off x="4116000" y="2589831"/>
            <a:ext cx="3960000" cy="3960000"/>
          </a:xfrm>
          <a:prstGeom prst="rect">
            <a:avLst/>
          </a:prstGeom>
        </p:spPr>
      </p:pic>
    </p:spTree>
    <p:extLst>
      <p:ext uri="{BB962C8B-B14F-4D97-AF65-F5344CB8AC3E}">
        <p14:creationId xmlns:p14="http://schemas.microsoft.com/office/powerpoint/2010/main" val="2435409816"/>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Times New Roman" panose="02020603050405020304" pitchFamily="18" charset="0"/>
                <a:ea typeface="標楷體" panose="03000509000000000000" pitchFamily="65" charset="-120"/>
                <a:cs typeface="Times New Roman" panose="02020603050405020304" pitchFamily="18" charset="0"/>
              </a:rPr>
              <a:t>實</a:t>
            </a:r>
            <a:r>
              <a:rPr lang="zh-TW" altLang="en-US" sz="3200" dirty="0" smtClean="0">
                <a:latin typeface="Times New Roman" panose="02020603050405020304" pitchFamily="18" charset="0"/>
                <a:ea typeface="標楷體" panose="03000509000000000000" pitchFamily="65" charset="-120"/>
                <a:cs typeface="Times New Roman" panose="02020603050405020304" pitchFamily="18" charset="0"/>
              </a:rPr>
              <a:t>作的偵測方法</a:t>
            </a:r>
            <a:endParaRPr lang="en-US" altLang="zh-TW" sz="3200" dirty="0">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門檻值</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一般常態分佈</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資料片段平均值與常態分佈</a:t>
            </a:r>
            <a:endParaRPr lang="en-US" altLang="zh-TW" dirty="0" smtClean="0">
              <a:latin typeface="標楷體" panose="03000509000000000000" pitchFamily="65" charset="-120"/>
              <a:ea typeface="標楷體" panose="03000509000000000000" pitchFamily="65" charset="-120"/>
            </a:endParaRPr>
          </a:p>
          <a:p>
            <a:pPr lvl="0"/>
            <a:r>
              <a:rPr lang="en-US" altLang="zh-TW" dirty="0"/>
              <a:t>CUSUM</a:t>
            </a:r>
            <a:endParaRPr lang="zh-TW" altLang="zh-TW" dirty="0"/>
          </a:p>
          <a:p>
            <a:r>
              <a:rPr lang="zh-TW" altLang="en-US" dirty="0" smtClean="0">
                <a:latin typeface="標楷體" panose="03000509000000000000" pitchFamily="65" charset="-120"/>
                <a:ea typeface="標楷體" panose="03000509000000000000" pitchFamily="65" charset="-120"/>
              </a:rPr>
              <a:t>資料片段數值與</a:t>
            </a:r>
            <a:r>
              <a:rPr lang="en-US" altLang="zh-TW" dirty="0" smtClean="0"/>
              <a:t>LOF</a:t>
            </a:r>
          </a:p>
          <a:p>
            <a:r>
              <a:rPr lang="zh-TW" altLang="en-US" dirty="0" smtClean="0">
                <a:latin typeface="標楷體" panose="03000509000000000000" pitchFamily="65" charset="-120"/>
                <a:ea typeface="標楷體" panose="03000509000000000000" pitchFamily="65" charset="-120"/>
              </a:rPr>
              <a:t>資料片段平均值、標準差與</a:t>
            </a:r>
            <a:r>
              <a:rPr lang="en-US" altLang="zh-TW" dirty="0" smtClean="0"/>
              <a:t>LOF</a:t>
            </a:r>
          </a:p>
        </p:txBody>
      </p:sp>
    </p:spTree>
    <p:extLst>
      <p:ext uri="{BB962C8B-B14F-4D97-AF65-F5344CB8AC3E}">
        <p14:creationId xmlns:p14="http://schemas.microsoft.com/office/powerpoint/2010/main" val="857660142"/>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實驗一</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2084000203"/>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訓練</a:t>
            </a:r>
            <a:r>
              <a:rPr lang="zh-TW" altLang="en-US" sz="3200" dirty="0">
                <a:latin typeface="標楷體" panose="03000509000000000000" pitchFamily="65" charset="-120"/>
                <a:ea typeface="標楷體" panose="03000509000000000000" pitchFamily="65" charset="-120"/>
              </a:rPr>
              <a:t>數據</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6" name="內容版面配置區 5"/>
          <p:cNvPicPr>
            <a:picLocks noGrp="1"/>
          </p:cNvPicPr>
          <p:nvPr>
            <p:ph idx="1"/>
          </p:nvPr>
        </p:nvPicPr>
        <p:blipFill>
          <a:blip r:embed="rId3"/>
          <a:stretch>
            <a:fillRect/>
          </a:stretch>
        </p:blipFill>
        <p:spPr>
          <a:xfrm>
            <a:off x="2192834" y="1825625"/>
            <a:ext cx="7806332" cy="4351338"/>
          </a:xfrm>
          <a:prstGeom prst="rect">
            <a:avLst/>
          </a:prstGeom>
        </p:spPr>
      </p:pic>
    </p:spTree>
    <p:extLst>
      <p:ext uri="{BB962C8B-B14F-4D97-AF65-F5344CB8AC3E}">
        <p14:creationId xmlns:p14="http://schemas.microsoft.com/office/powerpoint/2010/main" val="351743501"/>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演算法參數設</a:t>
            </a:r>
            <a:r>
              <a:rPr lang="zh-TW" altLang="en-US" sz="3200" dirty="0">
                <a:latin typeface="標楷體" panose="03000509000000000000" pitchFamily="65" charset="-120"/>
                <a:ea typeface="標楷體" panose="03000509000000000000" pitchFamily="65" charset="-120"/>
              </a:rPr>
              <a:t>定</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normAutofit fontScale="92500" lnSpcReduction="20000"/>
          </a:bodyPr>
          <a:lstStyle/>
          <a:p>
            <a:r>
              <a:rPr lang="zh-TW" altLang="zh-TW" dirty="0">
                <a:latin typeface="標楷體" panose="03000509000000000000" pitchFamily="65" charset="-120"/>
                <a:ea typeface="標楷體" panose="03000509000000000000" pitchFamily="65" charset="-120"/>
              </a:rPr>
              <a:t>一般常態</a:t>
            </a:r>
            <a:r>
              <a:rPr lang="zh-TW" altLang="zh-TW" dirty="0" smtClean="0">
                <a:latin typeface="標楷體" panose="03000509000000000000" pitchFamily="65" charset="-120"/>
                <a:ea typeface="標楷體" panose="03000509000000000000" pitchFamily="65" charset="-120"/>
              </a:rPr>
              <a:t>分佈</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三倍標準差</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集體資料的平均值常態</a:t>
            </a:r>
            <a:r>
              <a:rPr lang="zh-TW" altLang="zh-TW" dirty="0" smtClean="0">
                <a:latin typeface="標楷體" panose="03000509000000000000" pitchFamily="65" charset="-120"/>
                <a:ea typeface="標楷體" panose="03000509000000000000" pitchFamily="65" charset="-120"/>
              </a:rPr>
              <a:t>分佈</a:t>
            </a:r>
            <a:endParaRPr lang="en-US" altLang="zh-TW" dirty="0" smtClean="0">
              <a:latin typeface="標楷體" panose="03000509000000000000" pitchFamily="65" charset="-120"/>
              <a:ea typeface="標楷體" panose="03000509000000000000" pitchFamily="65" charset="-120"/>
            </a:endParaRPr>
          </a:p>
          <a:p>
            <a:pPr lvl="1"/>
            <a:r>
              <a:rPr lang="zh-TW" altLang="en-US" dirty="0" smtClean="0">
                <a:latin typeface="標楷體" panose="03000509000000000000" pitchFamily="65" charset="-120"/>
                <a:ea typeface="標楷體" panose="03000509000000000000" pitchFamily="65" charset="-120"/>
              </a:rPr>
              <a:t>視窗大小為</a:t>
            </a:r>
            <a:r>
              <a:rPr lang="en-US" altLang="zh-TW" dirty="0" smtClean="0">
                <a:ea typeface="標楷體" panose="03000509000000000000" pitchFamily="65" charset="-120"/>
              </a:rPr>
              <a:t>8</a:t>
            </a:r>
            <a:r>
              <a:rPr lang="zh-TW" altLang="en-US" dirty="0" smtClean="0">
                <a:latin typeface="標楷體" panose="03000509000000000000" pitchFamily="65" charset="-120"/>
                <a:ea typeface="標楷體" panose="03000509000000000000" pitchFamily="65" charset="-120"/>
              </a:rPr>
              <a:t>筆資料</a:t>
            </a:r>
            <a:endParaRPr lang="en-US" altLang="zh-TW" dirty="0" smtClean="0">
              <a:latin typeface="標楷體" panose="03000509000000000000" pitchFamily="65" charset="-120"/>
              <a:ea typeface="標楷體" panose="03000509000000000000" pitchFamily="65" charset="-120"/>
            </a:endParaRPr>
          </a:p>
          <a:p>
            <a:pPr lvl="1"/>
            <a:r>
              <a:rPr lang="zh-TW" altLang="en-US" dirty="0" smtClean="0">
                <a:latin typeface="標楷體" panose="03000509000000000000" pitchFamily="65" charset="-120"/>
                <a:ea typeface="標楷體" panose="03000509000000000000" pitchFamily="65" charset="-120"/>
              </a:rPr>
              <a:t>滑動間隔為</a:t>
            </a:r>
            <a:r>
              <a:rPr lang="en-US" altLang="zh-TW" dirty="0" smtClean="0">
                <a:ea typeface="標楷體" panose="03000509000000000000" pitchFamily="65" charset="-120"/>
              </a:rPr>
              <a:t>6</a:t>
            </a:r>
            <a:r>
              <a:rPr lang="zh-TW" altLang="en-US" dirty="0" smtClean="0">
                <a:latin typeface="標楷體" panose="03000509000000000000" pitchFamily="65" charset="-120"/>
                <a:ea typeface="標楷體" panose="03000509000000000000" pitchFamily="65" charset="-120"/>
              </a:rPr>
              <a:t>筆資料</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五倍標準差</a:t>
            </a:r>
            <a:endParaRPr lang="en-US" altLang="zh-TW" dirty="0" smtClean="0">
              <a:latin typeface="標楷體" panose="03000509000000000000" pitchFamily="65" charset="-120"/>
              <a:ea typeface="標楷體" panose="03000509000000000000" pitchFamily="65" charset="-120"/>
            </a:endParaRPr>
          </a:p>
          <a:p>
            <a:r>
              <a:rPr lang="en-US" altLang="zh-TW" dirty="0" smtClean="0"/>
              <a:t>CUSUM</a:t>
            </a:r>
          </a:p>
          <a:p>
            <a:pPr lvl="1"/>
            <a:r>
              <a:rPr lang="zh-TW" altLang="zh-TW" dirty="0">
                <a:latin typeface="標楷體" panose="03000509000000000000" pitchFamily="65" charset="-120"/>
                <a:ea typeface="標楷體" panose="03000509000000000000" pitchFamily="65" charset="-120"/>
              </a:rPr>
              <a:t>資料波動的容忍區間為</a:t>
            </a:r>
            <a:r>
              <a:rPr lang="en-US" altLang="zh-TW" dirty="0"/>
              <a:t>1/2</a:t>
            </a:r>
            <a:r>
              <a:rPr lang="zh-TW" altLang="zh-TW" dirty="0">
                <a:latin typeface="標楷體" panose="03000509000000000000" pitchFamily="65" charset="-120"/>
                <a:ea typeface="標楷體" panose="03000509000000000000" pitchFamily="65" charset="-120"/>
              </a:rPr>
              <a:t>標準</a:t>
            </a:r>
            <a:r>
              <a:rPr lang="zh-TW" altLang="zh-TW" dirty="0" smtClean="0">
                <a:latin typeface="標楷體" panose="03000509000000000000" pitchFamily="65" charset="-120"/>
                <a:ea typeface="標楷體" panose="03000509000000000000" pitchFamily="65" charset="-120"/>
              </a:rPr>
              <a:t>差</a:t>
            </a:r>
            <a:endParaRPr lang="en-US" altLang="zh-TW" dirty="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累加值異常門檻則是</a:t>
            </a:r>
            <a:r>
              <a:rPr lang="en-US" altLang="zh-TW" dirty="0"/>
              <a:t>4</a:t>
            </a:r>
            <a:r>
              <a:rPr lang="zh-TW" altLang="zh-TW" dirty="0">
                <a:latin typeface="標楷體" panose="03000509000000000000" pitchFamily="65" charset="-120"/>
                <a:ea typeface="標楷體" panose="03000509000000000000" pitchFamily="65" charset="-120"/>
              </a:rPr>
              <a:t>倍標準差</a:t>
            </a:r>
            <a:endParaRPr lang="en-US" altLang="zh-TW" dirty="0" smtClean="0">
              <a:latin typeface="標楷體" panose="03000509000000000000" pitchFamily="65" charset="-120"/>
              <a:ea typeface="標楷體" panose="03000509000000000000" pitchFamily="65" charset="-120"/>
            </a:endParaRPr>
          </a:p>
          <a:p>
            <a:r>
              <a:rPr lang="en-US" altLang="zh-TW" dirty="0" smtClean="0"/>
              <a:t>LOF</a:t>
            </a:r>
            <a:r>
              <a:rPr lang="zh-TW" altLang="zh-TW" dirty="0" smtClean="0">
                <a:latin typeface="標楷體" panose="03000509000000000000" pitchFamily="65" charset="-120"/>
                <a:ea typeface="標楷體" panose="03000509000000000000" pitchFamily="65" charset="-120"/>
              </a:rPr>
              <a:t>方法</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視窗大小為</a:t>
            </a:r>
            <a:r>
              <a:rPr lang="en-US" altLang="zh-TW" dirty="0"/>
              <a:t>8</a:t>
            </a:r>
            <a:r>
              <a:rPr lang="zh-TW" altLang="zh-TW" dirty="0">
                <a:latin typeface="標楷體" panose="03000509000000000000" pitchFamily="65" charset="-120"/>
                <a:ea typeface="標楷體" panose="03000509000000000000" pitchFamily="65" charset="-120"/>
              </a:rPr>
              <a:t>筆</a:t>
            </a:r>
            <a:r>
              <a:rPr lang="zh-TW" altLang="zh-TW" dirty="0" smtClean="0">
                <a:latin typeface="標楷體" panose="03000509000000000000" pitchFamily="65" charset="-120"/>
                <a:ea typeface="標楷體" panose="03000509000000000000" pitchFamily="65" charset="-120"/>
              </a:rPr>
              <a:t>資料</a:t>
            </a:r>
            <a:endParaRPr lang="en-US" altLang="zh-TW" dirty="0" smtClean="0">
              <a:latin typeface="標楷體" panose="03000509000000000000" pitchFamily="65" charset="-120"/>
              <a:ea typeface="標楷體" panose="03000509000000000000" pitchFamily="65" charset="-120"/>
            </a:endParaRPr>
          </a:p>
          <a:p>
            <a:pPr lvl="1"/>
            <a:r>
              <a:rPr lang="zh-TW" altLang="zh-TW" dirty="0" smtClean="0">
                <a:latin typeface="標楷體" panose="03000509000000000000" pitchFamily="65" charset="-120"/>
                <a:ea typeface="標楷體" panose="03000509000000000000" pitchFamily="65" charset="-120"/>
              </a:rPr>
              <a:t>滑動</a:t>
            </a:r>
            <a:r>
              <a:rPr lang="zh-TW" altLang="en-US" dirty="0">
                <a:latin typeface="標楷體" panose="03000509000000000000" pitchFamily="65" charset="-120"/>
                <a:ea typeface="標楷體" panose="03000509000000000000" pitchFamily="65" charset="-120"/>
              </a:rPr>
              <a:t>間隔</a:t>
            </a:r>
            <a:r>
              <a:rPr lang="zh-TW" altLang="zh-TW" dirty="0" smtClean="0">
                <a:latin typeface="標楷體" panose="03000509000000000000" pitchFamily="65" charset="-120"/>
                <a:ea typeface="標楷體" panose="03000509000000000000" pitchFamily="65" charset="-120"/>
              </a:rPr>
              <a:t>為</a:t>
            </a:r>
            <a:r>
              <a:rPr lang="en-US" altLang="zh-TW" dirty="0"/>
              <a:t>1</a:t>
            </a:r>
            <a:r>
              <a:rPr lang="zh-TW" altLang="zh-TW" dirty="0">
                <a:latin typeface="標楷體" panose="03000509000000000000" pitchFamily="65" charset="-120"/>
                <a:ea typeface="標楷體" panose="03000509000000000000" pitchFamily="65" charset="-120"/>
              </a:rPr>
              <a:t>筆</a:t>
            </a:r>
            <a:r>
              <a:rPr lang="zh-TW" altLang="zh-TW" dirty="0" smtClean="0">
                <a:latin typeface="標楷體" panose="03000509000000000000" pitchFamily="65" charset="-120"/>
                <a:ea typeface="標楷體" panose="03000509000000000000" pitchFamily="65" charset="-120"/>
              </a:rPr>
              <a:t>資料</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判斷區域的鄰近點個數為</a:t>
            </a:r>
            <a:r>
              <a:rPr lang="en-US" altLang="zh-TW" dirty="0" smtClean="0"/>
              <a:t>8</a:t>
            </a:r>
          </a:p>
        </p:txBody>
      </p:sp>
    </p:spTree>
    <p:extLst>
      <p:ext uri="{BB962C8B-B14F-4D97-AF65-F5344CB8AC3E}">
        <p14:creationId xmlns:p14="http://schemas.microsoft.com/office/powerpoint/2010/main" val="1167834643"/>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實驗設計</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模擬事件類型</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快速偏離並</a:t>
            </a:r>
            <a:r>
              <a:rPr lang="zh-TW" altLang="zh-TW" dirty="0" smtClean="0">
                <a:latin typeface="標楷體" panose="03000509000000000000" pitchFamily="65" charset="-120"/>
                <a:ea typeface="標楷體" panose="03000509000000000000" pitchFamily="65" charset="-120"/>
              </a:rPr>
              <a:t>回歸</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緩慢偏離並</a:t>
            </a:r>
            <a:r>
              <a:rPr lang="zh-TW" altLang="zh-TW" dirty="0" smtClean="0">
                <a:latin typeface="標楷體" panose="03000509000000000000" pitchFamily="65" charset="-120"/>
                <a:ea typeface="標楷體" panose="03000509000000000000" pitchFamily="65" charset="-120"/>
              </a:rPr>
              <a:t>回歸</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快速</a:t>
            </a:r>
            <a:r>
              <a:rPr lang="zh-TW" altLang="zh-TW" dirty="0" smtClean="0">
                <a:latin typeface="標楷體" panose="03000509000000000000" pitchFamily="65" charset="-120"/>
                <a:ea typeface="標楷體" panose="03000509000000000000" pitchFamily="65" charset="-120"/>
              </a:rPr>
              <a:t>偏離</a:t>
            </a:r>
            <a:endParaRPr lang="en-US" altLang="zh-TW" dirty="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緩慢</a:t>
            </a:r>
            <a:r>
              <a:rPr lang="zh-TW" altLang="zh-TW" dirty="0" smtClean="0">
                <a:latin typeface="標楷體" panose="03000509000000000000" pitchFamily="65" charset="-120"/>
                <a:ea typeface="標楷體" panose="03000509000000000000" pitchFamily="65" charset="-120"/>
              </a:rPr>
              <a:t>偏離</a:t>
            </a:r>
            <a:endParaRPr lang="en-US" altLang="zh-TW" dirty="0" smtClean="0">
              <a:latin typeface="標楷體" panose="03000509000000000000" pitchFamily="65" charset="-120"/>
              <a:ea typeface="標楷體" panose="03000509000000000000" pitchFamily="65" charset="-120"/>
            </a:endParaRPr>
          </a:p>
          <a:p>
            <a:pPr lvl="1"/>
            <a:endParaRPr lang="en-US" altLang="zh-TW" dirty="0" smtClean="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1621497768"/>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12" name="圖片 11"/>
          <p:cNvPicPr/>
          <p:nvPr/>
        </p:nvPicPr>
        <p:blipFill>
          <a:blip r:embed="rId3"/>
          <a:stretch>
            <a:fillRect/>
          </a:stretch>
        </p:blipFill>
        <p:spPr>
          <a:xfrm>
            <a:off x="622852" y="456810"/>
            <a:ext cx="5148000" cy="2880000"/>
          </a:xfrm>
          <a:prstGeom prst="rect">
            <a:avLst/>
          </a:prstGeom>
        </p:spPr>
      </p:pic>
      <p:pic>
        <p:nvPicPr>
          <p:cNvPr id="13" name="圖片 12"/>
          <p:cNvPicPr/>
          <p:nvPr/>
        </p:nvPicPr>
        <p:blipFill>
          <a:blip r:embed="rId4"/>
          <a:stretch>
            <a:fillRect/>
          </a:stretch>
        </p:blipFill>
        <p:spPr>
          <a:xfrm>
            <a:off x="6286047" y="456810"/>
            <a:ext cx="5148000" cy="2880000"/>
          </a:xfrm>
          <a:prstGeom prst="rect">
            <a:avLst/>
          </a:prstGeom>
        </p:spPr>
      </p:pic>
      <p:pic>
        <p:nvPicPr>
          <p:cNvPr id="14" name="圖片 13"/>
          <p:cNvPicPr/>
          <p:nvPr/>
        </p:nvPicPr>
        <p:blipFill>
          <a:blip r:embed="rId5"/>
          <a:stretch>
            <a:fillRect/>
          </a:stretch>
        </p:blipFill>
        <p:spPr>
          <a:xfrm>
            <a:off x="622852" y="3567405"/>
            <a:ext cx="5148000" cy="2880000"/>
          </a:xfrm>
          <a:prstGeom prst="rect">
            <a:avLst/>
          </a:prstGeom>
        </p:spPr>
      </p:pic>
      <p:pic>
        <p:nvPicPr>
          <p:cNvPr id="15" name="圖片 14"/>
          <p:cNvPicPr/>
          <p:nvPr/>
        </p:nvPicPr>
        <p:blipFill>
          <a:blip r:embed="rId6"/>
          <a:stretch>
            <a:fillRect/>
          </a:stretch>
        </p:blipFill>
        <p:spPr>
          <a:xfrm>
            <a:off x="6286047" y="3567405"/>
            <a:ext cx="5148000" cy="2880000"/>
          </a:xfrm>
          <a:prstGeom prst="rect">
            <a:avLst/>
          </a:prstGeom>
        </p:spPr>
      </p:pic>
    </p:spTree>
    <p:extLst>
      <p:ext uri="{BB962C8B-B14F-4D97-AF65-F5344CB8AC3E}">
        <p14:creationId xmlns:p14="http://schemas.microsoft.com/office/powerpoint/2010/main" val="3826006648"/>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圖片 6"/>
          <p:cNvPicPr/>
          <p:nvPr/>
        </p:nvPicPr>
        <p:blipFill>
          <a:blip r:embed="rId3"/>
          <a:stretch>
            <a:fillRect/>
          </a:stretch>
        </p:blipFill>
        <p:spPr>
          <a:xfrm>
            <a:off x="693139" y="918549"/>
            <a:ext cx="5148580" cy="2879725"/>
          </a:xfrm>
          <a:prstGeom prst="rect">
            <a:avLst/>
          </a:prstGeom>
        </p:spPr>
      </p:pic>
      <p:pic>
        <p:nvPicPr>
          <p:cNvPr id="8" name="圖片 7"/>
          <p:cNvPicPr/>
          <p:nvPr/>
        </p:nvPicPr>
        <p:blipFill>
          <a:blip r:embed="rId4"/>
          <a:stretch>
            <a:fillRect/>
          </a:stretch>
        </p:blipFill>
        <p:spPr>
          <a:xfrm>
            <a:off x="6282016" y="918548"/>
            <a:ext cx="5148000" cy="2879725"/>
          </a:xfrm>
          <a:prstGeom prst="rect">
            <a:avLst/>
          </a:prstGeom>
        </p:spPr>
      </p:pic>
      <p:pic>
        <p:nvPicPr>
          <p:cNvPr id="10" name="圖片 9"/>
          <p:cNvPicPr/>
          <p:nvPr/>
        </p:nvPicPr>
        <p:blipFill>
          <a:blip r:embed="rId5"/>
          <a:stretch>
            <a:fillRect/>
          </a:stretch>
        </p:blipFill>
        <p:spPr>
          <a:xfrm>
            <a:off x="693139" y="3798275"/>
            <a:ext cx="5148000" cy="2879725"/>
          </a:xfrm>
          <a:prstGeom prst="rect">
            <a:avLst/>
          </a:prstGeom>
        </p:spPr>
      </p:pic>
      <p:pic>
        <p:nvPicPr>
          <p:cNvPr id="11" name="圖片 10"/>
          <p:cNvPicPr/>
          <p:nvPr/>
        </p:nvPicPr>
        <p:blipFill>
          <a:blip r:embed="rId6"/>
          <a:stretch>
            <a:fillRect/>
          </a:stretch>
        </p:blipFill>
        <p:spPr>
          <a:xfrm>
            <a:off x="6282016" y="3798274"/>
            <a:ext cx="5148000" cy="2879725"/>
          </a:xfrm>
          <a:prstGeom prst="rect">
            <a:avLst/>
          </a:prstGeom>
        </p:spPr>
      </p:pic>
      <p:sp>
        <p:nvSpPr>
          <p:cNvPr id="12" name="標題 1"/>
          <p:cNvSpPr>
            <a:spLocks noGrp="1"/>
          </p:cNvSpPr>
          <p:nvPr>
            <p:ph type="title"/>
          </p:nvPr>
        </p:nvSpPr>
        <p:spPr>
          <a:xfrm>
            <a:off x="838200" y="266868"/>
            <a:ext cx="10515600" cy="564811"/>
          </a:xfrm>
        </p:spPr>
        <p:txBody>
          <a:bodyPr>
            <a:normAutofit/>
          </a:bodyPr>
          <a:lstStyle/>
          <a:p>
            <a:pPr algn="ctr"/>
            <a:r>
              <a:rPr lang="zh-TW" altLang="en-US" sz="3200" dirty="0">
                <a:latin typeface="標楷體" panose="03000509000000000000" pitchFamily="65" charset="-120"/>
                <a:ea typeface="標楷體" panose="03000509000000000000" pitchFamily="65" charset="-120"/>
              </a:rPr>
              <a:t>一般常態分佈</a:t>
            </a:r>
            <a:endParaRPr lang="en-US" altLang="zh-TW" sz="3200"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852121867"/>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9" name="圖片 8"/>
          <p:cNvPicPr/>
          <p:nvPr/>
        </p:nvPicPr>
        <p:blipFill>
          <a:blip r:embed="rId3"/>
          <a:stretch>
            <a:fillRect/>
          </a:stretch>
        </p:blipFill>
        <p:spPr>
          <a:xfrm>
            <a:off x="595433" y="918549"/>
            <a:ext cx="5148000" cy="2879725"/>
          </a:xfrm>
          <a:prstGeom prst="rect">
            <a:avLst/>
          </a:prstGeom>
        </p:spPr>
      </p:pic>
      <p:pic>
        <p:nvPicPr>
          <p:cNvPr id="12" name="圖片 11"/>
          <p:cNvPicPr/>
          <p:nvPr/>
        </p:nvPicPr>
        <p:blipFill>
          <a:blip r:embed="rId4"/>
          <a:stretch>
            <a:fillRect/>
          </a:stretch>
        </p:blipFill>
        <p:spPr>
          <a:xfrm>
            <a:off x="6340825" y="918549"/>
            <a:ext cx="5146040" cy="2879725"/>
          </a:xfrm>
          <a:prstGeom prst="rect">
            <a:avLst/>
          </a:prstGeom>
        </p:spPr>
      </p:pic>
      <p:pic>
        <p:nvPicPr>
          <p:cNvPr id="14" name="圖片 13"/>
          <p:cNvPicPr/>
          <p:nvPr/>
        </p:nvPicPr>
        <p:blipFill>
          <a:blip r:embed="rId5"/>
          <a:stretch>
            <a:fillRect/>
          </a:stretch>
        </p:blipFill>
        <p:spPr>
          <a:xfrm>
            <a:off x="6338865" y="3798275"/>
            <a:ext cx="5148000" cy="2879725"/>
          </a:xfrm>
          <a:prstGeom prst="rect">
            <a:avLst/>
          </a:prstGeom>
        </p:spPr>
      </p:pic>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latin typeface="標楷體" panose="03000509000000000000" pitchFamily="65" charset="-120"/>
                <a:ea typeface="標楷體" panose="03000509000000000000" pitchFamily="65" charset="-120"/>
              </a:rPr>
              <a:t>資料片段平均值與常態分佈</a:t>
            </a:r>
          </a:p>
        </p:txBody>
      </p:sp>
      <p:pic>
        <p:nvPicPr>
          <p:cNvPr id="10" name="圖片 9"/>
          <p:cNvPicPr>
            <a:picLocks noChangeAspect="1"/>
          </p:cNvPicPr>
          <p:nvPr/>
        </p:nvPicPr>
        <p:blipFill>
          <a:blip r:embed="rId6"/>
          <a:stretch>
            <a:fillRect/>
          </a:stretch>
        </p:blipFill>
        <p:spPr>
          <a:xfrm>
            <a:off x="595433" y="3798274"/>
            <a:ext cx="5148000" cy="2879571"/>
          </a:xfrm>
          <a:prstGeom prst="rect">
            <a:avLst/>
          </a:prstGeom>
        </p:spPr>
      </p:pic>
    </p:spTree>
    <p:extLst>
      <p:ext uri="{BB962C8B-B14F-4D97-AF65-F5344CB8AC3E}">
        <p14:creationId xmlns:p14="http://schemas.microsoft.com/office/powerpoint/2010/main" val="1865134767"/>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標題 1"/>
          <p:cNvSpPr>
            <a:spLocks noGrp="1"/>
          </p:cNvSpPr>
          <p:nvPr>
            <p:ph type="title"/>
          </p:nvPr>
        </p:nvSpPr>
        <p:spPr>
          <a:xfrm>
            <a:off x="838200" y="234212"/>
            <a:ext cx="10515600" cy="630125"/>
          </a:xfrm>
        </p:spPr>
        <p:txBody>
          <a:bodyPr>
            <a:normAutofit/>
          </a:bodyPr>
          <a:lstStyle/>
          <a:p>
            <a:pPr algn="ctr"/>
            <a:r>
              <a:rPr lang="en-US" altLang="zh-TW" sz="3200" dirty="0" smtClean="0">
                <a:ea typeface="標楷體" panose="03000509000000000000" pitchFamily="65" charset="-120"/>
              </a:rPr>
              <a:t>CUSUM</a:t>
            </a:r>
            <a:endParaRPr lang="zh-TW" altLang="en-US" sz="3200" dirty="0">
              <a:ea typeface="標楷體" panose="03000509000000000000" pitchFamily="65" charset="-120"/>
            </a:endParaRPr>
          </a:p>
        </p:txBody>
      </p:sp>
      <p:pic>
        <p:nvPicPr>
          <p:cNvPr id="10" name="圖片 9"/>
          <p:cNvPicPr/>
          <p:nvPr/>
        </p:nvPicPr>
        <p:blipFill>
          <a:blip r:embed="rId3"/>
          <a:stretch>
            <a:fillRect/>
          </a:stretch>
        </p:blipFill>
        <p:spPr>
          <a:xfrm>
            <a:off x="757464" y="927164"/>
            <a:ext cx="5148000" cy="2879725"/>
          </a:xfrm>
          <a:prstGeom prst="rect">
            <a:avLst/>
          </a:prstGeom>
        </p:spPr>
      </p:pic>
      <p:pic>
        <p:nvPicPr>
          <p:cNvPr id="11" name="圖片 10"/>
          <p:cNvPicPr/>
          <p:nvPr/>
        </p:nvPicPr>
        <p:blipFill>
          <a:blip r:embed="rId4"/>
          <a:stretch>
            <a:fillRect/>
          </a:stretch>
        </p:blipFill>
        <p:spPr>
          <a:xfrm>
            <a:off x="6359702" y="927164"/>
            <a:ext cx="5146040" cy="2879725"/>
          </a:xfrm>
          <a:prstGeom prst="rect">
            <a:avLst/>
          </a:prstGeom>
        </p:spPr>
      </p:pic>
      <p:pic>
        <p:nvPicPr>
          <p:cNvPr id="16" name="圖片 15"/>
          <p:cNvPicPr/>
          <p:nvPr/>
        </p:nvPicPr>
        <p:blipFill>
          <a:blip r:embed="rId5"/>
          <a:stretch>
            <a:fillRect/>
          </a:stretch>
        </p:blipFill>
        <p:spPr>
          <a:xfrm>
            <a:off x="719901" y="3798275"/>
            <a:ext cx="5148000" cy="2879725"/>
          </a:xfrm>
          <a:prstGeom prst="rect">
            <a:avLst/>
          </a:prstGeom>
        </p:spPr>
      </p:pic>
      <p:pic>
        <p:nvPicPr>
          <p:cNvPr id="17" name="圖片 16"/>
          <p:cNvPicPr/>
          <p:nvPr/>
        </p:nvPicPr>
        <p:blipFill>
          <a:blip r:embed="rId6"/>
          <a:stretch>
            <a:fillRect/>
          </a:stretch>
        </p:blipFill>
        <p:spPr>
          <a:xfrm>
            <a:off x="6322139" y="3798274"/>
            <a:ext cx="5148000" cy="2879725"/>
          </a:xfrm>
          <a:prstGeom prst="rect">
            <a:avLst/>
          </a:prstGeom>
        </p:spPr>
      </p:pic>
    </p:spTree>
    <p:extLst>
      <p:ext uri="{BB962C8B-B14F-4D97-AF65-F5344CB8AC3E}">
        <p14:creationId xmlns:p14="http://schemas.microsoft.com/office/powerpoint/2010/main" val="3931586440"/>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ea typeface="標楷體" panose="03000509000000000000" pitchFamily="65" charset="-120"/>
              </a:rPr>
              <a:t>資料片段數值與</a:t>
            </a:r>
            <a:r>
              <a:rPr lang="en-US" altLang="zh-TW" sz="3200" dirty="0">
                <a:ea typeface="標楷體" panose="03000509000000000000" pitchFamily="65" charset="-120"/>
              </a:rPr>
              <a:t>LOF</a:t>
            </a:r>
          </a:p>
        </p:txBody>
      </p:sp>
      <p:pic>
        <p:nvPicPr>
          <p:cNvPr id="9" name="圖片 8"/>
          <p:cNvPicPr/>
          <p:nvPr/>
        </p:nvPicPr>
        <p:blipFill>
          <a:blip r:embed="rId3"/>
          <a:stretch>
            <a:fillRect/>
          </a:stretch>
        </p:blipFill>
        <p:spPr>
          <a:xfrm>
            <a:off x="745484" y="918549"/>
            <a:ext cx="5148000" cy="2879725"/>
          </a:xfrm>
          <a:prstGeom prst="rect">
            <a:avLst/>
          </a:prstGeom>
        </p:spPr>
      </p:pic>
      <p:pic>
        <p:nvPicPr>
          <p:cNvPr id="12" name="圖片 11"/>
          <p:cNvPicPr/>
          <p:nvPr/>
        </p:nvPicPr>
        <p:blipFill>
          <a:blip r:embed="rId4"/>
          <a:stretch>
            <a:fillRect/>
          </a:stretch>
        </p:blipFill>
        <p:spPr>
          <a:xfrm>
            <a:off x="6468742" y="918549"/>
            <a:ext cx="5148000" cy="2879725"/>
          </a:xfrm>
          <a:prstGeom prst="rect">
            <a:avLst/>
          </a:prstGeom>
        </p:spPr>
      </p:pic>
      <p:pic>
        <p:nvPicPr>
          <p:cNvPr id="13" name="圖片 12"/>
          <p:cNvPicPr/>
          <p:nvPr/>
        </p:nvPicPr>
        <p:blipFill>
          <a:blip r:embed="rId5"/>
          <a:stretch>
            <a:fillRect/>
          </a:stretch>
        </p:blipFill>
        <p:spPr>
          <a:xfrm>
            <a:off x="745484" y="3796413"/>
            <a:ext cx="5148000" cy="2879725"/>
          </a:xfrm>
          <a:prstGeom prst="rect">
            <a:avLst/>
          </a:prstGeom>
        </p:spPr>
      </p:pic>
      <p:pic>
        <p:nvPicPr>
          <p:cNvPr id="14" name="圖片 13"/>
          <p:cNvPicPr/>
          <p:nvPr/>
        </p:nvPicPr>
        <p:blipFill>
          <a:blip r:embed="rId6"/>
          <a:stretch>
            <a:fillRect/>
          </a:stretch>
        </p:blipFill>
        <p:spPr>
          <a:xfrm>
            <a:off x="6468742" y="3796412"/>
            <a:ext cx="5148000" cy="2879725"/>
          </a:xfrm>
          <a:prstGeom prst="rect">
            <a:avLst/>
          </a:prstGeom>
        </p:spPr>
      </p:pic>
    </p:spTree>
    <p:extLst>
      <p:ext uri="{BB962C8B-B14F-4D97-AF65-F5344CB8AC3E}">
        <p14:creationId xmlns:p14="http://schemas.microsoft.com/office/powerpoint/2010/main" val="906584245"/>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ea typeface="標楷體" panose="03000509000000000000" pitchFamily="65" charset="-120"/>
              </a:rPr>
              <a:t>資料片段平均值、標準差與</a:t>
            </a:r>
            <a:r>
              <a:rPr lang="en-US" altLang="zh-TW" sz="3200" dirty="0">
                <a:ea typeface="標楷體" panose="03000509000000000000" pitchFamily="65" charset="-120"/>
              </a:rPr>
              <a:t>LOF</a:t>
            </a:r>
          </a:p>
        </p:txBody>
      </p:sp>
      <p:pic>
        <p:nvPicPr>
          <p:cNvPr id="10" name="圖片 9"/>
          <p:cNvPicPr/>
          <p:nvPr/>
        </p:nvPicPr>
        <p:blipFill>
          <a:blip r:embed="rId3"/>
          <a:stretch>
            <a:fillRect/>
          </a:stretch>
        </p:blipFill>
        <p:spPr>
          <a:xfrm>
            <a:off x="734982" y="918550"/>
            <a:ext cx="5148000" cy="2879725"/>
          </a:xfrm>
          <a:prstGeom prst="rect">
            <a:avLst/>
          </a:prstGeom>
        </p:spPr>
      </p:pic>
      <p:pic>
        <p:nvPicPr>
          <p:cNvPr id="11" name="圖片 10"/>
          <p:cNvPicPr/>
          <p:nvPr/>
        </p:nvPicPr>
        <p:blipFill>
          <a:blip r:embed="rId4"/>
          <a:stretch>
            <a:fillRect/>
          </a:stretch>
        </p:blipFill>
        <p:spPr>
          <a:xfrm>
            <a:off x="6464430" y="891444"/>
            <a:ext cx="5148000" cy="2879725"/>
          </a:xfrm>
          <a:prstGeom prst="rect">
            <a:avLst/>
          </a:prstGeom>
        </p:spPr>
      </p:pic>
      <p:pic>
        <p:nvPicPr>
          <p:cNvPr id="16" name="圖片 15"/>
          <p:cNvPicPr/>
          <p:nvPr/>
        </p:nvPicPr>
        <p:blipFill>
          <a:blip r:embed="rId5"/>
          <a:stretch>
            <a:fillRect/>
          </a:stretch>
        </p:blipFill>
        <p:spPr>
          <a:xfrm>
            <a:off x="734982" y="3771169"/>
            <a:ext cx="5148000" cy="2879725"/>
          </a:xfrm>
          <a:prstGeom prst="rect">
            <a:avLst/>
          </a:prstGeom>
        </p:spPr>
      </p:pic>
      <p:pic>
        <p:nvPicPr>
          <p:cNvPr id="17" name="圖片 16"/>
          <p:cNvPicPr/>
          <p:nvPr/>
        </p:nvPicPr>
        <p:blipFill>
          <a:blip r:embed="rId6"/>
          <a:stretch>
            <a:fillRect/>
          </a:stretch>
        </p:blipFill>
        <p:spPr>
          <a:xfrm>
            <a:off x="6464430" y="3798275"/>
            <a:ext cx="5148000" cy="2879725"/>
          </a:xfrm>
          <a:prstGeom prst="rect">
            <a:avLst/>
          </a:prstGeom>
        </p:spPr>
      </p:pic>
    </p:spTree>
    <p:extLst>
      <p:ext uri="{BB962C8B-B14F-4D97-AF65-F5344CB8AC3E}">
        <p14:creationId xmlns:p14="http://schemas.microsoft.com/office/powerpoint/2010/main" val="1806028782"/>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實驗二</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4095563492"/>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訓練</a:t>
            </a:r>
            <a:r>
              <a:rPr lang="zh-TW" altLang="en-US" sz="3200" dirty="0">
                <a:latin typeface="標楷體" panose="03000509000000000000" pitchFamily="65" charset="-120"/>
                <a:ea typeface="標楷體" panose="03000509000000000000" pitchFamily="65" charset="-120"/>
              </a:rPr>
              <a:t>數據</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內容版面配置區 6"/>
          <p:cNvPicPr>
            <a:picLocks noGrp="1"/>
          </p:cNvPicPr>
          <p:nvPr>
            <p:ph idx="1"/>
          </p:nvPr>
        </p:nvPicPr>
        <p:blipFill>
          <a:blip r:embed="rId3"/>
          <a:stretch>
            <a:fillRect/>
          </a:stretch>
        </p:blipFill>
        <p:spPr>
          <a:xfrm>
            <a:off x="2175974" y="1825625"/>
            <a:ext cx="7840051" cy="4351338"/>
          </a:xfrm>
          <a:prstGeom prst="rect">
            <a:avLst/>
          </a:prstGeom>
        </p:spPr>
      </p:pic>
    </p:spTree>
    <p:extLst>
      <p:ext uri="{BB962C8B-B14F-4D97-AF65-F5344CB8AC3E}">
        <p14:creationId xmlns:p14="http://schemas.microsoft.com/office/powerpoint/2010/main" val="1020522611"/>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訓練</a:t>
            </a:r>
            <a:r>
              <a:rPr lang="zh-TW" altLang="en-US" sz="3200" dirty="0">
                <a:latin typeface="標楷體" panose="03000509000000000000" pitchFamily="65" charset="-120"/>
                <a:ea typeface="標楷體" panose="03000509000000000000" pitchFamily="65" charset="-120"/>
              </a:rPr>
              <a:t>數據</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8" name="內容版面配置區 7"/>
          <p:cNvPicPr>
            <a:picLocks noGrp="1"/>
          </p:cNvPicPr>
          <p:nvPr>
            <p:ph idx="1"/>
          </p:nvPr>
        </p:nvPicPr>
        <p:blipFill>
          <a:blip r:embed="rId3"/>
          <a:stretch>
            <a:fillRect/>
          </a:stretch>
        </p:blipFill>
        <p:spPr>
          <a:xfrm>
            <a:off x="2176516" y="1825625"/>
            <a:ext cx="7838968" cy="4351338"/>
          </a:xfrm>
          <a:prstGeom prst="rect">
            <a:avLst/>
          </a:prstGeom>
        </p:spPr>
      </p:pic>
    </p:spTree>
    <p:extLst>
      <p:ext uri="{BB962C8B-B14F-4D97-AF65-F5344CB8AC3E}">
        <p14:creationId xmlns:p14="http://schemas.microsoft.com/office/powerpoint/2010/main" val="918199451"/>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演算法參數設</a:t>
            </a:r>
            <a:r>
              <a:rPr lang="zh-TW" altLang="en-US" sz="3200" dirty="0">
                <a:latin typeface="標楷體" panose="03000509000000000000" pitchFamily="65" charset="-120"/>
                <a:ea typeface="標楷體" panose="03000509000000000000" pitchFamily="65" charset="-120"/>
              </a:rPr>
              <a:t>定</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normAutofit/>
          </a:bodyPr>
          <a:lstStyle/>
          <a:p>
            <a:r>
              <a:rPr lang="en-US" altLang="zh-TW" dirty="0" smtClean="0"/>
              <a:t>LOF</a:t>
            </a:r>
            <a:r>
              <a:rPr lang="zh-TW" altLang="zh-TW" dirty="0" smtClean="0">
                <a:latin typeface="標楷體" panose="03000509000000000000" pitchFamily="65" charset="-120"/>
                <a:ea typeface="標楷體" panose="03000509000000000000" pitchFamily="65" charset="-120"/>
              </a:rPr>
              <a:t>方法</a:t>
            </a:r>
            <a:endParaRPr lang="en-US" altLang="zh-TW" dirty="0" smtClean="0">
              <a:latin typeface="標楷體" panose="03000509000000000000" pitchFamily="65" charset="-120"/>
              <a:ea typeface="標楷體" panose="03000509000000000000" pitchFamily="65" charset="-120"/>
            </a:endParaRPr>
          </a:p>
          <a:p>
            <a:pPr lvl="1"/>
            <a:r>
              <a:rPr lang="zh-TW" altLang="zh-TW" dirty="0" smtClean="0">
                <a:latin typeface="標楷體" panose="03000509000000000000" pitchFamily="65" charset="-120"/>
                <a:ea typeface="標楷體" panose="03000509000000000000" pitchFamily="65" charset="-120"/>
              </a:rPr>
              <a:t>視窗大小為</a:t>
            </a:r>
            <a:r>
              <a:rPr lang="en-US" altLang="zh-TW" dirty="0" smtClean="0"/>
              <a:t>8</a:t>
            </a:r>
            <a:r>
              <a:rPr lang="zh-TW" altLang="zh-TW" dirty="0" smtClean="0">
                <a:latin typeface="標楷體" panose="03000509000000000000" pitchFamily="65" charset="-120"/>
                <a:ea typeface="標楷體" panose="03000509000000000000" pitchFamily="65" charset="-120"/>
              </a:rPr>
              <a:t>筆資料</a:t>
            </a:r>
            <a:endParaRPr lang="en-US" altLang="zh-TW" dirty="0" smtClean="0">
              <a:latin typeface="標楷體" panose="03000509000000000000" pitchFamily="65" charset="-120"/>
              <a:ea typeface="標楷體" panose="03000509000000000000" pitchFamily="65" charset="-120"/>
            </a:endParaRPr>
          </a:p>
          <a:p>
            <a:pPr lvl="1"/>
            <a:r>
              <a:rPr lang="zh-TW" altLang="zh-TW" dirty="0" smtClean="0">
                <a:latin typeface="標楷體" panose="03000509000000000000" pitchFamily="65" charset="-120"/>
                <a:ea typeface="標楷體" panose="03000509000000000000" pitchFamily="65" charset="-120"/>
              </a:rPr>
              <a:t>滑動間格為</a:t>
            </a:r>
            <a:r>
              <a:rPr lang="en-US" altLang="zh-TW" dirty="0" smtClean="0"/>
              <a:t>1</a:t>
            </a:r>
            <a:r>
              <a:rPr lang="zh-TW" altLang="zh-TW" dirty="0" smtClean="0">
                <a:latin typeface="標楷體" panose="03000509000000000000" pitchFamily="65" charset="-120"/>
                <a:ea typeface="標楷體" panose="03000509000000000000" pitchFamily="65" charset="-120"/>
              </a:rPr>
              <a:t>筆資料</a:t>
            </a:r>
            <a:endParaRPr lang="en-US" altLang="zh-TW" dirty="0" smtClean="0">
              <a:latin typeface="標楷體" panose="03000509000000000000" pitchFamily="65" charset="-120"/>
              <a:ea typeface="標楷體" panose="03000509000000000000" pitchFamily="65" charset="-120"/>
            </a:endParaRPr>
          </a:p>
          <a:p>
            <a:pPr lvl="1"/>
            <a:r>
              <a:rPr lang="zh-TW" altLang="zh-TW" dirty="0" smtClean="0">
                <a:latin typeface="標楷體" panose="03000509000000000000" pitchFamily="65" charset="-120"/>
                <a:ea typeface="標楷體" panose="03000509000000000000" pitchFamily="65" charset="-120"/>
              </a:rPr>
              <a:t>判斷區域的鄰近點個數為</a:t>
            </a:r>
            <a:r>
              <a:rPr lang="en-US" altLang="zh-TW" dirty="0" smtClean="0">
                <a:ea typeface="標楷體" panose="03000509000000000000" pitchFamily="65" charset="-120"/>
              </a:rPr>
              <a:t>3</a:t>
            </a:r>
            <a:endParaRPr lang="en-US" altLang="zh-TW" dirty="0" smtClean="0"/>
          </a:p>
        </p:txBody>
      </p:sp>
    </p:spTree>
    <p:extLst>
      <p:ext uri="{BB962C8B-B14F-4D97-AF65-F5344CB8AC3E}">
        <p14:creationId xmlns:p14="http://schemas.microsoft.com/office/powerpoint/2010/main" val="4023622447"/>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實驗設計</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模擬事件類型</a:t>
            </a:r>
            <a:endParaRPr lang="en-US" altLang="zh-TW" dirty="0" smtClean="0">
              <a:latin typeface="標楷體" panose="03000509000000000000" pitchFamily="65" charset="-120"/>
              <a:ea typeface="標楷體" panose="03000509000000000000" pitchFamily="65" charset="-120"/>
            </a:endParaRPr>
          </a:p>
          <a:p>
            <a:pPr lvl="1"/>
            <a:r>
              <a:rPr lang="zh-TW" altLang="en-US" dirty="0" smtClean="0">
                <a:latin typeface="標楷體" panose="03000509000000000000" pitchFamily="65" charset="-120"/>
                <a:ea typeface="標楷體" panose="03000509000000000000" pitchFamily="65" charset="-120"/>
              </a:rPr>
              <a:t>於資料波動範圍內的單點和集體異常</a:t>
            </a:r>
            <a:endParaRPr lang="en-US" altLang="zh-TW" dirty="0" smtClean="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3148240960"/>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模擬週期</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內容版面配置區 6"/>
          <p:cNvPicPr>
            <a:picLocks noGrp="1"/>
          </p:cNvPicPr>
          <p:nvPr>
            <p:ph idx="1"/>
          </p:nvPr>
        </p:nvPicPr>
        <p:blipFill>
          <a:blip r:embed="rId3"/>
          <a:stretch>
            <a:fillRect/>
          </a:stretch>
        </p:blipFill>
        <p:spPr>
          <a:xfrm>
            <a:off x="2180886" y="1825625"/>
            <a:ext cx="7830227" cy="4351338"/>
          </a:xfrm>
          <a:prstGeom prst="rect">
            <a:avLst/>
          </a:prstGeom>
        </p:spPr>
      </p:pic>
      <p:sp>
        <p:nvSpPr>
          <p:cNvPr id="8" name="橢圓 7"/>
          <p:cNvSpPr/>
          <p:nvPr/>
        </p:nvSpPr>
        <p:spPr>
          <a:xfrm>
            <a:off x="3500438" y="2133656"/>
            <a:ext cx="360000" cy="360000"/>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橢圓 8"/>
          <p:cNvSpPr/>
          <p:nvPr/>
        </p:nvSpPr>
        <p:spPr>
          <a:xfrm>
            <a:off x="4352926" y="5443594"/>
            <a:ext cx="360000" cy="360000"/>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橢圓 9"/>
          <p:cNvSpPr/>
          <p:nvPr/>
        </p:nvSpPr>
        <p:spPr>
          <a:xfrm>
            <a:off x="6781800" y="2888692"/>
            <a:ext cx="1462088" cy="940357"/>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104893918"/>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真實資料週期</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9" name="內容版面配置區 8"/>
          <p:cNvPicPr>
            <a:picLocks noGrp="1"/>
          </p:cNvPicPr>
          <p:nvPr>
            <p:ph idx="1"/>
          </p:nvPr>
        </p:nvPicPr>
        <p:blipFill>
          <a:blip r:embed="rId3"/>
          <a:stretch>
            <a:fillRect/>
          </a:stretch>
        </p:blipFill>
        <p:spPr>
          <a:xfrm>
            <a:off x="2193394" y="1825625"/>
            <a:ext cx="7805212" cy="4351338"/>
          </a:xfrm>
          <a:prstGeom prst="rect">
            <a:avLst/>
          </a:prstGeom>
        </p:spPr>
      </p:pic>
      <p:sp>
        <p:nvSpPr>
          <p:cNvPr id="10" name="橢圓 9"/>
          <p:cNvSpPr/>
          <p:nvPr/>
        </p:nvSpPr>
        <p:spPr>
          <a:xfrm>
            <a:off x="3914776" y="2762306"/>
            <a:ext cx="360000" cy="360000"/>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橢圓 10"/>
          <p:cNvSpPr/>
          <p:nvPr/>
        </p:nvSpPr>
        <p:spPr>
          <a:xfrm>
            <a:off x="5629275" y="4987312"/>
            <a:ext cx="360000" cy="360000"/>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橢圓 11"/>
          <p:cNvSpPr/>
          <p:nvPr/>
        </p:nvSpPr>
        <p:spPr>
          <a:xfrm>
            <a:off x="7258051" y="3641293"/>
            <a:ext cx="1285874" cy="687819"/>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473038325"/>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ea typeface="標楷體" panose="03000509000000000000" pitchFamily="65" charset="-120"/>
              </a:rPr>
              <a:t>資料片段數值與</a:t>
            </a:r>
            <a:r>
              <a:rPr lang="en-US" altLang="zh-TW" sz="3200" dirty="0">
                <a:ea typeface="標楷體" panose="03000509000000000000" pitchFamily="65" charset="-120"/>
              </a:rPr>
              <a:t>LOF</a:t>
            </a:r>
          </a:p>
        </p:txBody>
      </p:sp>
      <p:pic>
        <p:nvPicPr>
          <p:cNvPr id="11" name="內容版面配置區 5"/>
          <p:cNvPicPr>
            <a:picLocks/>
          </p:cNvPicPr>
          <p:nvPr/>
        </p:nvPicPr>
        <p:blipFill>
          <a:blip r:embed="rId3"/>
          <a:stretch>
            <a:fillRect/>
          </a:stretch>
        </p:blipFill>
        <p:spPr>
          <a:xfrm>
            <a:off x="6072000" y="3438000"/>
            <a:ext cx="6120000" cy="3240000"/>
          </a:xfrm>
          <a:prstGeom prst="rect">
            <a:avLst/>
          </a:prstGeom>
        </p:spPr>
      </p:pic>
      <p:pic>
        <p:nvPicPr>
          <p:cNvPr id="10" name="內容版面配置區 6"/>
          <p:cNvPicPr>
            <a:picLocks noGrp="1"/>
          </p:cNvPicPr>
          <p:nvPr>
            <p:ph idx="1"/>
          </p:nvPr>
        </p:nvPicPr>
        <p:blipFill>
          <a:blip r:embed="rId4"/>
          <a:stretch>
            <a:fillRect/>
          </a:stretch>
        </p:blipFill>
        <p:spPr>
          <a:xfrm>
            <a:off x="0" y="864337"/>
            <a:ext cx="6120000" cy="3240000"/>
          </a:xfrm>
          <a:prstGeom prst="rect">
            <a:avLst/>
          </a:prstGeom>
        </p:spPr>
      </p:pic>
    </p:spTree>
    <p:extLst>
      <p:ext uri="{BB962C8B-B14F-4D97-AF65-F5344CB8AC3E}">
        <p14:creationId xmlns:p14="http://schemas.microsoft.com/office/powerpoint/2010/main" val="3754105635"/>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ea typeface="標楷體" panose="03000509000000000000" pitchFamily="65" charset="-120"/>
              </a:rPr>
              <a:t>資料片段平均值、標準差與</a:t>
            </a:r>
            <a:r>
              <a:rPr lang="en-US" altLang="zh-TW" sz="3200" dirty="0">
                <a:ea typeface="標楷體" panose="03000509000000000000" pitchFamily="65" charset="-120"/>
              </a:rPr>
              <a:t>LOF</a:t>
            </a:r>
          </a:p>
        </p:txBody>
      </p:sp>
      <p:pic>
        <p:nvPicPr>
          <p:cNvPr id="12" name="內容版面配置區 8"/>
          <p:cNvPicPr>
            <a:picLocks/>
          </p:cNvPicPr>
          <p:nvPr/>
        </p:nvPicPr>
        <p:blipFill>
          <a:blip r:embed="rId3"/>
          <a:stretch>
            <a:fillRect/>
          </a:stretch>
        </p:blipFill>
        <p:spPr>
          <a:xfrm>
            <a:off x="6072000" y="3438000"/>
            <a:ext cx="6120000" cy="3240000"/>
          </a:xfrm>
          <a:prstGeom prst="rect">
            <a:avLst/>
          </a:prstGeom>
        </p:spPr>
      </p:pic>
      <p:pic>
        <p:nvPicPr>
          <p:cNvPr id="9" name="內容版面配置區 7"/>
          <p:cNvPicPr>
            <a:picLocks noGrp="1"/>
          </p:cNvPicPr>
          <p:nvPr>
            <p:ph idx="1"/>
          </p:nvPr>
        </p:nvPicPr>
        <p:blipFill>
          <a:blip r:embed="rId4"/>
          <a:stretch>
            <a:fillRect/>
          </a:stretch>
        </p:blipFill>
        <p:spPr>
          <a:xfrm>
            <a:off x="0" y="864337"/>
            <a:ext cx="6120000" cy="3240000"/>
          </a:xfrm>
          <a:prstGeom prst="rect">
            <a:avLst/>
          </a:prstGeom>
        </p:spPr>
      </p:pic>
    </p:spTree>
    <p:extLst>
      <p:ext uri="{BB962C8B-B14F-4D97-AF65-F5344CB8AC3E}">
        <p14:creationId xmlns:p14="http://schemas.microsoft.com/office/powerpoint/2010/main" val="3251652985"/>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結論</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681769630"/>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a:t>Threshold</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直接設定門檻值的方法適用於明確知道資料正常範圍的</a:t>
            </a:r>
            <a:r>
              <a:rPr lang="zh-TW" altLang="zh-TW" dirty="0" smtClean="0">
                <a:latin typeface="標楷體" panose="03000509000000000000" pitchFamily="65" charset="-120"/>
                <a:ea typeface="標楷體" panose="03000509000000000000" pitchFamily="65" charset="-120"/>
              </a:rPr>
              <a:t>應用</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異常事件一定會造成資料偏移至正常範圍</a:t>
            </a:r>
            <a:r>
              <a:rPr lang="zh-TW" altLang="zh-TW" dirty="0" smtClean="0">
                <a:latin typeface="標楷體" panose="03000509000000000000" pitchFamily="65" charset="-120"/>
                <a:ea typeface="標楷體" panose="03000509000000000000" pitchFamily="65" charset="-120"/>
              </a:rPr>
              <a:t>之外</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偵測反應快速、不會造成</a:t>
            </a:r>
            <a:r>
              <a:rPr lang="zh-TW" altLang="zh-TW" dirty="0" smtClean="0">
                <a:latin typeface="標楷體" panose="03000509000000000000" pitchFamily="65" charset="-120"/>
                <a:ea typeface="標楷體" panose="03000509000000000000" pitchFamily="65" charset="-120"/>
              </a:rPr>
              <a:t>誤判</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無法適應任何狀態的改變，每次使用時都要自己指定明確的門檻</a:t>
            </a:r>
            <a:r>
              <a:rPr lang="zh-TW" altLang="zh-TW" dirty="0" smtClean="0">
                <a:latin typeface="標楷體" panose="03000509000000000000" pitchFamily="65" charset="-120"/>
                <a:ea typeface="標楷體" panose="03000509000000000000" pitchFamily="65" charset="-120"/>
              </a:rPr>
              <a:t>範圍</a:t>
            </a:r>
            <a:endParaRPr lang="zh-TW" altLang="en-US"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3566288296"/>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a:t>Normal Distribution</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適用於不確定正常範圍的</a:t>
            </a:r>
            <a:r>
              <a:rPr lang="zh-TW" altLang="zh-TW" dirty="0" smtClean="0">
                <a:latin typeface="標楷體" panose="03000509000000000000" pitchFamily="65" charset="-120"/>
                <a:ea typeface="標楷體" panose="03000509000000000000" pitchFamily="65" charset="-120"/>
              </a:rPr>
              <a:t>應用</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異常事件會使資料偏移到正常範圍</a:t>
            </a:r>
            <a:r>
              <a:rPr lang="zh-TW" altLang="zh-TW" dirty="0" smtClean="0">
                <a:latin typeface="標楷體" panose="03000509000000000000" pitchFamily="65" charset="-120"/>
                <a:ea typeface="標楷體" panose="03000509000000000000" pitchFamily="65" charset="-120"/>
              </a:rPr>
              <a:t>之外</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如果資料數值相近容易造成很小的標準差，使用很小的標準差當作判斷正常資料的範圍，很可能會造成異常</a:t>
            </a:r>
            <a:r>
              <a:rPr lang="zh-TW" altLang="zh-TW" dirty="0" smtClean="0">
                <a:latin typeface="標楷體" panose="03000509000000000000" pitchFamily="65" charset="-120"/>
                <a:ea typeface="標楷體" panose="03000509000000000000" pitchFamily="65" charset="-120"/>
              </a:rPr>
              <a:t>誤判</a:t>
            </a:r>
            <a:endParaRPr lang="zh-TW" altLang="en-US"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2521758529"/>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a:t>Data Segment’s Average with Normal Distribution</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為了避免取得的平均值彼此相近，而產生過小的標準差，視窗轉換使用較大的滑動</a:t>
            </a:r>
            <a:r>
              <a:rPr lang="zh-TW" altLang="zh-TW" dirty="0" smtClean="0">
                <a:latin typeface="標楷體" panose="03000509000000000000" pitchFamily="65" charset="-120"/>
                <a:ea typeface="標楷體" panose="03000509000000000000" pitchFamily="65" charset="-120"/>
              </a:rPr>
              <a:t>間隔</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讓視窗內維持的相同資料較少，在原始資料發生改變的情況下，才可以產生具有差異性的資料</a:t>
            </a:r>
            <a:r>
              <a:rPr lang="zh-TW" altLang="zh-TW" dirty="0" smtClean="0">
                <a:latin typeface="標楷體" panose="03000509000000000000" pitchFamily="65" charset="-120"/>
                <a:ea typeface="標楷體" panose="03000509000000000000" pitchFamily="65" charset="-120"/>
              </a:rPr>
              <a:t>點</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由於設計的關係需要取用較大的視窗滑動間隔，造成對異常事件的反應較慢</a:t>
            </a:r>
            <a:endParaRPr lang="zh-TW" altLang="en-US"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2630003222"/>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a:t>CUSUM</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改善了單純使用一般常態分佈時，小的標準差容易造成誤判的</a:t>
            </a:r>
            <a:r>
              <a:rPr lang="zh-TW" altLang="zh-TW" dirty="0" smtClean="0">
                <a:latin typeface="標楷體" panose="03000509000000000000" pitchFamily="65" charset="-120"/>
                <a:ea typeface="標楷體" panose="03000509000000000000" pitchFamily="65" charset="-120"/>
              </a:rPr>
              <a:t>問題</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除非偏離的量非常大，否則都要經過演算法累加的過程，觀察連續的資料偏移行為後才確認異常</a:t>
            </a:r>
            <a:r>
              <a:rPr lang="zh-TW" altLang="zh-TW" dirty="0" smtClean="0">
                <a:latin typeface="標楷體" panose="03000509000000000000" pitchFamily="65" charset="-120"/>
                <a:ea typeface="標楷體" panose="03000509000000000000" pitchFamily="65" charset="-120"/>
              </a:rPr>
              <a:t>狀態</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演算法內的機制在回報異常後會清空累加的值，因此只要下一筆資料偏差不會直接造成累加超過門檻，就有機會將下一筆資料加入常態分佈中</a:t>
            </a:r>
            <a:r>
              <a:rPr lang="zh-TW" altLang="zh-TW" dirty="0" smtClean="0">
                <a:latin typeface="標楷體" panose="03000509000000000000" pitchFamily="65" charset="-120"/>
                <a:ea typeface="標楷體" panose="03000509000000000000" pitchFamily="65" charset="-120"/>
              </a:rPr>
              <a:t>運算</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在一定程度內對情境改變的適應能力</a:t>
            </a:r>
            <a:endParaRPr lang="zh-TW" altLang="en-US"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2913790732"/>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a:t>Data Segments with LOF Algorithm</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可以</a:t>
            </a:r>
            <a:r>
              <a:rPr lang="zh-TW" altLang="zh-TW" dirty="0" smtClean="0">
                <a:latin typeface="標楷體" panose="03000509000000000000" pitchFamily="65" charset="-120"/>
                <a:ea typeface="標楷體" panose="03000509000000000000" pitchFamily="65" charset="-120"/>
              </a:rPr>
              <a:t>判斷與</a:t>
            </a:r>
            <a:r>
              <a:rPr lang="zh-TW" altLang="zh-TW" dirty="0">
                <a:latin typeface="標楷體" panose="03000509000000000000" pitchFamily="65" charset="-120"/>
                <a:ea typeface="標楷體" panose="03000509000000000000" pitchFamily="65" charset="-120"/>
              </a:rPr>
              <a:t>歷史模型不同的資料</a:t>
            </a:r>
            <a:r>
              <a:rPr lang="zh-TW" altLang="zh-TW" dirty="0" smtClean="0">
                <a:latin typeface="標楷體" panose="03000509000000000000" pitchFamily="65" charset="-120"/>
                <a:ea typeface="標楷體" panose="03000509000000000000" pitchFamily="65" charset="-120"/>
              </a:rPr>
              <a:t>狀態</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演算法判斷異常的門檻在原始論文中的定義，是密度函式的比值顯著大於</a:t>
            </a:r>
            <a:r>
              <a:rPr lang="en-US" altLang="zh-TW" dirty="0" smtClean="0">
                <a:latin typeface="標楷體" panose="03000509000000000000" pitchFamily="65" charset="-120"/>
                <a:ea typeface="標楷體" panose="03000509000000000000" pitchFamily="65" charset="-120"/>
              </a:rPr>
              <a:t>1</a:t>
            </a:r>
            <a:endParaRPr lang="en-US" altLang="zh-TW" dirty="0">
              <a:latin typeface="標楷體" panose="03000509000000000000" pitchFamily="65" charset="-120"/>
              <a:ea typeface="標楷體" panose="03000509000000000000" pitchFamily="65" charset="-120"/>
            </a:endParaRPr>
          </a:p>
          <a:p>
            <a:r>
              <a:rPr lang="zh-TW" altLang="zh-TW" dirty="0" smtClean="0">
                <a:latin typeface="標楷體" panose="03000509000000000000" pitchFamily="65" charset="-120"/>
                <a:ea typeface="標楷體" panose="03000509000000000000" pitchFamily="65" charset="-120"/>
              </a:rPr>
              <a:t>如果</a:t>
            </a:r>
            <a:r>
              <a:rPr lang="zh-TW" altLang="zh-TW" dirty="0">
                <a:latin typeface="標楷體" panose="03000509000000000000" pitchFamily="65" charset="-120"/>
                <a:ea typeface="標楷體" panose="03000509000000000000" pitchFamily="65" charset="-120"/>
              </a:rPr>
              <a:t>應用能更接受小量的資料變動，那可以取大一點的</a:t>
            </a:r>
            <a:r>
              <a:rPr lang="zh-TW" altLang="zh-TW" dirty="0" smtClean="0">
                <a:latin typeface="標楷體" panose="03000509000000000000" pitchFamily="65" charset="-120"/>
                <a:ea typeface="標楷體" panose="03000509000000000000" pitchFamily="65" charset="-120"/>
              </a:rPr>
              <a:t>比值</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如果應用需要感測小量變動，就需要</a:t>
            </a:r>
            <a:r>
              <a:rPr lang="zh-TW" altLang="zh-TW" dirty="0" smtClean="0">
                <a:latin typeface="標楷體" panose="03000509000000000000" pitchFamily="65" charset="-120"/>
                <a:ea typeface="標楷體" panose="03000509000000000000" pitchFamily="65" charset="-120"/>
              </a:rPr>
              <a:t>使用</a:t>
            </a:r>
            <a:r>
              <a:rPr lang="zh-TW" altLang="en-US" dirty="0" smtClean="0">
                <a:latin typeface="標楷體" panose="03000509000000000000" pitchFamily="65" charset="-120"/>
                <a:ea typeface="標楷體" panose="03000509000000000000" pitchFamily="65" charset="-120"/>
              </a:rPr>
              <a:t>小一</a:t>
            </a:r>
            <a:r>
              <a:rPr lang="zh-TW" altLang="en-US" dirty="0">
                <a:latin typeface="標楷體" panose="03000509000000000000" pitchFamily="65" charset="-120"/>
                <a:ea typeface="標楷體" panose="03000509000000000000" pitchFamily="65" charset="-120"/>
              </a:rPr>
              <a:t>點</a:t>
            </a:r>
            <a:r>
              <a:rPr lang="zh-TW" altLang="zh-TW" dirty="0" smtClean="0">
                <a:latin typeface="標楷體" panose="03000509000000000000" pitchFamily="65" charset="-120"/>
                <a:ea typeface="標楷體" panose="03000509000000000000" pitchFamily="65" charset="-120"/>
              </a:rPr>
              <a:t>的</a:t>
            </a:r>
            <a:r>
              <a:rPr lang="zh-TW" altLang="zh-TW" dirty="0">
                <a:latin typeface="標楷體" panose="03000509000000000000" pitchFamily="65" charset="-120"/>
                <a:ea typeface="標楷體" panose="03000509000000000000" pitchFamily="65" charset="-120"/>
              </a:rPr>
              <a:t>比值</a:t>
            </a:r>
            <a:endParaRPr lang="zh-TW" altLang="en-US"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3159648423"/>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a:t>Data Segment’s Standard Deviation and Average with LOF Algorithm</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可以</a:t>
            </a:r>
            <a:r>
              <a:rPr lang="zh-TW" altLang="zh-TW" dirty="0" smtClean="0">
                <a:latin typeface="標楷體" panose="03000509000000000000" pitchFamily="65" charset="-120"/>
                <a:ea typeface="標楷體" panose="03000509000000000000" pitchFamily="65" charset="-120"/>
              </a:rPr>
              <a:t>判斷與歷史</a:t>
            </a:r>
            <a:r>
              <a:rPr lang="zh-TW" altLang="en-US" dirty="0" smtClean="0">
                <a:latin typeface="標楷體" panose="03000509000000000000" pitchFamily="65" charset="-120"/>
                <a:ea typeface="標楷體" panose="03000509000000000000" pitchFamily="65" charset="-120"/>
              </a:rPr>
              <a:t>特</a:t>
            </a:r>
            <a:r>
              <a:rPr lang="zh-TW" altLang="en-US" dirty="0">
                <a:latin typeface="標楷體" panose="03000509000000000000" pitchFamily="65" charset="-120"/>
                <a:ea typeface="標楷體" panose="03000509000000000000" pitchFamily="65" charset="-120"/>
              </a:rPr>
              <a:t>性</a:t>
            </a:r>
            <a:r>
              <a:rPr lang="zh-TW" altLang="zh-TW" dirty="0" smtClean="0">
                <a:latin typeface="標楷體" panose="03000509000000000000" pitchFamily="65" charset="-120"/>
                <a:ea typeface="標楷體" panose="03000509000000000000" pitchFamily="65" charset="-120"/>
              </a:rPr>
              <a:t>不同的</a:t>
            </a:r>
            <a:r>
              <a:rPr lang="zh-TW" altLang="en-US" dirty="0" smtClean="0">
                <a:latin typeface="標楷體" panose="03000509000000000000" pitchFamily="65" charset="-120"/>
                <a:ea typeface="標楷體" panose="03000509000000000000" pitchFamily="65" charset="-120"/>
              </a:rPr>
              <a:t>區段</a:t>
            </a:r>
            <a:r>
              <a:rPr lang="zh-TW" altLang="zh-TW" dirty="0" smtClean="0">
                <a:latin typeface="標楷體" panose="03000509000000000000" pitchFamily="65" charset="-120"/>
                <a:ea typeface="標楷體" panose="03000509000000000000" pitchFamily="65" charset="-120"/>
              </a:rPr>
              <a:t>資料</a:t>
            </a:r>
            <a:r>
              <a:rPr lang="zh-TW" altLang="en-US" dirty="0" smtClean="0">
                <a:latin typeface="標楷體" panose="03000509000000000000" pitchFamily="65" charset="-120"/>
                <a:ea typeface="標楷體" panose="03000509000000000000" pitchFamily="65" charset="-120"/>
              </a:rPr>
              <a:t>特徵</a:t>
            </a:r>
            <a:endParaRPr lang="en-US" altLang="zh-TW" dirty="0" smtClean="0"/>
          </a:p>
          <a:p>
            <a:r>
              <a:rPr lang="zh-TW" altLang="zh-TW" dirty="0" smtClean="0">
                <a:latin typeface="標楷體" panose="03000509000000000000" pitchFamily="65" charset="-120"/>
                <a:ea typeface="標楷體" panose="03000509000000000000" pitchFamily="65" charset="-120"/>
              </a:rPr>
              <a:t>從</a:t>
            </a:r>
            <a:r>
              <a:rPr lang="zh-TW" altLang="zh-TW" dirty="0">
                <a:latin typeface="標楷體" panose="03000509000000000000" pitchFamily="65" charset="-120"/>
                <a:ea typeface="標楷體" panose="03000509000000000000" pitchFamily="65" charset="-120"/>
              </a:rPr>
              <a:t>實驗結果得知被誤判為異常的資料點，其比值分數皆為</a:t>
            </a:r>
            <a:r>
              <a:rPr lang="en-US" altLang="zh-TW" dirty="0">
                <a:latin typeface="標楷體" panose="03000509000000000000" pitchFamily="65" charset="-120"/>
                <a:ea typeface="標楷體" panose="03000509000000000000" pitchFamily="65" charset="-120"/>
              </a:rPr>
              <a:t>2</a:t>
            </a:r>
            <a:r>
              <a:rPr lang="zh-TW" altLang="zh-TW" dirty="0">
                <a:latin typeface="標楷體" panose="03000509000000000000" pitchFamily="65" charset="-120"/>
                <a:ea typeface="標楷體" panose="03000509000000000000" pitchFamily="65" charset="-120"/>
              </a:rPr>
              <a:t>至</a:t>
            </a:r>
            <a:r>
              <a:rPr lang="en-US" altLang="zh-TW" dirty="0">
                <a:latin typeface="標楷體" panose="03000509000000000000" pitchFamily="65" charset="-120"/>
                <a:ea typeface="標楷體" panose="03000509000000000000" pitchFamily="65" charset="-120"/>
              </a:rPr>
              <a:t>3</a:t>
            </a:r>
            <a:r>
              <a:rPr lang="zh-TW" altLang="zh-TW" dirty="0">
                <a:latin typeface="標楷體" panose="03000509000000000000" pitchFamily="65" charset="-120"/>
                <a:ea typeface="標楷體" panose="03000509000000000000" pitchFamily="65" charset="-120"/>
              </a:rPr>
              <a:t>之間。所以在本實驗設定的情境下如果將異常門檻提高至</a:t>
            </a:r>
            <a:r>
              <a:rPr lang="en-US" altLang="zh-TW" dirty="0">
                <a:latin typeface="標楷體" panose="03000509000000000000" pitchFamily="65" charset="-120"/>
                <a:ea typeface="標楷體" panose="03000509000000000000" pitchFamily="65" charset="-120"/>
              </a:rPr>
              <a:t>3</a:t>
            </a:r>
            <a:r>
              <a:rPr lang="zh-TW" altLang="zh-TW" dirty="0">
                <a:latin typeface="標楷體" panose="03000509000000000000" pitchFamily="65" charset="-120"/>
                <a:ea typeface="標楷體" panose="03000509000000000000" pitchFamily="65" charset="-120"/>
              </a:rPr>
              <a:t>，就能有效減低誤判的機率。但於實際應用中仍需小心定義此比值的</a:t>
            </a:r>
            <a:r>
              <a:rPr lang="zh-TW" altLang="zh-TW" dirty="0" smtClean="0">
                <a:latin typeface="標楷體" panose="03000509000000000000" pitchFamily="65" charset="-120"/>
                <a:ea typeface="標楷體" panose="03000509000000000000" pitchFamily="65" charset="-120"/>
              </a:rPr>
              <a:t>大小</a:t>
            </a:r>
            <a:endParaRPr lang="zh-TW" altLang="zh-TW" dirty="0">
              <a:latin typeface="標楷體" panose="03000509000000000000" pitchFamily="65" charset="-120"/>
              <a:ea typeface="標楷體" panose="03000509000000000000" pitchFamily="65" charset="-120"/>
            </a:endParaRPr>
          </a:p>
          <a:p>
            <a:endParaRPr lang="zh-TW" altLang="en-US"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3281389430"/>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18915</TotalTime>
  <Words>2154</Words>
  <Application>Microsoft Office PowerPoint</Application>
  <PresentationFormat>寬螢幕</PresentationFormat>
  <Paragraphs>300</Paragraphs>
  <Slides>51</Slides>
  <Notes>51</Notes>
  <HiddenSlides>0</HiddenSlides>
  <MMClips>0</MMClips>
  <ScaleCrop>false</ScaleCrop>
  <HeadingPairs>
    <vt:vector size="6" baseType="variant">
      <vt:variant>
        <vt:lpstr>使用字型</vt:lpstr>
      </vt:variant>
      <vt:variant>
        <vt:i4>7</vt:i4>
      </vt:variant>
      <vt:variant>
        <vt:lpstr>佈景主題</vt:lpstr>
      </vt:variant>
      <vt:variant>
        <vt:i4>1</vt:i4>
      </vt:variant>
      <vt:variant>
        <vt:lpstr>投影片標題</vt:lpstr>
      </vt:variant>
      <vt:variant>
        <vt:i4>51</vt:i4>
      </vt:variant>
    </vt:vector>
  </HeadingPairs>
  <TitlesOfParts>
    <vt:vector size="59" baseType="lpstr">
      <vt:lpstr>新細明體</vt:lpstr>
      <vt:lpstr>標楷體</vt:lpstr>
      <vt:lpstr>Arial</vt:lpstr>
      <vt:lpstr>Calibri</vt:lpstr>
      <vt:lpstr>Calibri Light</vt:lpstr>
      <vt:lpstr>Cambria Math</vt:lpstr>
      <vt:lpstr>Times New Roman</vt:lpstr>
      <vt:lpstr>Office 佈景主題</vt:lpstr>
      <vt:lpstr>IoT整合管理平台之異常檢測和事件警報系統</vt:lpstr>
      <vt:lpstr>Outline</vt:lpstr>
      <vt:lpstr>研究動機與目的</vt:lpstr>
      <vt:lpstr>智慧城市</vt:lpstr>
      <vt:lpstr>資料共享</vt:lpstr>
      <vt:lpstr>資料分析</vt:lpstr>
      <vt:lpstr>相關議題</vt:lpstr>
      <vt:lpstr>感測數據分析</vt:lpstr>
      <vt:lpstr>何謂異常</vt:lpstr>
      <vt:lpstr>異常的種類</vt:lpstr>
      <vt:lpstr>單點異常</vt:lpstr>
      <vt:lpstr>集體異常</vt:lpstr>
      <vt:lpstr>條件式異常</vt:lpstr>
      <vt:lpstr>異常偵測的方法</vt:lpstr>
      <vt:lpstr>分類</vt:lpstr>
      <vt:lpstr>分群</vt:lpstr>
      <vt:lpstr>鄰近點</vt:lpstr>
      <vt:lpstr>統計為基礎的判斷方法</vt:lpstr>
      <vt:lpstr>研究方法</vt:lpstr>
      <vt:lpstr>一般常態分佈</vt:lpstr>
      <vt:lpstr>一般常態分佈</vt:lpstr>
      <vt:lpstr>CUSUM（Cumulative Sum）</vt:lpstr>
      <vt:lpstr>CUSUM（Cumulative Sum）</vt:lpstr>
      <vt:lpstr>LOF（Local Outlier Factor）</vt:lpstr>
      <vt:lpstr>實作的偵測方法</vt:lpstr>
      <vt:lpstr>實驗一</vt:lpstr>
      <vt:lpstr>訓練數據</vt:lpstr>
      <vt:lpstr>演算法參數設定</vt:lpstr>
      <vt:lpstr>實驗設計</vt:lpstr>
      <vt:lpstr>PowerPoint 簡報</vt:lpstr>
      <vt:lpstr>一般常態分佈</vt:lpstr>
      <vt:lpstr>資料片段平均值與常態分佈</vt:lpstr>
      <vt:lpstr>CUSUM</vt:lpstr>
      <vt:lpstr>資料片段數值與LOF</vt:lpstr>
      <vt:lpstr>資料片段平均值、標準差與LOF</vt:lpstr>
      <vt:lpstr>實驗二</vt:lpstr>
      <vt:lpstr>訓練數據</vt:lpstr>
      <vt:lpstr>訓練數據</vt:lpstr>
      <vt:lpstr>演算法參數設定</vt:lpstr>
      <vt:lpstr>實驗設計</vt:lpstr>
      <vt:lpstr>模擬週期</vt:lpstr>
      <vt:lpstr>真實資料週期</vt:lpstr>
      <vt:lpstr>資料片段數值與LOF</vt:lpstr>
      <vt:lpstr>資料片段平均值、標準差與LOF</vt:lpstr>
      <vt:lpstr>結論</vt:lpstr>
      <vt:lpstr>Threshold</vt:lpstr>
      <vt:lpstr>Normal Distribution</vt:lpstr>
      <vt:lpstr>Data Segment’s Average with Normal Distribution</vt:lpstr>
      <vt:lpstr>CUSUM</vt:lpstr>
      <vt:lpstr>Data Segments with LOF Algorithm</vt:lpstr>
      <vt:lpstr>Data Segment’s Standard Deviation and Average with LOF Algorithm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Spark</dc:title>
  <dc:creator>Rong</dc:creator>
  <cp:lastModifiedBy>Rong</cp:lastModifiedBy>
  <cp:revision>571</cp:revision>
  <cp:lastPrinted>2017-06-14T21:31:53Z</cp:lastPrinted>
  <dcterms:created xsi:type="dcterms:W3CDTF">2015-11-30T06:30:29Z</dcterms:created>
  <dcterms:modified xsi:type="dcterms:W3CDTF">2017-07-16T05:27:27Z</dcterms:modified>
</cp:coreProperties>
</file>