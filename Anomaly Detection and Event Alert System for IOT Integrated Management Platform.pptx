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281" r:id="rId3"/>
    <p:sldId id="337" r:id="rId4"/>
    <p:sldId id="330" r:id="rId5"/>
    <p:sldId id="331" r:id="rId6"/>
    <p:sldId id="338" r:id="rId7"/>
    <p:sldId id="339" r:id="rId8"/>
    <p:sldId id="340" r:id="rId9"/>
    <p:sldId id="369" r:id="rId10"/>
    <p:sldId id="370" r:id="rId11"/>
    <p:sldId id="371" r:id="rId12"/>
    <p:sldId id="341" r:id="rId13"/>
    <p:sldId id="372" r:id="rId14"/>
    <p:sldId id="373" r:id="rId15"/>
    <p:sldId id="374" r:id="rId16"/>
    <p:sldId id="375" r:id="rId17"/>
    <p:sldId id="347" r:id="rId18"/>
    <p:sldId id="376" r:id="rId19"/>
    <p:sldId id="344" r:id="rId20"/>
    <p:sldId id="377" r:id="rId21"/>
    <p:sldId id="345" r:id="rId22"/>
    <p:sldId id="382" r:id="rId23"/>
    <p:sldId id="362" r:id="rId24"/>
    <p:sldId id="396" r:id="rId25"/>
    <p:sldId id="397" r:id="rId26"/>
    <p:sldId id="423" r:id="rId27"/>
    <p:sldId id="336" r:id="rId28"/>
    <p:sldId id="446" r:id="rId29"/>
    <p:sldId id="444" r:id="rId30"/>
    <p:sldId id="448" r:id="rId31"/>
    <p:sldId id="449" r:id="rId32"/>
    <p:sldId id="450" r:id="rId33"/>
    <p:sldId id="451" r:id="rId34"/>
    <p:sldId id="424" r:id="rId35"/>
    <p:sldId id="425" r:id="rId36"/>
    <p:sldId id="431" r:id="rId37"/>
    <p:sldId id="427" r:id="rId38"/>
    <p:sldId id="428" r:id="rId39"/>
    <p:sldId id="432" r:id="rId40"/>
    <p:sldId id="426" r:id="rId41"/>
    <p:sldId id="452" r:id="rId42"/>
    <p:sldId id="453" r:id="rId43"/>
    <p:sldId id="367" r:id="rId44"/>
    <p:sldId id="354" r:id="rId45"/>
    <p:sldId id="437" r:id="rId46"/>
    <p:sldId id="438" r:id="rId47"/>
    <p:sldId id="439" r:id="rId48"/>
    <p:sldId id="440" r:id="rId49"/>
    <p:sldId id="441" r:id="rId50"/>
  </p:sldIdLst>
  <p:sldSz cx="12192000" cy="6858000"/>
  <p:notesSz cx="10234613" cy="7104063"/>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ng" initials="R" lastIdx="1" clrIdx="0">
    <p:extLst>
      <p:ext uri="{19B8F6BF-5375-455C-9EA6-DF929625EA0E}">
        <p15:presenceInfo xmlns:p15="http://schemas.microsoft.com/office/powerpoint/2012/main" userId="Ro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40" autoAdjust="0"/>
    <p:restoredTop sz="74216" autoAdjust="0"/>
  </p:normalViewPr>
  <p:slideViewPr>
    <p:cSldViewPr snapToGrid="0">
      <p:cViewPr varScale="1">
        <p:scale>
          <a:sx n="85" d="100"/>
          <a:sy n="85" d="100"/>
        </p:scale>
        <p:origin x="153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sz="quarter" idx="1"/>
          </p:nvPr>
        </p:nvSpPr>
        <p:spPr>
          <a:xfrm>
            <a:off x="5797245" y="1"/>
            <a:ext cx="4434999" cy="356437"/>
          </a:xfrm>
          <a:prstGeom prst="rect">
            <a:avLst/>
          </a:prstGeom>
        </p:spPr>
        <p:txBody>
          <a:bodyPr vert="horz" lIns="95088" tIns="47544" rIns="95088" bIns="47544" rtlCol="0"/>
          <a:lstStyle>
            <a:lvl1pPr algn="r">
              <a:defRPr sz="1200"/>
            </a:lvl1pPr>
          </a:lstStyle>
          <a:p>
            <a:fld id="{6977A58A-38D4-4745-B1BD-B36B6360EE10}" type="datetimeFigureOut">
              <a:rPr lang="zh-TW" altLang="en-US" smtClean="0"/>
              <a:t>2017/7/19</a:t>
            </a:fld>
            <a:endParaRPr lang="zh-TW" altLang="en-US"/>
          </a:p>
        </p:txBody>
      </p:sp>
      <p:sp>
        <p:nvSpPr>
          <p:cNvPr id="4" name="頁尾版面配置區 3"/>
          <p:cNvSpPr>
            <a:spLocks noGrp="1"/>
          </p:cNvSpPr>
          <p:nvPr>
            <p:ph type="ftr" sz="quarter" idx="2"/>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5797245" y="6747628"/>
            <a:ext cx="4434999" cy="356436"/>
          </a:xfrm>
          <a:prstGeom prst="rect">
            <a:avLst/>
          </a:prstGeom>
        </p:spPr>
        <p:txBody>
          <a:bodyPr vert="horz" lIns="95088" tIns="47544" rIns="95088" bIns="47544" rtlCol="0" anchor="b"/>
          <a:lstStyle>
            <a:lvl1pPr algn="r">
              <a:defRPr sz="1200"/>
            </a:lvl1pPr>
          </a:lstStyle>
          <a:p>
            <a:fld id="{E82FCCD5-CA28-4F76-B616-5D5585D3C6C6}" type="slidenum">
              <a:rPr lang="zh-TW" altLang="en-US" smtClean="0"/>
              <a:t>‹#›</a:t>
            </a:fld>
            <a:endParaRPr lang="zh-TW" altLang="en-US"/>
          </a:p>
        </p:txBody>
      </p:sp>
    </p:spTree>
    <p:extLst>
      <p:ext uri="{BB962C8B-B14F-4D97-AF65-F5344CB8AC3E}">
        <p14:creationId xmlns:p14="http://schemas.microsoft.com/office/powerpoint/2010/main" val="14020659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idx="1"/>
          </p:nvPr>
        </p:nvSpPr>
        <p:spPr>
          <a:xfrm>
            <a:off x="5797245" y="1"/>
            <a:ext cx="4434999" cy="356437"/>
          </a:xfrm>
          <a:prstGeom prst="rect">
            <a:avLst/>
          </a:prstGeom>
        </p:spPr>
        <p:txBody>
          <a:bodyPr vert="horz" lIns="95088" tIns="47544" rIns="95088" bIns="47544" rtlCol="0"/>
          <a:lstStyle>
            <a:lvl1pPr algn="r">
              <a:defRPr sz="1200"/>
            </a:lvl1pPr>
          </a:lstStyle>
          <a:p>
            <a:fld id="{24BD2BB7-AC21-4A01-8503-F1C775A6F59E}" type="datetimeFigureOut">
              <a:rPr lang="zh-TW" altLang="en-US" smtClean="0"/>
              <a:t>2017/7/19</a:t>
            </a:fld>
            <a:endParaRPr lang="zh-TW" altLang="en-US"/>
          </a:p>
        </p:txBody>
      </p:sp>
      <p:sp>
        <p:nvSpPr>
          <p:cNvPr id="4" name="投影片圖像版面配置區 3"/>
          <p:cNvSpPr>
            <a:spLocks noGrp="1" noRot="1" noChangeAspect="1"/>
          </p:cNvSpPr>
          <p:nvPr>
            <p:ph type="sldImg" idx="2"/>
          </p:nvPr>
        </p:nvSpPr>
        <p:spPr>
          <a:xfrm>
            <a:off x="2987675" y="887413"/>
            <a:ext cx="4260850" cy="2397125"/>
          </a:xfrm>
          <a:prstGeom prst="rect">
            <a:avLst/>
          </a:prstGeom>
          <a:noFill/>
          <a:ln w="12700">
            <a:solidFill>
              <a:prstClr val="black"/>
            </a:solidFill>
          </a:ln>
        </p:spPr>
        <p:txBody>
          <a:bodyPr vert="horz" lIns="95088" tIns="47544" rIns="95088" bIns="47544" rtlCol="0" anchor="ctr"/>
          <a:lstStyle/>
          <a:p>
            <a:endParaRPr lang="zh-TW" altLang="en-US"/>
          </a:p>
        </p:txBody>
      </p:sp>
      <p:sp>
        <p:nvSpPr>
          <p:cNvPr id="5" name="備忘稿版面配置區 4"/>
          <p:cNvSpPr>
            <a:spLocks noGrp="1"/>
          </p:cNvSpPr>
          <p:nvPr>
            <p:ph type="body" sz="quarter" idx="3"/>
          </p:nvPr>
        </p:nvSpPr>
        <p:spPr>
          <a:xfrm>
            <a:off x="1023462" y="3418831"/>
            <a:ext cx="8187690" cy="2797225"/>
          </a:xfrm>
          <a:prstGeom prst="rect">
            <a:avLst/>
          </a:prstGeom>
        </p:spPr>
        <p:txBody>
          <a:bodyPr vert="horz" lIns="95088" tIns="47544" rIns="95088" bIns="47544" rtlCol="0"/>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6" name="頁尾版面配置區 5"/>
          <p:cNvSpPr>
            <a:spLocks noGrp="1"/>
          </p:cNvSpPr>
          <p:nvPr>
            <p:ph type="ftr" sz="quarter" idx="4"/>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797245" y="6747628"/>
            <a:ext cx="4434999" cy="356436"/>
          </a:xfrm>
          <a:prstGeom prst="rect">
            <a:avLst/>
          </a:prstGeom>
        </p:spPr>
        <p:txBody>
          <a:bodyPr vert="horz" lIns="95088" tIns="47544" rIns="95088" bIns="47544" rtlCol="0" anchor="b"/>
          <a:lstStyle>
            <a:lvl1pPr algn="r">
              <a:defRPr sz="1200"/>
            </a:lvl1pPr>
          </a:lstStyle>
          <a:p>
            <a:fld id="{5E30E15B-F52A-4B5F-8267-50F0C60CEFA2}" type="slidenum">
              <a:rPr lang="zh-TW" altLang="en-US" smtClean="0"/>
              <a:t>‹#›</a:t>
            </a:fld>
            <a:endParaRPr lang="zh-TW" altLang="en-US"/>
          </a:p>
        </p:txBody>
      </p:sp>
    </p:spTree>
    <p:extLst>
      <p:ext uri="{BB962C8B-B14F-4D97-AF65-F5344CB8AC3E}">
        <p14:creationId xmlns:p14="http://schemas.microsoft.com/office/powerpoint/2010/main" val="126453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a:t>
            </a:fld>
            <a:endParaRPr lang="zh-TW" altLang="en-US"/>
          </a:p>
        </p:txBody>
      </p:sp>
    </p:spTree>
    <p:extLst>
      <p:ext uri="{BB962C8B-B14F-4D97-AF65-F5344CB8AC3E}">
        <p14:creationId xmlns:p14="http://schemas.microsoft.com/office/powerpoint/2010/main" val="1707355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indent="0">
              <a:buNone/>
            </a:pPr>
            <a:r>
              <a:rPr lang="zh-TW" altLang="en-US" dirty="0" smtClean="0"/>
              <a:t>簡報流程分為六個部分</a:t>
            </a:r>
            <a:endParaRPr lang="en-US" altLang="zh-TW" dirty="0" smtClean="0"/>
          </a:p>
          <a:p>
            <a:pPr marL="228600" indent="-228600">
              <a:buAutoNum type="arabicPeriod"/>
            </a:pPr>
            <a:r>
              <a:rPr lang="zh-TW" altLang="en-US" dirty="0" smtClean="0"/>
              <a:t>簡略敘述為什麼做這個研究</a:t>
            </a:r>
            <a:endParaRPr lang="en-US" altLang="zh-TW" dirty="0" smtClean="0"/>
          </a:p>
          <a:p>
            <a:pPr marL="228600" indent="-228600">
              <a:buAutoNum type="arabicPeriod"/>
            </a:pPr>
            <a:r>
              <a:rPr lang="zh-TW" altLang="en-US" dirty="0" smtClean="0"/>
              <a:t>異常事件的種類、偵測方法的種類</a:t>
            </a:r>
            <a:endParaRPr lang="en-US" altLang="zh-TW" dirty="0" smtClean="0"/>
          </a:p>
          <a:p>
            <a:pPr marL="228600" indent="-228600">
              <a:buAutoNum type="arabicPeriod"/>
            </a:pPr>
            <a:r>
              <a:rPr lang="zh-TW" altLang="en-US" dirty="0" smtClean="0"/>
              <a:t>本論文實作偵測方法的理論依據</a:t>
            </a:r>
            <a:endParaRPr lang="en-US" altLang="zh-TW" dirty="0" smtClean="0"/>
          </a:p>
          <a:p>
            <a:pPr marL="228600" indent="-228600">
              <a:buAutoNum type="arabicPeriod"/>
            </a:pPr>
            <a:r>
              <a:rPr lang="zh-TW" altLang="en-US" dirty="0" smtClean="0"/>
              <a:t>展示不同異常事件，偵測方法產生的結果</a:t>
            </a:r>
            <a:endParaRPr lang="en-US" altLang="zh-TW" dirty="0" smtClean="0"/>
          </a:p>
          <a:p>
            <a:pPr marL="228600" indent="-228600">
              <a:buAutoNum type="arabicPeriod"/>
            </a:pPr>
            <a:r>
              <a:rPr lang="zh-TW" altLang="en-US" dirty="0" smtClean="0"/>
              <a:t>從觀察到的結果，描述不同方法的特性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a:t>
            </a:fld>
            <a:endParaRPr lang="zh-TW" altLang="en-US"/>
          </a:p>
        </p:txBody>
      </p:sp>
    </p:spTree>
    <p:extLst>
      <p:ext uri="{BB962C8B-B14F-4D97-AF65-F5344CB8AC3E}">
        <p14:creationId xmlns:p14="http://schemas.microsoft.com/office/powerpoint/2010/main" val="39474934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a:t>
            </a:fld>
            <a:endParaRPr lang="zh-TW" altLang="en-US"/>
          </a:p>
        </p:txBody>
      </p:sp>
    </p:spTree>
    <p:extLst>
      <p:ext uri="{BB962C8B-B14F-4D97-AF65-F5344CB8AC3E}">
        <p14:creationId xmlns:p14="http://schemas.microsoft.com/office/powerpoint/2010/main" val="3911797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政府也有建置資料開放平台</a:t>
            </a:r>
            <a:endParaRPr lang="en-US" altLang="zh-TW" dirty="0" smtClean="0"/>
          </a:p>
          <a:p>
            <a:r>
              <a:rPr lang="zh-TW" altLang="en-US" dirty="0" smtClean="0"/>
              <a:t>不足的是</a:t>
            </a:r>
            <a:endParaRPr lang="en-US" altLang="zh-TW" dirty="0" smtClean="0"/>
          </a:p>
          <a:p>
            <a:r>
              <a:rPr lang="zh-TW" altLang="en-US" dirty="0" smtClean="0"/>
              <a:t>平台上分享的訊息大多是原始資料的型態</a:t>
            </a:r>
            <a:endParaRPr lang="en-US" altLang="zh-TW" dirty="0" smtClean="0"/>
          </a:p>
          <a:p>
            <a:r>
              <a:rPr lang="zh-TW" altLang="en-US" dirty="0" smtClean="0"/>
              <a:t>這些沒有整理過的資料對一般使用者的參考價值較低</a:t>
            </a:r>
            <a:endParaRPr lang="en-US" altLang="zh-TW" dirty="0" smtClean="0"/>
          </a:p>
          <a:p>
            <a:r>
              <a:rPr lang="zh-TW" altLang="en-US" dirty="0" smtClean="0"/>
              <a:t>平台也沒有提供便利的方式代管私人資料來源</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a:t>
            </a:fld>
            <a:endParaRPr lang="zh-TW" altLang="en-US"/>
          </a:p>
        </p:txBody>
      </p:sp>
    </p:spTree>
    <p:extLst>
      <p:ext uri="{BB962C8B-B14F-4D97-AF65-F5344CB8AC3E}">
        <p14:creationId xmlns:p14="http://schemas.microsoft.com/office/powerpoint/2010/main" val="37620270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a:t>
            </a:fld>
            <a:endParaRPr lang="zh-TW" altLang="en-US"/>
          </a:p>
        </p:txBody>
      </p:sp>
    </p:spTree>
    <p:extLst>
      <p:ext uri="{BB962C8B-B14F-4D97-AF65-F5344CB8AC3E}">
        <p14:creationId xmlns:p14="http://schemas.microsoft.com/office/powerpoint/2010/main" val="7273802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6</a:t>
            </a:fld>
            <a:endParaRPr lang="zh-TW" altLang="en-US"/>
          </a:p>
        </p:txBody>
      </p:sp>
    </p:spTree>
    <p:extLst>
      <p:ext uri="{BB962C8B-B14F-4D97-AF65-F5344CB8AC3E}">
        <p14:creationId xmlns:p14="http://schemas.microsoft.com/office/powerpoint/2010/main" val="2476567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簡單來說異常就是資料集裡面還沒被清楚定義的資料特徵</a:t>
            </a:r>
            <a:endParaRPr lang="en-US" altLang="zh-TW" dirty="0" smtClean="0"/>
          </a:p>
          <a:p>
            <a:r>
              <a:rPr lang="zh-TW" altLang="en-US" dirty="0" smtClean="0"/>
              <a:t>也就是偏離歷史群集的資料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7</a:t>
            </a:fld>
            <a:endParaRPr lang="zh-TW" altLang="en-US"/>
          </a:p>
        </p:txBody>
      </p:sp>
    </p:spTree>
    <p:extLst>
      <p:ext uri="{BB962C8B-B14F-4D97-AF65-F5344CB8AC3E}">
        <p14:creationId xmlns:p14="http://schemas.microsoft.com/office/powerpoint/2010/main" val="30834713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異常可以依照特性大致分為</a:t>
            </a:r>
            <a:endParaRPr lang="en-US" altLang="zh-TW" dirty="0" smtClean="0"/>
          </a:p>
          <a:p>
            <a:r>
              <a:rPr lang="zh-TW" altLang="en-US" dirty="0" smtClean="0"/>
              <a:t>單點異常</a:t>
            </a:r>
            <a:endParaRPr lang="en-US" altLang="zh-TW" dirty="0" smtClean="0"/>
          </a:p>
          <a:p>
            <a:r>
              <a:rPr lang="zh-TW" altLang="en-US" dirty="0" smtClean="0"/>
              <a:t>集體異常</a:t>
            </a:r>
            <a:endParaRPr lang="en-US" altLang="zh-TW" dirty="0" smtClean="0"/>
          </a:p>
          <a:p>
            <a:r>
              <a:rPr lang="zh-TW" altLang="en-US" dirty="0" smtClean="0"/>
              <a:t>條件式異常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8</a:t>
            </a:fld>
            <a:endParaRPr lang="zh-TW" altLang="en-US"/>
          </a:p>
        </p:txBody>
      </p:sp>
    </p:spTree>
    <p:extLst>
      <p:ext uri="{BB962C8B-B14F-4D97-AF65-F5344CB8AC3E}">
        <p14:creationId xmlns:p14="http://schemas.microsoft.com/office/powerpoint/2010/main" val="7015188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單點異常像範例上面</a:t>
            </a:r>
            <a:endParaRPr lang="en-US" altLang="zh-TW" dirty="0" smtClean="0"/>
          </a:p>
          <a:p>
            <a:r>
              <a:rPr lang="zh-TW" altLang="en-US" dirty="0" smtClean="0"/>
              <a:t>少數幾個資料點偏離群體的現象</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9</a:t>
            </a:fld>
            <a:endParaRPr lang="zh-TW" altLang="en-US"/>
          </a:p>
        </p:txBody>
      </p:sp>
    </p:spTree>
    <p:extLst>
      <p:ext uri="{BB962C8B-B14F-4D97-AF65-F5344CB8AC3E}">
        <p14:creationId xmlns:p14="http://schemas.microsoft.com/office/powerpoint/2010/main" val="2528656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集體異常表示有一小群資料偏離主要狀態</a:t>
            </a:r>
            <a:endParaRPr lang="en-US" altLang="zh-TW" dirty="0" smtClean="0"/>
          </a:p>
          <a:p>
            <a:r>
              <a:rPr lang="zh-TW" altLang="en-US" dirty="0" smtClean="0"/>
              <a:t>而且這一小群內的資料彼此之間有相似的特性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10</a:t>
            </a:fld>
            <a:endParaRPr lang="zh-TW" altLang="en-US"/>
          </a:p>
        </p:txBody>
      </p:sp>
    </p:spTree>
    <p:extLst>
      <p:ext uri="{BB962C8B-B14F-4D97-AF65-F5344CB8AC3E}">
        <p14:creationId xmlns:p14="http://schemas.microsoft.com/office/powerpoint/2010/main" val="494319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條件異常</a:t>
            </a:r>
            <a:endParaRPr lang="en-US" altLang="zh-TW" dirty="0" smtClean="0"/>
          </a:p>
          <a:p>
            <a:r>
              <a:rPr lang="zh-TW" altLang="en-US" dirty="0" smtClean="0"/>
              <a:t>這邊用一個商業區用電量和時間的例子說明</a:t>
            </a:r>
            <a:endParaRPr lang="en-US" altLang="zh-TW" dirty="0" smtClean="0"/>
          </a:p>
          <a:p>
            <a:r>
              <a:rPr lang="zh-TW" altLang="en-US" dirty="0" smtClean="0"/>
              <a:t>在這個範例中的條件是時間</a:t>
            </a:r>
            <a:endParaRPr lang="en-US" altLang="zh-TW" dirty="0" smtClean="0"/>
          </a:p>
          <a:p>
            <a:r>
              <a:rPr lang="zh-TW" altLang="en-US" dirty="0" smtClean="0"/>
              <a:t>某些時間的現象可以視為合理的狀態</a:t>
            </a:r>
            <a:endParaRPr lang="en-US" altLang="zh-TW" dirty="0" smtClean="0"/>
          </a:p>
          <a:p>
            <a:r>
              <a:rPr lang="zh-TW" altLang="en-US" dirty="0" smtClean="0"/>
              <a:t>但同樣的現象移動到其他時段就會被視為異常事件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11</a:t>
            </a:fld>
            <a:endParaRPr lang="zh-TW" altLang="en-US"/>
          </a:p>
        </p:txBody>
      </p:sp>
    </p:spTree>
    <p:extLst>
      <p:ext uri="{BB962C8B-B14F-4D97-AF65-F5344CB8AC3E}">
        <p14:creationId xmlns:p14="http://schemas.microsoft.com/office/powerpoint/2010/main" val="2382313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異常偵測的方法很多</a:t>
            </a:r>
            <a:endParaRPr lang="en-US" altLang="zh-TW" dirty="0" smtClean="0"/>
          </a:p>
          <a:p>
            <a:r>
              <a:rPr lang="zh-TW" altLang="en-US" dirty="0" smtClean="0"/>
              <a:t>可以依照基礎概念的不同分為</a:t>
            </a:r>
            <a:endParaRPr lang="en-US" altLang="zh-TW" dirty="0" smtClean="0"/>
          </a:p>
          <a:p>
            <a:r>
              <a:rPr lang="zh-TW" altLang="en-US" dirty="0" smtClean="0"/>
              <a:t>以分類、分群、鄰近點和統計為基礎的判斷方法</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12</a:t>
            </a:fld>
            <a:endParaRPr lang="zh-TW" altLang="en-US"/>
          </a:p>
        </p:txBody>
      </p:sp>
    </p:spTree>
    <p:extLst>
      <p:ext uri="{BB962C8B-B14F-4D97-AF65-F5344CB8AC3E}">
        <p14:creationId xmlns:p14="http://schemas.microsoft.com/office/powerpoint/2010/main" val="20088192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分類的方法是利用監督或半監督的方式</a:t>
            </a:r>
            <a:endParaRPr lang="en-US" altLang="zh-TW" dirty="0" smtClean="0"/>
          </a:p>
          <a:p>
            <a:r>
              <a:rPr lang="zh-TW" altLang="en-US" dirty="0" smtClean="0"/>
              <a:t>學習正常類型的資料特徵</a:t>
            </a:r>
            <a:endParaRPr lang="en-US" altLang="zh-TW" dirty="0" smtClean="0"/>
          </a:p>
          <a:p>
            <a:r>
              <a:rPr lang="zh-TW" altLang="en-US" dirty="0" smtClean="0"/>
              <a:t>之後再使用學習到的結果判斷是否滿足正常的條件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13</a:t>
            </a:fld>
            <a:endParaRPr lang="zh-TW" altLang="en-US"/>
          </a:p>
        </p:txBody>
      </p:sp>
    </p:spTree>
    <p:extLst>
      <p:ext uri="{BB962C8B-B14F-4D97-AF65-F5344CB8AC3E}">
        <p14:creationId xmlns:p14="http://schemas.microsoft.com/office/powerpoint/2010/main" val="2487413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分群和分類有點相似</a:t>
            </a:r>
            <a:endParaRPr lang="en-US" altLang="zh-TW" dirty="0" smtClean="0"/>
          </a:p>
          <a:p>
            <a:r>
              <a:rPr lang="zh-TW" altLang="en-US" dirty="0" smtClean="0"/>
              <a:t>都是觀察資料分布的狀態當作判斷標準</a:t>
            </a:r>
            <a:endParaRPr lang="en-US" altLang="zh-TW" dirty="0" smtClean="0"/>
          </a:p>
          <a:p>
            <a:r>
              <a:rPr lang="zh-TW" altLang="en-US" dirty="0" smtClean="0"/>
              <a:t>不同的是分群過程不需要人為介入</a:t>
            </a:r>
            <a:endParaRPr lang="en-US" altLang="zh-TW" dirty="0" smtClean="0"/>
          </a:p>
          <a:p>
            <a:r>
              <a:rPr lang="zh-TW" altLang="en-US" dirty="0" smtClean="0"/>
              <a:t>使用分群演算法就可以找到資料的分布狀態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14</a:t>
            </a:fld>
            <a:endParaRPr lang="zh-TW" altLang="en-US"/>
          </a:p>
        </p:txBody>
      </p:sp>
    </p:spTree>
    <p:extLst>
      <p:ext uri="{BB962C8B-B14F-4D97-AF65-F5344CB8AC3E}">
        <p14:creationId xmlns:p14="http://schemas.microsoft.com/office/powerpoint/2010/main" val="4056297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鄰近點的方法主要判斷的是資料與鄰近資料之間的距離</a:t>
            </a:r>
            <a:endParaRPr lang="en-US" altLang="zh-TW" dirty="0" smtClean="0"/>
          </a:p>
          <a:p>
            <a:r>
              <a:rPr lang="zh-TW" altLang="en-US" dirty="0" smtClean="0"/>
              <a:t>如果距離都很遠</a:t>
            </a:r>
            <a:endParaRPr lang="en-US" altLang="zh-TW" dirty="0" smtClean="0"/>
          </a:p>
          <a:p>
            <a:r>
              <a:rPr lang="zh-TW" altLang="en-US" dirty="0" smtClean="0"/>
              <a:t>就代表資料可能偏離了歷史群體</a:t>
            </a:r>
            <a:endParaRPr lang="en-US" altLang="zh-TW" dirty="0" smtClean="0"/>
          </a:p>
          <a:p>
            <a:r>
              <a:rPr lang="zh-TW" altLang="en-US" dirty="0" smtClean="0"/>
              <a:t>鄰近點的想法也常配合其他方法一起使用</a:t>
            </a:r>
            <a:endParaRPr lang="en-US" altLang="zh-TW" dirty="0" smtClean="0"/>
          </a:p>
          <a:p>
            <a:r>
              <a:rPr lang="zh-TW" altLang="en-US" dirty="0" smtClean="0"/>
              <a:t>例如本論文用到的</a:t>
            </a:r>
            <a:r>
              <a:rPr lang="en-US" altLang="zh-TW" dirty="0" smtClean="0"/>
              <a:t>LOF</a:t>
            </a:r>
            <a:r>
              <a:rPr lang="zh-TW" altLang="en-US" dirty="0" smtClean="0"/>
              <a:t>演算法</a:t>
            </a:r>
            <a:endParaRPr lang="en-US" altLang="zh-TW" dirty="0" smtClean="0"/>
          </a:p>
          <a:p>
            <a:r>
              <a:rPr lang="zh-TW" altLang="en-US" dirty="0" smtClean="0"/>
              <a:t>當中就是使用</a:t>
            </a:r>
            <a:r>
              <a:rPr lang="en-US" altLang="zh-TW" dirty="0" smtClean="0"/>
              <a:t>K</a:t>
            </a:r>
            <a:r>
              <a:rPr lang="zh-TW" altLang="en-US" dirty="0" smtClean="0"/>
              <a:t> </a:t>
            </a:r>
            <a:r>
              <a:rPr lang="en-US" altLang="zh-TW" dirty="0" smtClean="0"/>
              <a:t>Nearest</a:t>
            </a:r>
            <a:r>
              <a:rPr lang="zh-TW" altLang="en-US" dirty="0" smtClean="0"/>
              <a:t> </a:t>
            </a:r>
            <a:r>
              <a:rPr lang="en-US" altLang="zh-TW" dirty="0" smtClean="0"/>
              <a:t>Neighbor</a:t>
            </a:r>
            <a:r>
              <a:rPr lang="zh-TW" altLang="en-US" dirty="0" smtClean="0"/>
              <a:t>來決定計算密度的區域範圍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15</a:t>
            </a:fld>
            <a:endParaRPr lang="zh-TW" altLang="en-US"/>
          </a:p>
        </p:txBody>
      </p:sp>
    </p:spTree>
    <p:extLst>
      <p:ext uri="{BB962C8B-B14F-4D97-AF65-F5344CB8AC3E}">
        <p14:creationId xmlns:p14="http://schemas.microsoft.com/office/powerpoint/2010/main" val="34131047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假設一般情形下</a:t>
            </a:r>
            <a:endParaRPr lang="en-US" altLang="zh-TW" dirty="0" smtClean="0"/>
          </a:p>
          <a:p>
            <a:r>
              <a:rPr lang="zh-TW" altLang="en-US" dirty="0" smtClean="0"/>
              <a:t>產生正常資料的機率應該會高於異常的機率</a:t>
            </a:r>
            <a:endParaRPr lang="en-US" altLang="zh-TW" dirty="0" smtClean="0"/>
          </a:p>
          <a:p>
            <a:r>
              <a:rPr lang="zh-TW" altLang="en-US" dirty="0" smtClean="0"/>
              <a:t>所以可以使用片段資料的特徵來預測未來可能的變動趨勢</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16</a:t>
            </a:fld>
            <a:endParaRPr lang="zh-TW" altLang="en-US"/>
          </a:p>
        </p:txBody>
      </p:sp>
    </p:spTree>
    <p:extLst>
      <p:ext uri="{BB962C8B-B14F-4D97-AF65-F5344CB8AC3E}">
        <p14:creationId xmlns:p14="http://schemas.microsoft.com/office/powerpoint/2010/main" val="22926007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17</a:t>
            </a:fld>
            <a:endParaRPr lang="zh-TW" altLang="en-US"/>
          </a:p>
        </p:txBody>
      </p:sp>
    </p:spTree>
    <p:extLst>
      <p:ext uri="{BB962C8B-B14F-4D97-AF65-F5344CB8AC3E}">
        <p14:creationId xmlns:p14="http://schemas.microsoft.com/office/powerpoint/2010/main" val="3717655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因此我們也假定感測器監控的環境指標在自然情形下</a:t>
            </a:r>
            <a:endParaRPr lang="en-US" altLang="zh-TW" dirty="0" smtClean="0"/>
          </a:p>
          <a:p>
            <a:r>
              <a:rPr lang="zh-TW" altLang="en-US" dirty="0" smtClean="0"/>
              <a:t>數值應該會滿足常態分佈下的機率密度函數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18</a:t>
            </a:fld>
            <a:endParaRPr lang="zh-TW" altLang="en-US"/>
          </a:p>
        </p:txBody>
      </p:sp>
    </p:spTree>
    <p:extLst>
      <p:ext uri="{BB962C8B-B14F-4D97-AF65-F5344CB8AC3E}">
        <p14:creationId xmlns:p14="http://schemas.microsoft.com/office/powerpoint/2010/main" val="19855294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也就是</a:t>
            </a:r>
            <a:r>
              <a:rPr lang="en-US" altLang="zh-TW" dirty="0" smtClean="0"/>
              <a:t>68.2%</a:t>
            </a:r>
            <a:r>
              <a:rPr lang="zh-TW" altLang="en-US" dirty="0" smtClean="0"/>
              <a:t>的數值會落在平均值一倍標準差的範圍內</a:t>
            </a:r>
            <a:endParaRPr lang="en-US" altLang="zh-TW" dirty="0" smtClean="0"/>
          </a:p>
          <a:p>
            <a:r>
              <a:rPr lang="en-US" altLang="zh-TW" dirty="0" smtClean="0"/>
              <a:t>95.4%</a:t>
            </a:r>
            <a:r>
              <a:rPr lang="zh-TW" altLang="en-US" dirty="0" smtClean="0"/>
              <a:t>在兩倍標準差的範圍</a:t>
            </a:r>
            <a:endParaRPr lang="en-US" altLang="zh-TW" dirty="0" smtClean="0"/>
          </a:p>
          <a:p>
            <a:r>
              <a:rPr lang="en-US" altLang="zh-TW" dirty="0" smtClean="0"/>
              <a:t>99.7%</a:t>
            </a:r>
            <a:r>
              <a:rPr lang="zh-TW" altLang="en-US" dirty="0" smtClean="0"/>
              <a:t>在三倍標準差的範圍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19</a:t>
            </a:fld>
            <a:endParaRPr lang="zh-TW" altLang="en-US"/>
          </a:p>
        </p:txBody>
      </p:sp>
    </p:spTree>
    <p:extLst>
      <p:ext uri="{BB962C8B-B14F-4D97-AF65-F5344CB8AC3E}">
        <p14:creationId xmlns:p14="http://schemas.microsoft.com/office/powerpoint/2010/main" val="38197368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20</a:t>
            </a:fld>
            <a:endParaRPr lang="zh-TW" altLang="en-US"/>
          </a:p>
        </p:txBody>
      </p:sp>
    </p:spTree>
    <p:extLst>
      <p:ext uri="{BB962C8B-B14F-4D97-AF65-F5344CB8AC3E}">
        <p14:creationId xmlns:p14="http://schemas.microsoft.com/office/powerpoint/2010/main" val="31983430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的累加分為正向和負向</a:t>
            </a:r>
            <a:endParaRPr lang="en-US" altLang="zh-TW" dirty="0" smtClean="0"/>
          </a:p>
          <a:p>
            <a:r>
              <a:rPr lang="zh-TW" altLang="en-US" dirty="0" smtClean="0"/>
              <a:t>就是上面的</a:t>
            </a:r>
            <a:r>
              <a:rPr lang="en-US" altLang="zh-TW" dirty="0" smtClean="0"/>
              <a:t>SH</a:t>
            </a:r>
            <a:r>
              <a:rPr lang="zh-TW" altLang="en-US" dirty="0" smtClean="0"/>
              <a:t>和</a:t>
            </a:r>
            <a:r>
              <a:rPr lang="en-US" altLang="zh-TW" dirty="0" smtClean="0"/>
              <a:t>SL</a:t>
            </a:r>
          </a:p>
          <a:p>
            <a:r>
              <a:rPr lang="zh-TW" altLang="en-US" dirty="0" smtClean="0"/>
              <a:t>觀察公式的後半部可以看到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21</a:t>
            </a:fld>
            <a:endParaRPr lang="zh-TW" altLang="en-US"/>
          </a:p>
        </p:txBody>
      </p:sp>
    </p:spTree>
    <p:extLst>
      <p:ext uri="{BB962C8B-B14F-4D97-AF65-F5344CB8AC3E}">
        <p14:creationId xmlns:p14="http://schemas.microsoft.com/office/powerpoint/2010/main" val="13865830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Local Outlier Factor</a:t>
            </a:r>
            <a:r>
              <a:rPr lang="zh-TW" altLang="en-US" dirty="0" smtClean="0"/>
              <a:t>翻譯成區域離群因子</a:t>
            </a:r>
            <a:endParaRPr lang="en-US" altLang="zh-TW" dirty="0" smtClean="0"/>
          </a:p>
          <a:p>
            <a:r>
              <a:rPr lang="zh-TW" altLang="en-US" dirty="0" smtClean="0"/>
              <a:t>範例中可以觀察到兩個群集</a:t>
            </a:r>
            <a:endParaRPr lang="en-US" altLang="zh-TW" dirty="0" smtClean="0"/>
          </a:p>
          <a:p>
            <a:r>
              <a:rPr lang="zh-TW" altLang="en-US" dirty="0" smtClean="0"/>
              <a:t>一個比較鬆散一個比較密集</a:t>
            </a:r>
            <a:endParaRPr lang="en-US" altLang="zh-TW" dirty="0" smtClean="0"/>
          </a:p>
          <a:p>
            <a:r>
              <a:rPr lang="en-US" altLang="zh-TW" dirty="0" smtClean="0"/>
              <a:t>LOF</a:t>
            </a:r>
            <a:r>
              <a:rPr lang="zh-TW" altLang="en-US" dirty="0" smtClean="0"/>
              <a:t>可以分別得到兩個不同的區域密度來分別描述兩個群集</a:t>
            </a:r>
            <a:endParaRPr lang="en-US" altLang="zh-TW" dirty="0" smtClean="0"/>
          </a:p>
          <a:p>
            <a:r>
              <a:rPr lang="zh-TW" altLang="en-US" dirty="0" smtClean="0"/>
              <a:t>而不是使用全局的觀察方式</a:t>
            </a:r>
            <a:endParaRPr lang="en-US" altLang="zh-TW" dirty="0" smtClean="0"/>
          </a:p>
          <a:p>
            <a:r>
              <a:rPr lang="zh-TW" altLang="en-US" dirty="0" smtClean="0"/>
              <a:t>所以可以得到更準確的判斷結果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22</a:t>
            </a:fld>
            <a:endParaRPr lang="zh-TW" altLang="en-US"/>
          </a:p>
        </p:txBody>
      </p:sp>
    </p:spTree>
    <p:extLst>
      <p:ext uri="{BB962C8B-B14F-4D97-AF65-F5344CB8AC3E}">
        <p14:creationId xmlns:p14="http://schemas.microsoft.com/office/powerpoint/2010/main" val="15016819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本論文的主要貢獻</a:t>
            </a:r>
            <a:endParaRPr lang="en-US" altLang="zh-TW" dirty="0" smtClean="0"/>
          </a:p>
          <a:p>
            <a:r>
              <a:rPr lang="zh-TW" altLang="en-US" dirty="0" smtClean="0"/>
              <a:t>是延伸上面提到的想法</a:t>
            </a:r>
            <a:endParaRPr lang="en-US" altLang="zh-TW" dirty="0" smtClean="0"/>
          </a:p>
          <a:p>
            <a:r>
              <a:rPr lang="zh-TW" altLang="en-US" dirty="0" smtClean="0"/>
              <a:t>使用</a:t>
            </a:r>
            <a:r>
              <a:rPr lang="en-US" altLang="zh-TW" dirty="0" smtClean="0"/>
              <a:t>Spark</a:t>
            </a:r>
            <a:r>
              <a:rPr lang="zh-TW" altLang="en-US" dirty="0" smtClean="0"/>
              <a:t> </a:t>
            </a:r>
            <a:r>
              <a:rPr lang="en-US" altLang="zh-TW" dirty="0" smtClean="0"/>
              <a:t>Streaming</a:t>
            </a:r>
            <a:r>
              <a:rPr lang="zh-TW" altLang="en-US" dirty="0" smtClean="0"/>
              <a:t>工具實作了六種串流資料的異常偵測方法</a:t>
            </a:r>
            <a:endParaRPr lang="en-US" altLang="zh-TW" dirty="0" smtClean="0"/>
          </a:p>
          <a:p>
            <a:endParaRPr lang="en-US" altLang="zh-TW" dirty="0" smtClean="0"/>
          </a:p>
          <a:p>
            <a:pPr marL="228600" indent="-228600">
              <a:buAutoNum type="arabicPeriod"/>
            </a:pPr>
            <a:r>
              <a:rPr lang="zh-TW" altLang="en-US" dirty="0" smtClean="0"/>
              <a:t>門檻值是由使用者自行指定正常數值的範圍</a:t>
            </a:r>
            <a:endParaRPr lang="en-US" altLang="zh-TW" dirty="0" smtClean="0"/>
          </a:p>
          <a:p>
            <a:pPr marL="228600" indent="-228600">
              <a:buAutoNum type="arabicPeriod"/>
            </a:pPr>
            <a:r>
              <a:rPr lang="zh-TW" altLang="en-US" dirty="0" smtClean="0"/>
              <a:t>一般常態分佈是直接使用數值的平均值和標準差</a:t>
            </a:r>
            <a:endParaRPr lang="en-US" altLang="zh-TW" dirty="0" smtClean="0"/>
          </a:p>
          <a:p>
            <a:pPr marL="228600" indent="-228600">
              <a:buAutoNum type="arabicPeriod"/>
            </a:pPr>
            <a:r>
              <a:rPr lang="zh-TW" altLang="en-US" dirty="0" smtClean="0"/>
              <a:t>資料片段平均值與常態分佈，事先取得片段資料的群體平均之後，在配合常態分佈的想法</a:t>
            </a:r>
            <a:endParaRPr lang="en-US" altLang="zh-TW" dirty="0" smtClean="0"/>
          </a:p>
          <a:p>
            <a:pPr marL="228600" indent="-228600">
              <a:buAutoNum type="arabicPeriod"/>
            </a:pPr>
            <a:r>
              <a:rPr lang="en-US" altLang="zh-TW" dirty="0" smtClean="0"/>
              <a:t>CUSUM</a:t>
            </a:r>
            <a:r>
              <a:rPr lang="zh-TW" altLang="en-US" dirty="0" smtClean="0"/>
              <a:t>也是直接觀察資料的數值</a:t>
            </a:r>
            <a:endParaRPr lang="en-US" altLang="zh-TW" dirty="0" smtClean="0"/>
          </a:p>
          <a:p>
            <a:pPr marL="228600" indent="-228600">
              <a:buAutoNum type="arabicPeriod"/>
            </a:pPr>
            <a:r>
              <a:rPr lang="zh-TW" altLang="en-US" dirty="0" smtClean="0"/>
              <a:t>資料片段數值和</a:t>
            </a:r>
            <a:r>
              <a:rPr lang="en-US" altLang="zh-TW" dirty="0" smtClean="0"/>
              <a:t>LOF</a:t>
            </a:r>
            <a:r>
              <a:rPr lang="zh-TW" altLang="en-US" dirty="0" smtClean="0"/>
              <a:t>，是將片段內的每個數值都當作一個觀察特徵，配合</a:t>
            </a:r>
            <a:r>
              <a:rPr lang="en-US" altLang="zh-TW" dirty="0" smtClean="0"/>
              <a:t>LOF</a:t>
            </a:r>
            <a:r>
              <a:rPr lang="zh-TW" altLang="en-US" dirty="0" smtClean="0"/>
              <a:t>演算法產生一個多維度的資料分佈模型，每一片段資料在模型中都會轉換成一個資料點</a:t>
            </a:r>
            <a:endParaRPr lang="en-US" altLang="zh-TW" dirty="0" smtClean="0"/>
          </a:p>
          <a:p>
            <a:pPr marL="228600" indent="-228600">
              <a:buAutoNum type="arabicPeriod"/>
            </a:pPr>
            <a:r>
              <a:rPr lang="zh-TW" altLang="en-US" dirty="0" smtClean="0"/>
              <a:t>資料片段平均值和標準差配合</a:t>
            </a:r>
            <a:r>
              <a:rPr lang="en-US" altLang="zh-TW" dirty="0" smtClean="0"/>
              <a:t>LOF</a:t>
            </a:r>
            <a:r>
              <a:rPr lang="zh-TW" altLang="en-US" dirty="0" smtClean="0"/>
              <a:t>的方法，也是先取得片段資料的平均值和標準差之後，配合</a:t>
            </a:r>
            <a:r>
              <a:rPr lang="en-US" altLang="zh-TW" dirty="0" smtClean="0"/>
              <a:t>LOF</a:t>
            </a:r>
            <a:r>
              <a:rPr lang="zh-TW" altLang="en-US" dirty="0" smtClean="0"/>
              <a:t>產生一個平面的分佈模型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23</a:t>
            </a:fld>
            <a:endParaRPr lang="zh-TW" altLang="en-US"/>
          </a:p>
        </p:txBody>
      </p:sp>
    </p:spTree>
    <p:extLst>
      <p:ext uri="{BB962C8B-B14F-4D97-AF65-F5344CB8AC3E}">
        <p14:creationId xmlns:p14="http://schemas.microsoft.com/office/powerpoint/2010/main" val="1911675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24</a:t>
            </a:fld>
            <a:endParaRPr lang="zh-TW" altLang="en-US"/>
          </a:p>
        </p:txBody>
      </p:sp>
    </p:spTree>
    <p:extLst>
      <p:ext uri="{BB962C8B-B14F-4D97-AF65-F5344CB8AC3E}">
        <p14:creationId xmlns:p14="http://schemas.microsoft.com/office/powerpoint/2010/main" val="1059466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實驗一的訓練數據是</a:t>
            </a:r>
            <a:r>
              <a:rPr lang="en-US" altLang="zh-TW" dirty="0" smtClean="0"/>
              <a:t>128</a:t>
            </a:r>
            <a:r>
              <a:rPr lang="zh-TW" altLang="en-US" dirty="0" smtClean="0"/>
              <a:t>筆</a:t>
            </a:r>
            <a:r>
              <a:rPr lang="en-US" altLang="zh-TW" dirty="0" smtClean="0"/>
              <a:t>0</a:t>
            </a:r>
            <a:r>
              <a:rPr lang="zh-TW" altLang="en-US" dirty="0" smtClean="0"/>
              <a:t>到</a:t>
            </a:r>
            <a:r>
              <a:rPr lang="en-US" altLang="zh-TW" dirty="0" smtClean="0"/>
              <a:t>2</a:t>
            </a:r>
            <a:r>
              <a:rPr lang="zh-TW" altLang="en-US" dirty="0" smtClean="0"/>
              <a:t>之間隨機變動的數值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25</a:t>
            </a:fld>
            <a:endParaRPr lang="zh-TW" altLang="en-US"/>
          </a:p>
        </p:txBody>
      </p:sp>
    </p:spTree>
    <p:extLst>
      <p:ext uri="{BB962C8B-B14F-4D97-AF65-F5344CB8AC3E}">
        <p14:creationId xmlns:p14="http://schemas.microsoft.com/office/powerpoint/2010/main" val="12736918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實驗中演算法的參數設定</a:t>
            </a:r>
            <a:endParaRPr lang="en-US" altLang="zh-TW" dirty="0" smtClean="0"/>
          </a:p>
          <a:p>
            <a:r>
              <a:rPr lang="zh-TW" altLang="en-US" dirty="0" smtClean="0"/>
              <a:t>一般常態分佈異常判斷使用三倍標準差</a:t>
            </a:r>
            <a:endParaRPr lang="en-US" altLang="zh-TW" dirty="0" smtClean="0"/>
          </a:p>
          <a:p>
            <a:r>
              <a:rPr lang="zh-TW" altLang="en-US" dirty="0" smtClean="0"/>
              <a:t>集體資料的平均值配合常態分佈，觀察視窗的大小為</a:t>
            </a:r>
            <a:r>
              <a:rPr lang="en-US" altLang="zh-TW" dirty="0" smtClean="0"/>
              <a:t>8</a:t>
            </a:r>
            <a:r>
              <a:rPr lang="zh-TW" altLang="en-US" dirty="0" smtClean="0"/>
              <a:t>筆資料，視窗滑動間隔為</a:t>
            </a:r>
            <a:r>
              <a:rPr lang="en-US" altLang="zh-TW" dirty="0" smtClean="0"/>
              <a:t>6</a:t>
            </a:r>
            <a:r>
              <a:rPr lang="zh-TW" altLang="en-US" dirty="0" smtClean="0"/>
              <a:t>筆資料，異常判斷的門檻因為計算平均之後的數值會造成更小的標準差，所以使用五倍標準差</a:t>
            </a:r>
            <a:endParaRPr lang="en-US" altLang="zh-TW" dirty="0" smtClean="0"/>
          </a:p>
          <a:p>
            <a:r>
              <a:rPr lang="en-US" altLang="zh-TW" dirty="0" smtClean="0"/>
              <a:t>CUSUM</a:t>
            </a:r>
            <a:r>
              <a:rPr lang="zh-TW" altLang="en-US" dirty="0" smtClean="0"/>
              <a:t>資料變動的容忍範圍是</a:t>
            </a:r>
            <a:r>
              <a:rPr lang="en-US" altLang="zh-TW" dirty="0" smtClean="0"/>
              <a:t>1/2</a:t>
            </a:r>
            <a:r>
              <a:rPr lang="zh-TW" altLang="en-US" dirty="0" smtClean="0"/>
              <a:t>標準差，累加值的異常門檻是</a:t>
            </a:r>
            <a:r>
              <a:rPr lang="en-US" altLang="zh-TW" dirty="0" smtClean="0"/>
              <a:t>4</a:t>
            </a:r>
            <a:r>
              <a:rPr lang="zh-TW" altLang="en-US" dirty="0" smtClean="0"/>
              <a:t>倍標準差</a:t>
            </a:r>
            <a:endParaRPr lang="en-US" altLang="zh-TW" dirty="0" smtClean="0"/>
          </a:p>
          <a:p>
            <a:r>
              <a:rPr lang="zh-TW" altLang="en-US" dirty="0" smtClean="0"/>
              <a:t>關於</a:t>
            </a:r>
            <a:r>
              <a:rPr lang="en-US" altLang="zh-TW" dirty="0" smtClean="0"/>
              <a:t>LOF</a:t>
            </a:r>
            <a:r>
              <a:rPr lang="zh-TW" altLang="en-US" dirty="0" smtClean="0"/>
              <a:t>的方法，觀察視窗都是</a:t>
            </a:r>
            <a:r>
              <a:rPr lang="en-US" altLang="zh-TW" dirty="0" smtClean="0"/>
              <a:t>8</a:t>
            </a:r>
            <a:r>
              <a:rPr lang="zh-TW" altLang="en-US" dirty="0" smtClean="0"/>
              <a:t>筆資料，滑動間隔是</a:t>
            </a:r>
            <a:r>
              <a:rPr lang="en-US" altLang="zh-TW" dirty="0" smtClean="0"/>
              <a:t>1</a:t>
            </a:r>
            <a:r>
              <a:rPr lang="zh-TW" altLang="en-US" dirty="0" smtClean="0"/>
              <a:t>筆資料，判斷區域的鄰近點個數是</a:t>
            </a:r>
            <a:r>
              <a:rPr lang="en-US" altLang="zh-TW" dirty="0" smtClean="0"/>
              <a:t>8</a:t>
            </a:r>
            <a:r>
              <a:rPr lang="zh-TW" altLang="en-US" dirty="0" smtClean="0"/>
              <a:t>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26</a:t>
            </a:fld>
            <a:endParaRPr lang="zh-TW" altLang="en-US"/>
          </a:p>
        </p:txBody>
      </p:sp>
    </p:spTree>
    <p:extLst>
      <p:ext uri="{BB962C8B-B14F-4D97-AF65-F5344CB8AC3E}">
        <p14:creationId xmlns:p14="http://schemas.microsoft.com/office/powerpoint/2010/main" val="38741647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模擬的異常事件有四個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27</a:t>
            </a:fld>
            <a:endParaRPr lang="zh-TW" altLang="en-US"/>
          </a:p>
        </p:txBody>
      </p:sp>
    </p:spTree>
    <p:extLst>
      <p:ext uri="{BB962C8B-B14F-4D97-AF65-F5344CB8AC3E}">
        <p14:creationId xmlns:p14="http://schemas.microsoft.com/office/powerpoint/2010/main" val="3122777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異常事件分別都是用</a:t>
            </a:r>
            <a:r>
              <a:rPr lang="en-US" altLang="zh-TW" dirty="0" smtClean="0"/>
              <a:t>32</a:t>
            </a:r>
            <a:r>
              <a:rPr lang="zh-TW" altLang="en-US" dirty="0" smtClean="0"/>
              <a:t>筆資料描述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28</a:t>
            </a:fld>
            <a:endParaRPr lang="zh-TW" altLang="en-US"/>
          </a:p>
        </p:txBody>
      </p:sp>
    </p:spTree>
    <p:extLst>
      <p:ext uri="{BB962C8B-B14F-4D97-AF65-F5344CB8AC3E}">
        <p14:creationId xmlns:p14="http://schemas.microsoft.com/office/powerpoint/2010/main" val="11322256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訓練資料在</a:t>
            </a:r>
            <a:r>
              <a:rPr lang="en-US" altLang="zh-TW" dirty="0" smtClean="0"/>
              <a:t>0</a:t>
            </a:r>
            <a:r>
              <a:rPr lang="zh-TW" altLang="en-US" dirty="0" smtClean="0"/>
              <a:t>到</a:t>
            </a:r>
            <a:r>
              <a:rPr lang="en-US" altLang="zh-TW" dirty="0" smtClean="0"/>
              <a:t>2</a:t>
            </a:r>
            <a:r>
              <a:rPr lang="zh-TW" altLang="en-US" dirty="0" smtClean="0"/>
              <a:t>之間變動，得到的標準差很小</a:t>
            </a:r>
            <a:endParaRPr lang="en-US" altLang="zh-TW" dirty="0" smtClean="0"/>
          </a:p>
          <a:p>
            <a:r>
              <a:rPr lang="zh-TW" altLang="en-US" dirty="0" smtClean="0"/>
              <a:t>平均值加上三倍標準差的門檻還不到</a:t>
            </a:r>
            <a:r>
              <a:rPr lang="en-US" altLang="zh-TW" dirty="0" smtClean="0"/>
              <a:t>4</a:t>
            </a:r>
          </a:p>
          <a:p>
            <a:r>
              <a:rPr lang="zh-TW" altLang="en-US" dirty="0" smtClean="0"/>
              <a:t>而前三個事件上升的過程中都只有前三個數值小於</a:t>
            </a:r>
            <a:r>
              <a:rPr lang="en-US" altLang="zh-TW" dirty="0" smtClean="0"/>
              <a:t>3</a:t>
            </a:r>
          </a:p>
          <a:p>
            <a:endParaRPr lang="en-US" altLang="zh-TW" dirty="0" smtClean="0"/>
          </a:p>
          <a:p>
            <a:r>
              <a:rPr lang="zh-TW" altLang="en-US" dirty="0" smtClean="0"/>
              <a:t>最後一個緩慢上升的事件因為使用較多數值描述上升的過程</a:t>
            </a:r>
            <a:endParaRPr lang="en-US" altLang="zh-TW" dirty="0" smtClean="0"/>
          </a:p>
          <a:p>
            <a:r>
              <a:rPr lang="zh-TW" altLang="en-US" dirty="0" smtClean="0"/>
              <a:t>所以有比較多的正常回報</a:t>
            </a:r>
            <a:endParaRPr lang="en-US" altLang="zh-TW" dirty="0" smtClean="0"/>
          </a:p>
          <a:p>
            <a:endParaRPr lang="en-US" altLang="zh-TW" dirty="0" smtClean="0"/>
          </a:p>
          <a:p>
            <a:r>
              <a:rPr lang="zh-TW" altLang="en-US" dirty="0" smtClean="0"/>
              <a:t>另外如果上升的過程足夠緩慢，有可能造成觀察區段的平均值跟著緩慢提升，使事件無法被偵測</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29</a:t>
            </a:fld>
            <a:endParaRPr lang="zh-TW" altLang="en-US"/>
          </a:p>
        </p:txBody>
      </p:sp>
    </p:spTree>
    <p:extLst>
      <p:ext uri="{BB962C8B-B14F-4D97-AF65-F5344CB8AC3E}">
        <p14:creationId xmlns:p14="http://schemas.microsoft.com/office/powerpoint/2010/main" val="37468378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因為使用視窗的觀察方式，設定</a:t>
            </a:r>
            <a:r>
              <a:rPr lang="en-US" altLang="zh-TW" dirty="0" smtClean="0"/>
              <a:t>6</a:t>
            </a:r>
            <a:r>
              <a:rPr lang="zh-TW" altLang="en-US" dirty="0" smtClean="0"/>
              <a:t>筆資料視窗才會滑動一次</a:t>
            </a:r>
            <a:endParaRPr lang="en-US" altLang="zh-TW" dirty="0" smtClean="0"/>
          </a:p>
          <a:p>
            <a:r>
              <a:rPr lang="zh-TW" altLang="en-US" dirty="0" smtClean="0"/>
              <a:t>所以在</a:t>
            </a:r>
            <a:r>
              <a:rPr lang="en-US" altLang="zh-TW" dirty="0" smtClean="0"/>
              <a:t>32</a:t>
            </a:r>
            <a:r>
              <a:rPr lang="zh-TW" altLang="en-US" dirty="0" smtClean="0"/>
              <a:t>比數值的判斷過程中，只會產生</a:t>
            </a:r>
            <a:r>
              <a:rPr lang="en-US" altLang="zh-TW" dirty="0" smtClean="0"/>
              <a:t>5</a:t>
            </a:r>
            <a:r>
              <a:rPr lang="zh-TW" altLang="en-US" dirty="0" smtClean="0"/>
              <a:t>次處理結果</a:t>
            </a:r>
            <a:endParaRPr lang="en-US" altLang="zh-TW" dirty="0" smtClean="0"/>
          </a:p>
          <a:p>
            <a:r>
              <a:rPr lang="zh-TW" altLang="en-US" dirty="0" smtClean="0"/>
              <a:t>圖形中每</a:t>
            </a:r>
            <a:r>
              <a:rPr lang="en-US" altLang="zh-TW" dirty="0" smtClean="0"/>
              <a:t>6</a:t>
            </a:r>
            <a:r>
              <a:rPr lang="zh-TW" altLang="en-US" dirty="0" smtClean="0"/>
              <a:t>個點是一次視窗判斷的結果</a:t>
            </a:r>
            <a:endParaRPr lang="en-US" altLang="zh-TW" dirty="0" smtClean="0"/>
          </a:p>
          <a:p>
            <a:endParaRPr lang="en-US" altLang="zh-TW" dirty="0" smtClean="0"/>
          </a:p>
          <a:p>
            <a:r>
              <a:rPr lang="zh-TW" altLang="en-US" dirty="0" smtClean="0"/>
              <a:t>可以觀察到，視窗內如果包含上升數值，就會讓群體平均值變大，造成異常回報</a:t>
            </a:r>
            <a:endParaRPr lang="en-US" altLang="zh-TW" dirty="0" smtClean="0"/>
          </a:p>
          <a:p>
            <a:r>
              <a:rPr lang="zh-TW" altLang="en-US" dirty="0" smtClean="0"/>
              <a:t>快速變化的反應時間會比一般常態分佈慢</a:t>
            </a:r>
            <a:endParaRPr lang="en-US" altLang="zh-TW" dirty="0" smtClean="0"/>
          </a:p>
          <a:p>
            <a:r>
              <a:rPr lang="zh-TW" altLang="en-US" dirty="0" smtClean="0"/>
              <a:t>緩慢變化則差不多</a:t>
            </a:r>
            <a:endParaRPr lang="en-US" altLang="zh-TW" dirty="0" smtClean="0"/>
          </a:p>
          <a:p>
            <a:r>
              <a:rPr lang="zh-TW" altLang="en-US" dirty="0" smtClean="0"/>
              <a:t>因為視窗滑動的時間，和上升至超過標準差的時間相近</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30</a:t>
            </a:fld>
            <a:endParaRPr lang="zh-TW" altLang="en-US"/>
          </a:p>
        </p:txBody>
      </p:sp>
    </p:spTree>
    <p:extLst>
      <p:ext uri="{BB962C8B-B14F-4D97-AF65-F5344CB8AC3E}">
        <p14:creationId xmlns:p14="http://schemas.microsoft.com/office/powerpoint/2010/main" val="20644382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的反應時間點也與一般常態分佈相近</a:t>
            </a:r>
            <a:endParaRPr lang="en-US" altLang="zh-TW" dirty="0" smtClean="0"/>
          </a:p>
          <a:p>
            <a:r>
              <a:rPr lang="zh-TW" altLang="en-US" dirty="0" smtClean="0"/>
              <a:t>在快速上升的事件上甚至還比常態分佈早了一個資料點</a:t>
            </a:r>
            <a:endParaRPr lang="en-US" altLang="zh-TW" dirty="0" smtClean="0"/>
          </a:p>
          <a:p>
            <a:r>
              <a:rPr lang="zh-TW" altLang="en-US" dirty="0" smtClean="0"/>
              <a:t>如果數值變化的幅度大於</a:t>
            </a:r>
            <a:r>
              <a:rPr lang="en-US" altLang="zh-TW" dirty="0" smtClean="0"/>
              <a:t>4</a:t>
            </a:r>
            <a:r>
              <a:rPr lang="zh-TW" altLang="en-US" dirty="0" smtClean="0"/>
              <a:t>倍標準差，此方法就會跳過累加的步驟，直接回報異常結果</a:t>
            </a:r>
            <a:endParaRPr lang="en-US" altLang="zh-TW" dirty="0" smtClean="0"/>
          </a:p>
          <a:p>
            <a:endParaRPr lang="en-US" altLang="zh-TW" dirty="0" smtClean="0"/>
          </a:p>
          <a:p>
            <a:r>
              <a:rPr lang="zh-TW" altLang="en-US" dirty="0" smtClean="0"/>
              <a:t>但如果一筆資料的變動量沒有超過門檻值，異常條件滿足之後，累加值會被歸零，這樣的行為造成異常事件回報的過程中夾帶一些正常的結果</a:t>
            </a:r>
            <a:endParaRPr lang="en-US" altLang="zh-TW" dirty="0" smtClean="0"/>
          </a:p>
          <a:p>
            <a:r>
              <a:rPr lang="zh-TW" altLang="en-US" dirty="0" smtClean="0"/>
              <a:t>這樣的特性可以將少量事件的資料也加入平均值的觀察內容</a:t>
            </a:r>
            <a:endParaRPr lang="en-US" altLang="zh-TW" dirty="0" smtClean="0"/>
          </a:p>
          <a:p>
            <a:r>
              <a:rPr lang="zh-TW" altLang="en-US" dirty="0" smtClean="0"/>
              <a:t>提高演算法適應情境改變的能力</a:t>
            </a:r>
            <a:endParaRPr lang="en-US" altLang="zh-TW" dirty="0" smtClean="0"/>
          </a:p>
          <a:p>
            <a:endParaRPr lang="en-US" altLang="zh-TW" dirty="0" smtClean="0"/>
          </a:p>
          <a:p>
            <a:r>
              <a:rPr lang="zh-TW" altLang="en-US" dirty="0" smtClean="0"/>
              <a:t>前面提到一般常態分佈可能無法正確辨識非常緩慢的事件偏移</a:t>
            </a:r>
            <a:endParaRPr lang="en-US" altLang="zh-TW" dirty="0" smtClean="0"/>
          </a:p>
          <a:p>
            <a:r>
              <a:rPr lang="zh-TW" altLang="en-US" dirty="0" smtClean="0"/>
              <a:t>如果使</a:t>
            </a:r>
            <a:r>
              <a:rPr lang="en-US" altLang="zh-TW" dirty="0" smtClean="0"/>
              <a:t>CUSUM</a:t>
            </a:r>
            <a:r>
              <a:rPr lang="zh-TW" altLang="en-US" dirty="0" smtClean="0"/>
              <a:t>就不會發生，因維連續的趨勢變化還是會造成累加值超過異常門檻</a:t>
            </a:r>
            <a:endParaRPr lang="en-US" altLang="zh-TW" dirty="0" smtClean="0"/>
          </a:p>
          <a:p>
            <a:r>
              <a:rPr lang="zh-TW" altLang="en-US" dirty="0" smtClean="0"/>
              <a:t>只是累加的過程可能會比較長，在異常訊息的中間可能夾帶更多比正常的資料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31</a:t>
            </a:fld>
            <a:endParaRPr lang="zh-TW" altLang="en-US"/>
          </a:p>
        </p:txBody>
      </p:sp>
    </p:spTree>
    <p:extLst>
      <p:ext uri="{BB962C8B-B14F-4D97-AF65-F5344CB8AC3E}">
        <p14:creationId xmlns:p14="http://schemas.microsoft.com/office/powerpoint/2010/main" val="28507619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觀察資料片段的數值，再和歷史資料點比較</a:t>
            </a:r>
            <a:endParaRPr lang="en-US" altLang="zh-TW" dirty="0" smtClean="0"/>
          </a:p>
          <a:p>
            <a:r>
              <a:rPr lang="zh-TW" altLang="en-US" dirty="0" smtClean="0"/>
              <a:t>發現同樣的改變狀態異常回報的時間點都比一般常態分佈要晚一點</a:t>
            </a:r>
            <a:endParaRPr lang="en-US" altLang="zh-TW" dirty="0" smtClean="0"/>
          </a:p>
          <a:p>
            <a:r>
              <a:rPr lang="zh-TW" altLang="en-US" dirty="0" smtClean="0"/>
              <a:t>這和視窗內每次只更新一筆數值有關</a:t>
            </a:r>
            <a:endParaRPr lang="en-US" altLang="zh-TW" dirty="0" smtClean="0"/>
          </a:p>
          <a:p>
            <a:r>
              <a:rPr lang="zh-TW" altLang="en-US" dirty="0" smtClean="0"/>
              <a:t>一項觀察特徵的變動量如果沒有非常顯著，在多維度空間中轉換成的資料點</a:t>
            </a:r>
            <a:endParaRPr lang="en-US" altLang="zh-TW" dirty="0" smtClean="0"/>
          </a:p>
          <a:p>
            <a:r>
              <a:rPr lang="zh-TW" altLang="en-US" dirty="0" smtClean="0"/>
              <a:t>可能還是會鄰近於歷史資料群集</a:t>
            </a:r>
            <a:endParaRPr lang="en-US" altLang="zh-TW" dirty="0" smtClean="0"/>
          </a:p>
          <a:p>
            <a:endParaRPr lang="en-US" altLang="zh-TW" dirty="0" smtClean="0"/>
          </a:p>
          <a:p>
            <a:r>
              <a:rPr lang="zh-TW" altLang="en-US" dirty="0" smtClean="0"/>
              <a:t>而隨著事件資料取代的數值越來越多，多個特徵值都偏離原本狀態時</a:t>
            </a:r>
            <a:endParaRPr lang="en-US" altLang="zh-TW" dirty="0" smtClean="0"/>
          </a:p>
          <a:p>
            <a:r>
              <a:rPr lang="zh-TW" altLang="en-US" dirty="0" smtClean="0"/>
              <a:t>才會分佈到資料集中的稀疏位置，造成密度比值升高</a:t>
            </a:r>
            <a:endParaRPr lang="en-US" altLang="zh-TW" dirty="0" smtClean="0"/>
          </a:p>
          <a:p>
            <a:endParaRPr lang="en-US" altLang="zh-TW" dirty="0" smtClean="0"/>
          </a:p>
          <a:p>
            <a:r>
              <a:rPr lang="zh-TW" altLang="en-US" dirty="0" smtClean="0"/>
              <a:t>異常回報會擴散到事件發生後的多筆資料</a:t>
            </a:r>
            <a:endParaRPr lang="en-US" altLang="zh-TW" dirty="0" smtClean="0"/>
          </a:p>
          <a:p>
            <a:r>
              <a:rPr lang="zh-TW" altLang="en-US" dirty="0" smtClean="0"/>
              <a:t>這也和觀察視窗每次只更新一筆內容有關</a:t>
            </a:r>
            <a:endParaRPr lang="en-US" altLang="zh-TW" dirty="0" smtClean="0"/>
          </a:p>
          <a:p>
            <a:r>
              <a:rPr lang="zh-TW" altLang="en-US" dirty="0" smtClean="0"/>
              <a:t>異常資料也會在視窗中保留，直到被新的數值取代</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32</a:t>
            </a:fld>
            <a:endParaRPr lang="zh-TW" altLang="en-US"/>
          </a:p>
        </p:txBody>
      </p:sp>
    </p:spTree>
    <p:extLst>
      <p:ext uri="{BB962C8B-B14F-4D97-AF65-F5344CB8AC3E}">
        <p14:creationId xmlns:p14="http://schemas.microsoft.com/office/powerpoint/2010/main" val="12709493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在四種事件類型中都比單純觀察資料型態的</a:t>
            </a:r>
            <a:r>
              <a:rPr lang="en-US" altLang="zh-TW" dirty="0" smtClean="0"/>
              <a:t>LOF</a:t>
            </a:r>
            <a:r>
              <a:rPr lang="zh-TW" altLang="en-US" dirty="0" smtClean="0"/>
              <a:t>方法快回報異常</a:t>
            </a:r>
            <a:endParaRPr lang="en-US" altLang="zh-TW" dirty="0" smtClean="0"/>
          </a:p>
          <a:p>
            <a:r>
              <a:rPr lang="zh-TW" altLang="en-US" dirty="0" smtClean="0"/>
              <a:t>原因是資料區段的平均值改變</a:t>
            </a:r>
            <a:endParaRPr lang="en-US" altLang="zh-TW" dirty="0" smtClean="0"/>
          </a:p>
          <a:p>
            <a:endParaRPr lang="en-US" altLang="zh-TW" dirty="0" smtClean="0"/>
          </a:p>
          <a:p>
            <a:r>
              <a:rPr lang="zh-TW" altLang="en-US" dirty="0" smtClean="0"/>
              <a:t>但值得注意的是事件本身前後兩段的銜接資料</a:t>
            </a:r>
            <a:endParaRPr lang="en-US" altLang="zh-TW" dirty="0" smtClean="0"/>
          </a:p>
          <a:p>
            <a:r>
              <a:rPr lang="zh-TW" altLang="en-US" dirty="0" smtClean="0"/>
              <a:t>在這個方法中產生許多誤判的情況</a:t>
            </a:r>
            <a:endParaRPr lang="en-US" altLang="zh-TW" dirty="0" smtClean="0"/>
          </a:p>
          <a:p>
            <a:endParaRPr lang="en-US" altLang="zh-TW" dirty="0" smtClean="0"/>
          </a:p>
          <a:p>
            <a:r>
              <a:rPr lang="zh-TW" altLang="en-US" dirty="0" smtClean="0"/>
              <a:t>於是我實際取得每個判斷結果的</a:t>
            </a:r>
            <a:r>
              <a:rPr lang="en-US" altLang="zh-TW" dirty="0" smtClean="0"/>
              <a:t>LOF</a:t>
            </a:r>
            <a:r>
              <a:rPr lang="zh-TW" altLang="en-US" dirty="0" smtClean="0"/>
              <a:t>分數</a:t>
            </a:r>
            <a:endParaRPr lang="en-US" altLang="zh-TW" dirty="0" smtClean="0"/>
          </a:p>
          <a:p>
            <a:r>
              <a:rPr lang="zh-TW" altLang="en-US" dirty="0" smtClean="0"/>
              <a:t>發現誤判的資料點，密度比值都非常接近</a:t>
            </a:r>
            <a:r>
              <a:rPr lang="en-US" altLang="zh-TW" dirty="0" smtClean="0"/>
              <a:t>2</a:t>
            </a:r>
            <a:r>
              <a:rPr lang="zh-TW" altLang="en-US" dirty="0" smtClean="0"/>
              <a:t>。事件異常的分數更大</a:t>
            </a:r>
            <a:r>
              <a:rPr lang="en-US" altLang="zh-TW" dirty="0" smtClean="0"/>
              <a:t>5,6</a:t>
            </a:r>
          </a:p>
          <a:p>
            <a:r>
              <a:rPr lang="zh-TW" altLang="en-US" dirty="0" smtClean="0"/>
              <a:t>因此我們只要把異常門檻稍微調高一點，就能夠消除這些誤判的結果</a:t>
            </a:r>
            <a:endParaRPr lang="en-US" altLang="zh-TW" dirty="0" smtClean="0"/>
          </a:p>
          <a:p>
            <a:r>
              <a:rPr lang="zh-TW" altLang="en-US" dirty="0" smtClean="0"/>
              <a:t>並且不影響異常事件的回報結果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33</a:t>
            </a:fld>
            <a:endParaRPr lang="zh-TW" altLang="en-US"/>
          </a:p>
        </p:txBody>
      </p:sp>
    </p:spTree>
    <p:extLst>
      <p:ext uri="{BB962C8B-B14F-4D97-AF65-F5344CB8AC3E}">
        <p14:creationId xmlns:p14="http://schemas.microsoft.com/office/powerpoint/2010/main" val="5831414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34</a:t>
            </a:fld>
            <a:endParaRPr lang="zh-TW" altLang="en-US"/>
          </a:p>
        </p:txBody>
      </p:sp>
    </p:spTree>
    <p:extLst>
      <p:ext uri="{BB962C8B-B14F-4D97-AF65-F5344CB8AC3E}">
        <p14:creationId xmlns:p14="http://schemas.microsoft.com/office/powerpoint/2010/main" val="22392864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實驗二的第一種訓練資料</a:t>
            </a:r>
            <a:endParaRPr lang="en-US" altLang="zh-TW" dirty="0" smtClean="0"/>
          </a:p>
          <a:p>
            <a:r>
              <a:rPr lang="zh-TW" altLang="en-US" dirty="0" smtClean="0"/>
              <a:t>是</a:t>
            </a:r>
            <a:r>
              <a:rPr lang="en-US" altLang="zh-TW" dirty="0" smtClean="0"/>
              <a:t>128</a:t>
            </a:r>
            <a:r>
              <a:rPr lang="zh-TW" altLang="en-US" dirty="0" smtClean="0"/>
              <a:t>筆規律週期變動的數值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35</a:t>
            </a:fld>
            <a:endParaRPr lang="zh-TW" altLang="en-US"/>
          </a:p>
        </p:txBody>
      </p:sp>
    </p:spTree>
    <p:extLst>
      <p:ext uri="{BB962C8B-B14F-4D97-AF65-F5344CB8AC3E}">
        <p14:creationId xmlns:p14="http://schemas.microsoft.com/office/powerpoint/2010/main" val="3173029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第二種是真實的氣溫資料</a:t>
            </a:r>
            <a:endParaRPr lang="en-US" altLang="zh-TW" dirty="0" smtClean="0"/>
          </a:p>
          <a:p>
            <a:r>
              <a:rPr lang="zh-TW" altLang="en-US" dirty="0" smtClean="0"/>
              <a:t>從中央氣象局歷史資料中取得五天多一點的資料量</a:t>
            </a:r>
            <a:r>
              <a:rPr lang="en-US" altLang="zh-TW" dirty="0" smtClean="0"/>
              <a:t>128</a:t>
            </a:r>
            <a:r>
              <a:rPr lang="zh-TW" altLang="en-US" dirty="0" smtClean="0"/>
              <a:t>筆</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36</a:t>
            </a:fld>
            <a:endParaRPr lang="zh-TW" altLang="en-US"/>
          </a:p>
        </p:txBody>
      </p:sp>
    </p:spTree>
    <p:extLst>
      <p:ext uri="{BB962C8B-B14F-4D97-AF65-F5344CB8AC3E}">
        <p14:creationId xmlns:p14="http://schemas.microsoft.com/office/powerpoint/2010/main" val="12594069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實驗二想模擬的異常事件</a:t>
            </a:r>
            <a:endParaRPr lang="en-US" altLang="zh-TW" dirty="0" smtClean="0"/>
          </a:p>
          <a:p>
            <a:r>
              <a:rPr lang="zh-TW" altLang="en-US" dirty="0" smtClean="0"/>
              <a:t>是存在於資料本身波動範圍內的改變</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37</a:t>
            </a:fld>
            <a:endParaRPr lang="zh-TW" altLang="en-US"/>
          </a:p>
        </p:txBody>
      </p:sp>
    </p:spTree>
    <p:extLst>
      <p:ext uri="{BB962C8B-B14F-4D97-AF65-F5344CB8AC3E}">
        <p14:creationId xmlns:p14="http://schemas.microsoft.com/office/powerpoint/2010/main" val="10785353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如圖中的紅圈處</a:t>
            </a:r>
            <a:endParaRPr lang="en-US" altLang="zh-TW" dirty="0" smtClean="0"/>
          </a:p>
          <a:p>
            <a:r>
              <a:rPr lang="zh-TW" altLang="en-US" dirty="0" smtClean="0"/>
              <a:t>我們可以假想這個規律波動的數值是經過電路轉換的交流電</a:t>
            </a:r>
            <a:endParaRPr lang="en-US" altLang="zh-TW" dirty="0" smtClean="0"/>
          </a:p>
          <a:p>
            <a:r>
              <a:rPr lang="zh-TW" altLang="en-US" dirty="0" smtClean="0"/>
              <a:t>輸出結果可能因為電路中元件損壞造成轉換結果不穩定</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38</a:t>
            </a:fld>
            <a:endParaRPr lang="zh-TW" altLang="en-US"/>
          </a:p>
        </p:txBody>
      </p:sp>
    </p:spTree>
    <p:extLst>
      <p:ext uri="{BB962C8B-B14F-4D97-AF65-F5344CB8AC3E}">
        <p14:creationId xmlns:p14="http://schemas.microsoft.com/office/powerpoint/2010/main" val="1600078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真實資料的部份我們也安排了一個幅度較大的單點偏離</a:t>
            </a:r>
            <a:endParaRPr lang="en-US" altLang="zh-TW" dirty="0" smtClean="0"/>
          </a:p>
          <a:p>
            <a:r>
              <a:rPr lang="zh-TW" altLang="en-US" dirty="0" smtClean="0"/>
              <a:t>和一個幅度小的單點偏離</a:t>
            </a:r>
            <a:endParaRPr lang="en-US" altLang="zh-TW" dirty="0" smtClean="0"/>
          </a:p>
          <a:p>
            <a:r>
              <a:rPr lang="zh-TW" altLang="en-US" dirty="0" smtClean="0"/>
              <a:t>以及後面一個群體狀態的改變</a:t>
            </a:r>
            <a:endParaRPr lang="en-US" altLang="zh-TW" dirty="0" smtClean="0"/>
          </a:p>
          <a:p>
            <a:endParaRPr lang="en-US" altLang="zh-TW" dirty="0" smtClean="0"/>
          </a:p>
          <a:p>
            <a:r>
              <a:rPr lang="zh-TW" altLang="en-US" dirty="0" smtClean="0"/>
              <a:t>希望測試</a:t>
            </a:r>
            <a:r>
              <a:rPr lang="en-US" altLang="zh-TW" dirty="0" smtClean="0"/>
              <a:t>LOF</a:t>
            </a:r>
            <a:r>
              <a:rPr lang="zh-TW" altLang="en-US" dirty="0" smtClean="0"/>
              <a:t>使用真實資料與歷史群集比對的能力</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39</a:t>
            </a:fld>
            <a:endParaRPr lang="zh-TW" altLang="en-US"/>
          </a:p>
        </p:txBody>
      </p:sp>
    </p:spTree>
    <p:extLst>
      <p:ext uri="{BB962C8B-B14F-4D97-AF65-F5344CB8AC3E}">
        <p14:creationId xmlns:p14="http://schemas.microsoft.com/office/powerpoint/2010/main" val="18177959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因為使用常態分佈為判斷基礎的方式</a:t>
            </a:r>
            <a:endParaRPr lang="en-US" altLang="zh-TW" dirty="0" smtClean="0"/>
          </a:p>
          <a:p>
            <a:r>
              <a:rPr lang="zh-TW" altLang="en-US" dirty="0" smtClean="0"/>
              <a:t>都無法正確回報資料週期變動內的事件異常</a:t>
            </a:r>
            <a:endParaRPr lang="en-US" altLang="zh-TW" dirty="0" smtClean="0"/>
          </a:p>
          <a:p>
            <a:endParaRPr lang="en-US" altLang="zh-TW" dirty="0" smtClean="0"/>
          </a:p>
          <a:p>
            <a:r>
              <a:rPr lang="zh-TW" altLang="en-US" dirty="0" smtClean="0"/>
              <a:t>原因是資料本身波動造成的標準差隱藏了波動範圍內的資料改變</a:t>
            </a:r>
            <a:endParaRPr lang="en-US" altLang="zh-TW" dirty="0" smtClean="0"/>
          </a:p>
          <a:p>
            <a:endParaRPr lang="en-US" altLang="zh-TW" dirty="0" smtClean="0"/>
          </a:p>
          <a:p>
            <a:r>
              <a:rPr lang="zh-TW" altLang="en-US" dirty="0" smtClean="0"/>
              <a:t>所以實驗二我們只展示</a:t>
            </a:r>
            <a:r>
              <a:rPr lang="en-US" altLang="zh-TW" dirty="0" smtClean="0"/>
              <a:t>LOF</a:t>
            </a:r>
            <a:r>
              <a:rPr lang="zh-TW" altLang="en-US" dirty="0" smtClean="0"/>
              <a:t>的感測結果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40</a:t>
            </a:fld>
            <a:endParaRPr lang="zh-TW" altLang="en-US"/>
          </a:p>
        </p:txBody>
      </p:sp>
    </p:spTree>
    <p:extLst>
      <p:ext uri="{BB962C8B-B14F-4D97-AF65-F5344CB8AC3E}">
        <p14:creationId xmlns:p14="http://schemas.microsoft.com/office/powerpoint/2010/main" val="2603380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演算法觀察資料型態</a:t>
            </a:r>
            <a:endParaRPr lang="en-US" altLang="zh-TW" dirty="0" smtClean="0"/>
          </a:p>
          <a:p>
            <a:r>
              <a:rPr lang="zh-TW" altLang="en-US" dirty="0" smtClean="0"/>
              <a:t>在規律週期改變中的異常都可以被精確的回報</a:t>
            </a:r>
            <a:endParaRPr lang="en-US" altLang="zh-TW" dirty="0" smtClean="0"/>
          </a:p>
          <a:p>
            <a:r>
              <a:rPr lang="zh-TW" altLang="en-US" dirty="0" smtClean="0"/>
              <a:t>事件回報後同樣因為視窗更新頻率的關係，會持續</a:t>
            </a:r>
            <a:r>
              <a:rPr lang="en-US" altLang="zh-TW" dirty="0" smtClean="0"/>
              <a:t>8</a:t>
            </a:r>
            <a:r>
              <a:rPr lang="zh-TW" altLang="en-US" dirty="0" smtClean="0"/>
              <a:t>筆資料，直到異常滑出視窗內容</a:t>
            </a:r>
            <a:endParaRPr lang="en-US" altLang="zh-TW" dirty="0" smtClean="0"/>
          </a:p>
          <a:p>
            <a:endParaRPr lang="en-US" altLang="zh-TW" dirty="0" smtClean="0"/>
          </a:p>
          <a:p>
            <a:r>
              <a:rPr lang="zh-TW" altLang="en-US" dirty="0" smtClean="0"/>
              <a:t>真實資料的部分因為資料變化的型態比較豐富</a:t>
            </a:r>
            <a:endParaRPr lang="en-US" altLang="zh-TW" dirty="0" smtClean="0"/>
          </a:p>
          <a:p>
            <a:r>
              <a:rPr lang="zh-TW" altLang="en-US" dirty="0" smtClean="0"/>
              <a:t>群體異常的部分沒辦法很即時的回報</a:t>
            </a:r>
            <a:endParaRPr lang="en-US" altLang="zh-TW" dirty="0" smtClean="0"/>
          </a:p>
          <a:p>
            <a:r>
              <a:rPr lang="zh-TW" altLang="en-US" dirty="0" smtClean="0"/>
              <a:t>大</a:t>
            </a:r>
            <a:r>
              <a:rPr lang="zh-TW" altLang="en-US" dirty="0" smtClean="0"/>
              <a:t>偏移的單點異常造成的異常結果維持</a:t>
            </a:r>
            <a:r>
              <a:rPr lang="zh-TW" altLang="en-US" dirty="0" smtClean="0"/>
              <a:t>時間比小</a:t>
            </a:r>
            <a:r>
              <a:rPr lang="zh-TW" altLang="en-US" dirty="0" smtClean="0"/>
              <a:t>偏移的單點</a:t>
            </a:r>
            <a:r>
              <a:rPr lang="zh-TW" altLang="en-US" dirty="0" smtClean="0"/>
              <a:t>異常久</a:t>
            </a:r>
            <a:endParaRPr lang="en-US" altLang="zh-TW" dirty="0" smtClean="0"/>
          </a:p>
          <a:p>
            <a:endParaRPr lang="en-US" altLang="zh-TW" dirty="0" smtClean="0"/>
          </a:p>
          <a:p>
            <a:r>
              <a:rPr lang="zh-TW" altLang="en-US" dirty="0" smtClean="0"/>
              <a:t>如果要更精確地偵測群體異常可以嘗試降低運算區域密度時使用的鄰近點個數</a:t>
            </a:r>
            <a:endParaRPr lang="en-US" altLang="zh-TW" dirty="0" smtClean="0"/>
          </a:p>
          <a:p>
            <a:r>
              <a:rPr lang="zh-TW" altLang="en-US" dirty="0" smtClean="0"/>
              <a:t>因為豐富變化的資料型態在資料模型中形成更多的歷史群集</a:t>
            </a:r>
            <a:endParaRPr lang="en-US" altLang="zh-TW" dirty="0" smtClean="0"/>
          </a:p>
          <a:p>
            <a:r>
              <a:rPr lang="zh-TW" altLang="en-US" dirty="0" smtClean="0"/>
              <a:t>如果鄰近點取太多，可能會參考到其他群集的資料</a:t>
            </a:r>
            <a:endParaRPr lang="en-US" altLang="zh-TW" dirty="0" smtClean="0"/>
          </a:p>
          <a:p>
            <a:r>
              <a:rPr lang="zh-TW" altLang="en-US" dirty="0" smtClean="0"/>
              <a:t>因此降低鄰近點的使用個數可以改善此問題</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41</a:t>
            </a:fld>
            <a:endParaRPr lang="zh-TW" altLang="en-US"/>
          </a:p>
        </p:txBody>
      </p:sp>
    </p:spTree>
    <p:extLst>
      <p:ext uri="{BB962C8B-B14F-4D97-AF65-F5344CB8AC3E}">
        <p14:creationId xmlns:p14="http://schemas.microsoft.com/office/powerpoint/2010/main" val="14464552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資料片段的平均值和標準差配合</a:t>
            </a:r>
            <a:r>
              <a:rPr lang="en-US" altLang="zh-TW" dirty="0" smtClean="0"/>
              <a:t>LOF</a:t>
            </a:r>
            <a:r>
              <a:rPr lang="zh-TW" altLang="en-US" dirty="0" smtClean="0"/>
              <a:t>的方法</a:t>
            </a:r>
            <a:endParaRPr lang="en-US" altLang="zh-TW" dirty="0" smtClean="0"/>
          </a:p>
          <a:p>
            <a:r>
              <a:rPr lang="zh-TW" altLang="en-US" dirty="0" smtClean="0"/>
              <a:t>在規律週期的資料中可以正確回報異常事件</a:t>
            </a:r>
            <a:endParaRPr lang="en-US" altLang="zh-TW" dirty="0" smtClean="0"/>
          </a:p>
          <a:p>
            <a:endParaRPr lang="en-US" altLang="zh-TW" dirty="0" smtClean="0"/>
          </a:p>
          <a:p>
            <a:r>
              <a:rPr lang="zh-TW" altLang="en-US" dirty="0" smtClean="0"/>
              <a:t>單點事件的判斷條件是片段資料的標準差改變</a:t>
            </a:r>
            <a:endParaRPr lang="en-US" altLang="zh-TW" dirty="0" smtClean="0"/>
          </a:p>
          <a:p>
            <a:r>
              <a:rPr lang="zh-TW" altLang="en-US" dirty="0" smtClean="0"/>
              <a:t>而群體事件則是平均值的改變比較多，標準差改變比較少</a:t>
            </a:r>
            <a:endParaRPr lang="en-US" altLang="zh-TW" dirty="0" smtClean="0"/>
          </a:p>
          <a:p>
            <a:endParaRPr lang="en-US" altLang="zh-TW" dirty="0" smtClean="0"/>
          </a:p>
          <a:p>
            <a:r>
              <a:rPr lang="zh-TW" altLang="en-US" dirty="0" smtClean="0"/>
              <a:t>此方法用於特徵型態較豐富的資料類型就沒辦法正確判斷了</a:t>
            </a:r>
            <a:endParaRPr lang="en-US" altLang="zh-TW" dirty="0" smtClean="0"/>
          </a:p>
          <a:p>
            <a:r>
              <a:rPr lang="zh-TW" altLang="en-US" dirty="0" smtClean="0"/>
              <a:t>圖裡面顯示的異常點是誤判</a:t>
            </a:r>
            <a:endParaRPr lang="en-US" altLang="zh-TW" dirty="0" smtClean="0"/>
          </a:p>
          <a:p>
            <a:r>
              <a:rPr lang="zh-TW" altLang="en-US" dirty="0" smtClean="0"/>
              <a:t>因為豐富的資料特徵也產生更多種類的區段平均值和標準差</a:t>
            </a:r>
            <a:endParaRPr lang="en-US" altLang="zh-TW" dirty="0" smtClean="0"/>
          </a:p>
          <a:p>
            <a:endParaRPr lang="en-US" altLang="zh-TW" dirty="0" smtClean="0"/>
          </a:p>
          <a:p>
            <a:r>
              <a:rPr lang="zh-TW" altLang="en-US" dirty="0" smtClean="0"/>
              <a:t>包含真正事件數值的資料片段也會因此存在於某個歷史群集之內</a:t>
            </a:r>
            <a:endParaRPr lang="en-US" altLang="zh-TW" dirty="0" smtClean="0"/>
          </a:p>
          <a:p>
            <a:r>
              <a:rPr lang="zh-TW" altLang="en-US" dirty="0" smtClean="0"/>
              <a:t>無法被正確判斷</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42</a:t>
            </a:fld>
            <a:endParaRPr lang="zh-TW" altLang="en-US"/>
          </a:p>
        </p:txBody>
      </p:sp>
    </p:spTree>
    <p:extLst>
      <p:ext uri="{BB962C8B-B14F-4D97-AF65-F5344CB8AC3E}">
        <p14:creationId xmlns:p14="http://schemas.microsoft.com/office/powerpoint/2010/main" val="98889340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43</a:t>
            </a:fld>
            <a:endParaRPr lang="zh-TW" altLang="en-US"/>
          </a:p>
        </p:txBody>
      </p:sp>
    </p:spTree>
    <p:extLst>
      <p:ext uri="{BB962C8B-B14F-4D97-AF65-F5344CB8AC3E}">
        <p14:creationId xmlns:p14="http://schemas.microsoft.com/office/powerpoint/2010/main" val="3132872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44</a:t>
            </a:fld>
            <a:endParaRPr lang="zh-TW" altLang="en-US"/>
          </a:p>
        </p:txBody>
      </p:sp>
    </p:spTree>
    <p:extLst>
      <p:ext uri="{BB962C8B-B14F-4D97-AF65-F5344CB8AC3E}">
        <p14:creationId xmlns:p14="http://schemas.microsoft.com/office/powerpoint/2010/main" val="29677573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45</a:t>
            </a:fld>
            <a:endParaRPr lang="zh-TW" altLang="en-US"/>
          </a:p>
        </p:txBody>
      </p:sp>
    </p:spTree>
    <p:extLst>
      <p:ext uri="{BB962C8B-B14F-4D97-AF65-F5344CB8AC3E}">
        <p14:creationId xmlns:p14="http://schemas.microsoft.com/office/powerpoint/2010/main" val="301442888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46</a:t>
            </a:fld>
            <a:endParaRPr lang="zh-TW" altLang="en-US"/>
          </a:p>
        </p:txBody>
      </p:sp>
    </p:spTree>
    <p:extLst>
      <p:ext uri="{BB962C8B-B14F-4D97-AF65-F5344CB8AC3E}">
        <p14:creationId xmlns:p14="http://schemas.microsoft.com/office/powerpoint/2010/main" val="10375614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47</a:t>
            </a:fld>
            <a:endParaRPr lang="zh-TW" altLang="en-US"/>
          </a:p>
        </p:txBody>
      </p:sp>
    </p:spTree>
    <p:extLst>
      <p:ext uri="{BB962C8B-B14F-4D97-AF65-F5344CB8AC3E}">
        <p14:creationId xmlns:p14="http://schemas.microsoft.com/office/powerpoint/2010/main" val="28430062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48</a:t>
            </a:fld>
            <a:endParaRPr lang="zh-TW" altLang="en-US"/>
          </a:p>
        </p:txBody>
      </p:sp>
    </p:spTree>
    <p:extLst>
      <p:ext uri="{BB962C8B-B14F-4D97-AF65-F5344CB8AC3E}">
        <p14:creationId xmlns:p14="http://schemas.microsoft.com/office/powerpoint/2010/main" val="7354880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49</a:t>
            </a:fld>
            <a:endParaRPr lang="zh-TW" altLang="en-US"/>
          </a:p>
        </p:txBody>
      </p:sp>
    </p:spTree>
    <p:extLst>
      <p:ext uri="{BB962C8B-B14F-4D97-AF65-F5344CB8AC3E}">
        <p14:creationId xmlns:p14="http://schemas.microsoft.com/office/powerpoint/2010/main" val="2479060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fld id="{4153904B-E9F6-4A63-9321-8B53EF9082B8}"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2406276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B89927CF-A6F7-43B0-90D0-CDEC21A23250}"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20311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fld id="{F8DFD6DD-473C-4721-8B5F-E6B98DD8F841}"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57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fld id="{DF6461C6-5BEC-4AE5-90A4-B778A3A55AE2}"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847449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fld id="{2FA54954-A9C2-4BCD-ADC6-F33B3A2DD421}" type="datetime1">
              <a:rPr lang="zh-TW" altLang="en-US" smtClean="0"/>
              <a:t>2017/7/19</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4542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fld id="{A5D6EE24-E238-4020-B5A1-5E17B4DC8B80}" type="datetime1">
              <a:rPr lang="zh-TW" altLang="en-US" smtClean="0"/>
              <a:t>2017/7/19</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292763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8C06B0CF-45CC-4969-877E-2464855938BB}" type="datetime1">
              <a:rPr lang="zh-TW" altLang="en-US" smtClean="0"/>
              <a:t>2017/7/19</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63311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D2750318-5FC8-4C13-9F2A-558D72B9C5CD}"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066685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0E758968-8BB2-4DD1-A6CA-2F3ECF82673D}"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9029795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485F63C1-D7EF-47C8-A084-13F7B9E4BE01}"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6401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7F0FD99B-7AC8-416E-A0C6-BD02CB732637}"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703242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FC3F2BA-ED10-4604-83B4-04F9BD8F95E9}" type="datetime1">
              <a:rPr lang="zh-TW" altLang="en-US" smtClean="0"/>
              <a:t>2017/7/19</a:t>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36508941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954364"/>
            <a:ext cx="9144000" cy="794009"/>
          </a:xfrm>
        </p:spPr>
        <p:txBody>
          <a:bodyPr>
            <a:noAutofit/>
          </a:bodyPr>
          <a:lstStyle/>
          <a:p>
            <a:pPr>
              <a:lnSpc>
                <a:spcPct val="150000"/>
              </a:lnSpc>
            </a:pPr>
            <a:r>
              <a:rPr lang="en-US" altLang="zh-TW" sz="3600" dirty="0" err="1" smtClean="0">
                <a:latin typeface="+mn-lt"/>
                <a:ea typeface="標楷體" panose="03000509000000000000" pitchFamily="65" charset="-120"/>
              </a:rPr>
              <a:t>IoT</a:t>
            </a:r>
            <a:r>
              <a:rPr lang="zh-TW" altLang="en-US" sz="3600" dirty="0" smtClean="0">
                <a:latin typeface="標楷體" panose="03000509000000000000" pitchFamily="65" charset="-120"/>
                <a:ea typeface="標楷體" panose="03000509000000000000" pitchFamily="65" charset="-120"/>
              </a:rPr>
              <a:t>整合管理平台之異常檢測和事件警報系統</a:t>
            </a:r>
            <a:endParaRPr lang="zh-TW" altLang="en-US" sz="3600" dirty="0">
              <a:latin typeface="標楷體" panose="03000509000000000000" pitchFamily="65" charset="-120"/>
              <a:ea typeface="標楷體" panose="03000509000000000000" pitchFamily="65" charset="-120"/>
            </a:endParaRPr>
          </a:p>
        </p:txBody>
      </p:sp>
      <p:sp>
        <p:nvSpPr>
          <p:cNvPr id="3" name="副標題 2"/>
          <p:cNvSpPr>
            <a:spLocks noGrp="1"/>
          </p:cNvSpPr>
          <p:nvPr>
            <p:ph type="subTitle" idx="1"/>
          </p:nvPr>
        </p:nvSpPr>
        <p:spPr>
          <a:xfrm>
            <a:off x="1524000" y="4720041"/>
            <a:ext cx="9144000" cy="1263601"/>
          </a:xfrm>
        </p:spPr>
        <p:txBody>
          <a:bodyPr>
            <a:normAutofit/>
          </a:bodyPr>
          <a:lstStyle/>
          <a:p>
            <a:r>
              <a:rPr lang="zh-TW" altLang="en-US" sz="2000" dirty="0" smtClean="0">
                <a:latin typeface="標楷體" panose="03000509000000000000" pitchFamily="65" charset="-120"/>
                <a:ea typeface="標楷體" panose="03000509000000000000" pitchFamily="65" charset="-120"/>
              </a:rPr>
              <a:t>榮騰翎</a:t>
            </a:r>
            <a:endParaRPr lang="en-US" altLang="zh-TW" sz="2000" dirty="0" smtClean="0">
              <a:latin typeface="標楷體" panose="03000509000000000000" pitchFamily="65" charset="-120"/>
              <a:ea typeface="標楷體" panose="03000509000000000000" pitchFamily="65" charset="-120"/>
            </a:endParaRPr>
          </a:p>
          <a:p>
            <a:r>
              <a:rPr lang="zh-TW" altLang="en-US" sz="2000" dirty="0" smtClean="0">
                <a:latin typeface="標楷體" panose="03000509000000000000" pitchFamily="65" charset="-120"/>
                <a:ea typeface="標楷體" panose="03000509000000000000" pitchFamily="65" charset="-120"/>
              </a:rPr>
              <a:t>指導教授：羅壽之</a:t>
            </a:r>
            <a:endParaRPr lang="en-US" altLang="zh-TW" sz="2000" dirty="0" smtClean="0">
              <a:latin typeface="標楷體" panose="03000509000000000000" pitchFamily="65" charset="-120"/>
              <a:ea typeface="標楷體" panose="03000509000000000000" pitchFamily="65" charset="-120"/>
            </a:endParaRPr>
          </a:p>
          <a:p>
            <a:r>
              <a:rPr lang="en-US" altLang="zh-TW" sz="2000" dirty="0" smtClean="0">
                <a:cs typeface="Times New Roman" panose="02020603050405020304" pitchFamily="18" charset="0"/>
              </a:rPr>
              <a:t>2017.07.20_wiseLab</a:t>
            </a:r>
            <a:endParaRPr lang="zh-TW" altLang="en-US" sz="2000" dirty="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標題 1"/>
          <p:cNvSpPr txBox="1">
            <a:spLocks/>
          </p:cNvSpPr>
          <p:nvPr/>
        </p:nvSpPr>
        <p:spPr>
          <a:xfrm>
            <a:off x="1524000" y="2748373"/>
            <a:ext cx="9144000" cy="117765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TW" sz="2800" dirty="0" smtClean="0">
                <a:latin typeface="+mn-lt"/>
                <a:cs typeface="Times New Roman" panose="02020603050405020304" pitchFamily="18" charset="0"/>
              </a:rPr>
              <a:t>Anomaly Detection and Event Alert System for </a:t>
            </a:r>
            <a:r>
              <a:rPr lang="en-US" altLang="zh-TW" sz="2800" dirty="0" err="1" smtClean="0">
                <a:latin typeface="+mn-lt"/>
                <a:cs typeface="Times New Roman" panose="02020603050405020304" pitchFamily="18" charset="0"/>
              </a:rPr>
              <a:t>IoT</a:t>
            </a:r>
            <a:r>
              <a:rPr lang="en-US" altLang="zh-TW" sz="2800" dirty="0" smtClean="0">
                <a:latin typeface="+mn-lt"/>
                <a:cs typeface="Times New Roman" panose="02020603050405020304" pitchFamily="18" charset="0"/>
              </a:rPr>
              <a:t> Integrated Management Platform</a:t>
            </a:r>
            <a:endParaRPr lang="zh-TW" altLang="en-US" sz="2800" dirty="0">
              <a:latin typeface="+mn-lt"/>
              <a:cs typeface="Times New Roman" panose="02020603050405020304" pitchFamily="18" charset="0"/>
            </a:endParaRPr>
          </a:p>
        </p:txBody>
      </p:sp>
      <p:sp>
        <p:nvSpPr>
          <p:cNvPr id="8" name="投影片編號版面配置區 7"/>
          <p:cNvSpPr>
            <a:spLocks noGrp="1"/>
          </p:cNvSpPr>
          <p:nvPr>
            <p:ph type="sldNum" sz="quarter" idx="12"/>
          </p:nvPr>
        </p:nvSpPr>
        <p:spPr/>
        <p:txBody>
          <a:bodyPr/>
          <a:lstStyle/>
          <a:p>
            <a:fld id="{914C6EE6-3FC0-42F2-A2AA-2F8392A95B97}" type="slidenum">
              <a:rPr lang="zh-TW" altLang="en-US" smtClean="0"/>
              <a:t>1</a:t>
            </a:fld>
            <a:endParaRPr lang="zh-TW" altLang="en-US" dirty="0"/>
          </a:p>
        </p:txBody>
      </p:sp>
    </p:spTree>
    <p:extLst>
      <p:ext uri="{BB962C8B-B14F-4D97-AF65-F5344CB8AC3E}">
        <p14:creationId xmlns:p14="http://schemas.microsoft.com/office/powerpoint/2010/main" val="23989988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t>Outline</a:t>
            </a:r>
            <a:endParaRPr lang="zh-TW" altLang="en-US" sz="3200" dirty="0"/>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kumimoji="1" lang="zh-TW" altLang="en-US" dirty="0" smtClean="0">
                <a:latin typeface="標楷體" charset="0"/>
                <a:ea typeface="標楷體" charset="0"/>
                <a:cs typeface="標楷體" charset="0"/>
              </a:rPr>
              <a:t>研究動機與目的</a:t>
            </a:r>
            <a:endParaRPr kumimoji="1" lang="en-US" altLang="zh-TW"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相關議題</a:t>
            </a:r>
            <a:endParaRPr kumimoji="1" lang="zh-TW" altLang="en-US"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研究方法</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實驗一</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實驗二</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結論</a:t>
            </a:r>
            <a:endParaRPr kumimoji="1" lang="zh-TW" altLang="en-US" dirty="0">
              <a:latin typeface="標楷體" charset="0"/>
              <a:ea typeface="標楷體" charset="0"/>
              <a:cs typeface="標楷體" charset="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a:t>
            </a:fld>
            <a:endParaRPr lang="zh-TW" altLang="en-US"/>
          </a:p>
        </p:txBody>
      </p:sp>
    </p:spTree>
    <p:extLst>
      <p:ext uri="{BB962C8B-B14F-4D97-AF65-F5344CB8AC3E}">
        <p14:creationId xmlns:p14="http://schemas.microsoft.com/office/powerpoint/2010/main" val="32512448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研究動機與目的</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a:t>
            </a:fld>
            <a:endParaRPr lang="zh-TW" altLang="en-US"/>
          </a:p>
        </p:txBody>
      </p:sp>
    </p:spTree>
    <p:extLst>
      <p:ext uri="{BB962C8B-B14F-4D97-AF65-F5344CB8AC3E}">
        <p14:creationId xmlns:p14="http://schemas.microsoft.com/office/powerpoint/2010/main" val="8598274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資料共享</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政府資料開放平台</a:t>
            </a:r>
            <a:r>
              <a:rPr lang="zh-TW" altLang="en-US" dirty="0">
                <a:ea typeface="標楷體" panose="03000509000000000000" pitchFamily="65" charset="-120"/>
              </a:rPr>
              <a:t>（</a:t>
            </a:r>
            <a:r>
              <a:rPr lang="en-US" altLang="zh-TW" dirty="0">
                <a:ea typeface="標楷體" panose="03000509000000000000" pitchFamily="65" charset="-120"/>
              </a:rPr>
              <a:t>data.gov.tw</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endParaRPr lang="en-US" altLang="zh-TW" dirty="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原始資料對一般使用者參考價值較低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無拖管私人資料來源的方式</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1204523" y="2457450"/>
            <a:ext cx="2505075" cy="647700"/>
          </a:xfrm>
          <a:prstGeom prst="rect">
            <a:avLst/>
          </a:prstGeom>
        </p:spPr>
      </p:pic>
      <p:sp>
        <p:nvSpPr>
          <p:cNvPr id="7" name="投影片編號版面配置區 6"/>
          <p:cNvSpPr>
            <a:spLocks noGrp="1"/>
          </p:cNvSpPr>
          <p:nvPr>
            <p:ph type="sldNum" sz="quarter" idx="12"/>
          </p:nvPr>
        </p:nvSpPr>
        <p:spPr/>
        <p:txBody>
          <a:bodyPr/>
          <a:lstStyle/>
          <a:p>
            <a:fld id="{914C6EE6-3FC0-42F2-A2AA-2F8392A95B97}" type="slidenum">
              <a:rPr lang="zh-TW" altLang="en-US" smtClean="0"/>
              <a:t>4</a:t>
            </a:fld>
            <a:endParaRPr lang="zh-TW" altLang="en-US"/>
          </a:p>
        </p:txBody>
      </p:sp>
    </p:spTree>
    <p:extLst>
      <p:ext uri="{BB962C8B-B14F-4D97-AF65-F5344CB8AC3E}">
        <p14:creationId xmlns:p14="http://schemas.microsoft.com/office/powerpoint/2010/main" val="371017762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環境狀態改變或情境事件發生通常</a:t>
            </a:r>
            <a:r>
              <a:rPr lang="zh-TW" altLang="en-US" dirty="0">
                <a:latin typeface="標楷體" panose="03000509000000000000" pitchFamily="65" charset="-120"/>
                <a:ea typeface="標楷體" panose="03000509000000000000" pitchFamily="65" charset="-120"/>
              </a:rPr>
              <a:t>會</a:t>
            </a:r>
            <a:r>
              <a:rPr lang="zh-TW" altLang="en-US" dirty="0" smtClean="0">
                <a:latin typeface="標楷體" panose="03000509000000000000" pitchFamily="65" charset="-120"/>
                <a:ea typeface="標楷體" panose="03000509000000000000" pitchFamily="65" charset="-120"/>
              </a:rPr>
              <a:t>造成環境監控數值的變化。</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隨著事件發生後所經過的時間越長</a:t>
            </a:r>
            <a:r>
              <a:rPr lang="zh-TW" altLang="en-US" dirty="0" smtClean="0">
                <a:latin typeface="標楷體" panose="03000509000000000000" pitchFamily="65" charset="-120"/>
                <a:ea typeface="標楷體" panose="03000509000000000000" pitchFamily="65" charset="-120"/>
              </a:rPr>
              <a:t>，回報</a:t>
            </a:r>
            <a:r>
              <a:rPr lang="zh-TW" altLang="en-US" dirty="0">
                <a:latin typeface="標楷體" panose="03000509000000000000" pitchFamily="65" charset="-120"/>
                <a:ea typeface="標楷體" panose="03000509000000000000" pitchFamily="65" charset="-120"/>
              </a:rPr>
              <a:t>的訊息價值也越</a:t>
            </a:r>
            <a:r>
              <a:rPr lang="zh-TW" altLang="en-US" dirty="0" smtClean="0">
                <a:latin typeface="標楷體" panose="03000509000000000000" pitchFamily="65" charset="-120"/>
                <a:ea typeface="標楷體" panose="03000509000000000000" pitchFamily="65" charset="-120"/>
              </a:rPr>
              <a:t>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即時串流的偵測演算法必須輕量有效。</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5</a:t>
            </a:fld>
            <a:endParaRPr lang="zh-TW" altLang="en-US"/>
          </a:p>
        </p:txBody>
      </p:sp>
    </p:spTree>
    <p:extLst>
      <p:ext uri="{BB962C8B-B14F-4D97-AF65-F5344CB8AC3E}">
        <p14:creationId xmlns:p14="http://schemas.microsoft.com/office/powerpoint/2010/main" val="185921716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相關議題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6</a:t>
            </a:fld>
            <a:endParaRPr lang="zh-TW" altLang="en-US"/>
          </a:p>
        </p:txBody>
      </p:sp>
    </p:spTree>
    <p:extLst>
      <p:ext uri="{BB962C8B-B14F-4D97-AF65-F5344CB8AC3E}">
        <p14:creationId xmlns:p14="http://schemas.microsoft.com/office/powerpoint/2010/main" val="21680244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何謂異常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在資料集中還未被</a:t>
            </a:r>
            <a:r>
              <a:rPr lang="zh-TW" altLang="en-US" dirty="0" smtClean="0">
                <a:latin typeface="標楷體" panose="03000509000000000000" pitchFamily="65" charset="-120"/>
                <a:ea typeface="標楷體" panose="03000509000000000000" pitchFamily="65" charset="-120"/>
              </a:rPr>
              <a:t>清楚</a:t>
            </a:r>
            <a:r>
              <a:rPr lang="zh-TW" altLang="en-US" dirty="0">
                <a:latin typeface="標楷體" panose="03000509000000000000" pitchFamily="65" charset="-120"/>
                <a:ea typeface="標楷體" panose="03000509000000000000" pitchFamily="65" charset="-120"/>
              </a:rPr>
              <a:t>定義的資料</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不同異常</a:t>
            </a:r>
            <a:r>
              <a:rPr lang="zh-TW" altLang="en-US" dirty="0" smtClean="0">
                <a:latin typeface="標楷體" panose="03000509000000000000" pitchFamily="65" charset="-120"/>
                <a:ea typeface="標楷體" panose="03000509000000000000" pitchFamily="65" charset="-120"/>
              </a:rPr>
              <a:t>事件會</a:t>
            </a:r>
            <a:r>
              <a:rPr lang="zh-TW" altLang="en-US" dirty="0">
                <a:latin typeface="標楷體" panose="03000509000000000000" pitchFamily="65" charset="-120"/>
                <a:ea typeface="標楷體" panose="03000509000000000000" pitchFamily="65" charset="-120"/>
              </a:rPr>
              <a:t>有不同的表現模式，混雜於大多數正常的狀態</a:t>
            </a:r>
            <a:r>
              <a:rPr lang="zh-TW" altLang="en-US" dirty="0" smtClean="0">
                <a:latin typeface="標楷體" panose="03000509000000000000" pitchFamily="65" charset="-120"/>
                <a:ea typeface="標楷體" panose="03000509000000000000" pitchFamily="65" charset="-120"/>
              </a:rPr>
              <a:t>中。</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7</a:t>
            </a:fld>
            <a:endParaRPr lang="zh-TW" altLang="en-US"/>
          </a:p>
        </p:txBody>
      </p:sp>
    </p:spTree>
    <p:extLst>
      <p:ext uri="{BB962C8B-B14F-4D97-AF65-F5344CB8AC3E}">
        <p14:creationId xmlns:p14="http://schemas.microsoft.com/office/powerpoint/2010/main" val="284855946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異常的種類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單</a:t>
            </a:r>
            <a:r>
              <a:rPr lang="zh-TW" altLang="en-US" dirty="0">
                <a:latin typeface="標楷體" panose="03000509000000000000" pitchFamily="65" charset="-120"/>
                <a:ea typeface="標楷體" panose="03000509000000000000" pitchFamily="65" charset="-120"/>
              </a:rPr>
              <a:t>點異常</a:t>
            </a:r>
            <a:r>
              <a:rPr lang="zh-TW" altLang="en-US" dirty="0">
                <a:ea typeface="標楷體" panose="03000509000000000000" pitchFamily="65" charset="-120"/>
              </a:rPr>
              <a:t>（</a:t>
            </a:r>
            <a:r>
              <a:rPr lang="en-US" altLang="zh-TW" dirty="0">
                <a:ea typeface="標楷體" panose="03000509000000000000" pitchFamily="65" charset="-120"/>
              </a:rPr>
              <a:t>point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集體</a:t>
            </a:r>
            <a:r>
              <a:rPr lang="zh-TW" altLang="en-US" dirty="0">
                <a:latin typeface="標楷體" panose="03000509000000000000" pitchFamily="65" charset="-120"/>
                <a:ea typeface="標楷體" panose="03000509000000000000" pitchFamily="65" charset="-120"/>
              </a:rPr>
              <a:t>異常</a:t>
            </a:r>
            <a:r>
              <a:rPr lang="zh-TW" altLang="en-US" dirty="0">
                <a:ea typeface="標楷體" panose="03000509000000000000" pitchFamily="65" charset="-120"/>
              </a:rPr>
              <a:t>（</a:t>
            </a:r>
            <a:r>
              <a:rPr lang="en-US" altLang="zh-TW" dirty="0">
                <a:ea typeface="標楷體" panose="03000509000000000000" pitchFamily="65" charset="-120"/>
              </a:rPr>
              <a:t>collective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條件式異常</a:t>
            </a:r>
            <a:r>
              <a:rPr lang="zh-TW" altLang="en-US" dirty="0">
                <a:ea typeface="標楷體" panose="03000509000000000000" pitchFamily="65" charset="-120"/>
              </a:rPr>
              <a:t>（</a:t>
            </a:r>
            <a:r>
              <a:rPr lang="en-US" altLang="zh-TW" dirty="0">
                <a:ea typeface="標楷體" panose="03000509000000000000" pitchFamily="65" charset="-120"/>
              </a:rPr>
              <a:t>conditional or contextual anomaly</a:t>
            </a:r>
            <a:r>
              <a:rPr lang="zh-TW" altLang="en-US" dirty="0" smtClean="0">
                <a:ea typeface="標楷體" panose="03000509000000000000" pitchFamily="65" charset="-120"/>
              </a:rPr>
              <a:t>）</a:t>
            </a:r>
            <a:endParaRPr lang="en-US" altLang="zh-TW" dirty="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8</a:t>
            </a:fld>
            <a:endParaRPr lang="zh-TW" altLang="en-US"/>
          </a:p>
        </p:txBody>
      </p:sp>
    </p:spTree>
    <p:extLst>
      <p:ext uri="{BB962C8B-B14F-4D97-AF65-F5344CB8AC3E}">
        <p14:creationId xmlns:p14="http://schemas.microsoft.com/office/powerpoint/2010/main" val="355089682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單點異常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a:stretch>
            <a:fillRect/>
          </a:stretch>
        </p:blipFill>
        <p:spPr>
          <a:xfrm>
            <a:off x="1906824" y="2008675"/>
            <a:ext cx="8378352" cy="4351338"/>
          </a:xfrm>
          <a:prstGeom prst="rect">
            <a:avLst/>
          </a:prstGeom>
        </p:spPr>
      </p:pic>
      <p:sp>
        <p:nvSpPr>
          <p:cNvPr id="7" name="橢圓 6"/>
          <p:cNvSpPr/>
          <p:nvPr/>
        </p:nvSpPr>
        <p:spPr>
          <a:xfrm>
            <a:off x="4273420" y="220202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橢圓 7"/>
          <p:cNvSpPr/>
          <p:nvPr/>
        </p:nvSpPr>
        <p:spPr>
          <a:xfrm>
            <a:off x="6117772" y="586273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7971452" y="318485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8130073" y="257498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9</a:t>
            </a:fld>
            <a:endParaRPr lang="zh-TW" altLang="en-US"/>
          </a:p>
        </p:txBody>
      </p:sp>
    </p:spTree>
    <p:extLst>
      <p:ext uri="{BB962C8B-B14F-4D97-AF65-F5344CB8AC3E}">
        <p14:creationId xmlns:p14="http://schemas.microsoft.com/office/powerpoint/2010/main" val="159226682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集體異常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893680" y="1875813"/>
            <a:ext cx="8404639" cy="4351338"/>
          </a:xfrm>
          <a:prstGeom prst="rect">
            <a:avLst/>
          </a:prstGeom>
        </p:spPr>
      </p:pic>
      <p:sp>
        <p:nvSpPr>
          <p:cNvPr id="8" name="橢圓 7"/>
          <p:cNvSpPr/>
          <p:nvPr/>
        </p:nvSpPr>
        <p:spPr>
          <a:xfrm>
            <a:off x="5548604" y="2074363"/>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5699682" y="247261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5856513" y="211969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6005337" y="229533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6139077" y="2121482"/>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6295053" y="241352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6447452" y="221400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橢圓 14"/>
          <p:cNvSpPr/>
          <p:nvPr/>
        </p:nvSpPr>
        <p:spPr>
          <a:xfrm>
            <a:off x="6599852" y="2306449"/>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橢圓 15"/>
          <p:cNvSpPr/>
          <p:nvPr/>
        </p:nvSpPr>
        <p:spPr>
          <a:xfrm>
            <a:off x="6727838" y="223934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橢圓 16"/>
          <p:cNvSpPr/>
          <p:nvPr/>
        </p:nvSpPr>
        <p:spPr>
          <a:xfrm>
            <a:off x="6882417" y="243086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10</a:t>
            </a:fld>
            <a:endParaRPr lang="zh-TW" altLang="en-US"/>
          </a:p>
        </p:txBody>
      </p:sp>
    </p:spTree>
    <p:extLst>
      <p:ext uri="{BB962C8B-B14F-4D97-AF65-F5344CB8AC3E}">
        <p14:creationId xmlns:p14="http://schemas.microsoft.com/office/powerpoint/2010/main" val="214254766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條件式異常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905208" y="1771945"/>
            <a:ext cx="8381584" cy="4351338"/>
          </a:xfrm>
          <a:prstGeom prst="rect">
            <a:avLst/>
          </a:prstGeom>
        </p:spPr>
      </p:pic>
      <p:sp>
        <p:nvSpPr>
          <p:cNvPr id="8" name="文字方塊 7"/>
          <p:cNvSpPr txBox="1"/>
          <p:nvPr/>
        </p:nvSpPr>
        <p:spPr>
          <a:xfrm>
            <a:off x="1905208" y="6123283"/>
            <a:ext cx="595035"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時間</a:t>
            </a:r>
            <a:endParaRPr lang="zh-TW" altLang="en-US" sz="1600" dirty="0">
              <a:latin typeface="標楷體" panose="03000509000000000000" pitchFamily="65" charset="-120"/>
              <a:ea typeface="標楷體" panose="03000509000000000000" pitchFamily="65" charset="-120"/>
            </a:endParaRPr>
          </a:p>
        </p:txBody>
      </p:sp>
      <p:sp>
        <p:nvSpPr>
          <p:cNvPr id="10" name="橢圓 9"/>
          <p:cNvSpPr/>
          <p:nvPr/>
        </p:nvSpPr>
        <p:spPr>
          <a:xfrm>
            <a:off x="9047583" y="491087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9209313" y="320647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9371044" y="362281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9542105" y="321580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9694504" y="447544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p:cNvSpPr txBox="1"/>
          <p:nvPr/>
        </p:nvSpPr>
        <p:spPr>
          <a:xfrm>
            <a:off x="3442997"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上班時段</a:t>
            </a:r>
            <a:endParaRPr lang="zh-TW" altLang="en-US" sz="1600" dirty="0">
              <a:latin typeface="標楷體" panose="03000509000000000000" pitchFamily="65" charset="-120"/>
              <a:ea typeface="標楷體" panose="03000509000000000000" pitchFamily="65" charset="-120"/>
            </a:endParaRPr>
          </a:p>
        </p:txBody>
      </p:sp>
      <p:sp>
        <p:nvSpPr>
          <p:cNvPr id="16" name="文字方塊 15"/>
          <p:cNvSpPr txBox="1"/>
          <p:nvPr/>
        </p:nvSpPr>
        <p:spPr>
          <a:xfrm>
            <a:off x="8923004"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深夜時段</a:t>
            </a:r>
            <a:endParaRPr lang="zh-TW" altLang="en-US" sz="1600" dirty="0">
              <a:latin typeface="標楷體" panose="03000509000000000000" pitchFamily="65" charset="-120"/>
              <a:ea typeface="標楷體" panose="03000509000000000000" pitchFamily="65" charset="-120"/>
            </a:endParaRPr>
          </a:p>
        </p:txBody>
      </p:sp>
      <p:sp>
        <p:nvSpPr>
          <p:cNvPr id="17" name="文字方塊 16"/>
          <p:cNvSpPr txBox="1"/>
          <p:nvPr/>
        </p:nvSpPr>
        <p:spPr>
          <a:xfrm>
            <a:off x="1228100" y="3206477"/>
            <a:ext cx="677108" cy="1323439"/>
          </a:xfrm>
          <a:prstGeom prst="rect">
            <a:avLst/>
          </a:prstGeom>
          <a:noFill/>
        </p:spPr>
        <p:txBody>
          <a:bodyPr vert="eaVert" wrap="none" rtlCol="0">
            <a:spAutoFit/>
          </a:bodyPr>
          <a:lstStyle/>
          <a:p>
            <a:r>
              <a:rPr lang="zh-TW" altLang="en-US" sz="1600" dirty="0">
                <a:latin typeface="標楷體" panose="03000509000000000000" pitchFamily="65" charset="-120"/>
                <a:ea typeface="標楷體" panose="03000509000000000000" pitchFamily="65" charset="-120"/>
              </a:rPr>
              <a:t>商業區用電量</a:t>
            </a:r>
          </a:p>
          <a:p>
            <a:endParaRPr lang="zh-TW" altLang="en-US" sz="1600" dirty="0"/>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11</a:t>
            </a:fld>
            <a:endParaRPr lang="zh-TW" altLang="en-US"/>
          </a:p>
        </p:txBody>
      </p:sp>
    </p:spTree>
    <p:extLst>
      <p:ext uri="{BB962C8B-B14F-4D97-AF65-F5344CB8AC3E}">
        <p14:creationId xmlns:p14="http://schemas.microsoft.com/office/powerpoint/2010/main" val="174502840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異常偵測的方法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分類</a:t>
            </a:r>
            <a:r>
              <a:rPr lang="zh-TW" altLang="en-US" dirty="0">
                <a:ea typeface="標楷體" panose="03000509000000000000" pitchFamily="65" charset="-120"/>
              </a:rPr>
              <a:t>（</a:t>
            </a:r>
            <a:r>
              <a:rPr lang="en-US" altLang="zh-TW" dirty="0">
                <a:ea typeface="標楷體" panose="03000509000000000000" pitchFamily="65" charset="-120"/>
              </a:rPr>
              <a:t>Classification</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分</a:t>
            </a:r>
            <a:r>
              <a:rPr lang="zh-TW" altLang="en-US" dirty="0">
                <a:latin typeface="標楷體" panose="03000509000000000000" pitchFamily="65" charset="-120"/>
                <a:ea typeface="標楷體" panose="03000509000000000000" pitchFamily="65" charset="-120"/>
              </a:rPr>
              <a:t>群</a:t>
            </a:r>
            <a:r>
              <a:rPr lang="zh-TW" altLang="en-US" dirty="0">
                <a:ea typeface="標楷體" panose="03000509000000000000" pitchFamily="65" charset="-120"/>
              </a:rPr>
              <a:t>（</a:t>
            </a:r>
            <a:r>
              <a:rPr lang="en-US" altLang="zh-TW" dirty="0">
                <a:ea typeface="標楷體" panose="03000509000000000000" pitchFamily="65" charset="-120"/>
              </a:rPr>
              <a:t>Clustering</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鄰近</a:t>
            </a:r>
            <a:r>
              <a:rPr lang="zh-TW" altLang="en-US" dirty="0">
                <a:latin typeface="標楷體" panose="03000509000000000000" pitchFamily="65" charset="-120"/>
                <a:ea typeface="標楷體" panose="03000509000000000000" pitchFamily="65" charset="-120"/>
              </a:rPr>
              <a:t>點</a:t>
            </a:r>
            <a:r>
              <a:rPr lang="zh-TW" altLang="en-US" dirty="0">
                <a:ea typeface="標楷體" panose="03000509000000000000" pitchFamily="65" charset="-120"/>
              </a:rPr>
              <a:t>（</a:t>
            </a:r>
            <a:r>
              <a:rPr lang="en-US" altLang="zh-TW" dirty="0">
                <a:ea typeface="標楷體" panose="03000509000000000000" pitchFamily="65" charset="-120"/>
              </a:rPr>
              <a:t>Nearest Neighbor</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統計</a:t>
            </a:r>
            <a:r>
              <a:rPr lang="zh-TW" altLang="en-US" dirty="0">
                <a:latin typeface="標楷體" panose="03000509000000000000" pitchFamily="65" charset="-120"/>
                <a:ea typeface="標楷體" panose="03000509000000000000" pitchFamily="65" charset="-120"/>
              </a:rPr>
              <a:t>為基礎的判斷方法</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12</a:t>
            </a:fld>
            <a:endParaRPr lang="zh-TW" altLang="en-US"/>
          </a:p>
        </p:txBody>
      </p:sp>
    </p:spTree>
    <p:extLst>
      <p:ext uri="{BB962C8B-B14F-4D97-AF65-F5344CB8AC3E}">
        <p14:creationId xmlns:p14="http://schemas.microsoft.com/office/powerpoint/2010/main" val="161578832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透過監督或半監督的方式學習正常類型的資料</a:t>
            </a:r>
            <a:endParaRPr lang="en-US" altLang="zh-TW" dirty="0" smtClean="0">
              <a:latin typeface="標楷體" panose="03000509000000000000" pitchFamily="65" charset="-120"/>
              <a:ea typeface="標楷體" panose="03000509000000000000" pitchFamily="65" charset="-120"/>
            </a:endParaRPr>
          </a:p>
        </p:txBody>
      </p:sp>
      <p:sp>
        <p:nvSpPr>
          <p:cNvPr id="8" name="矩形 7"/>
          <p:cNvSpPr/>
          <p:nvPr/>
        </p:nvSpPr>
        <p:spPr>
          <a:xfrm>
            <a:off x="8304414" y="2827482"/>
            <a:ext cx="3600000" cy="3600000"/>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123" name="文字方塊 122"/>
          <p:cNvSpPr txBox="1"/>
          <p:nvPr/>
        </p:nvSpPr>
        <p:spPr>
          <a:xfrm>
            <a:off x="11347170" y="2974927"/>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127" name="流程圖: 接點 126"/>
          <p:cNvSpPr/>
          <p:nvPr/>
        </p:nvSpPr>
        <p:spPr>
          <a:xfrm>
            <a:off x="10165458" y="2920389"/>
            <a:ext cx="1316180" cy="1249132"/>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9" name="流程圖: 接點 8"/>
          <p:cNvSpPr/>
          <p:nvPr/>
        </p:nvSpPr>
        <p:spPr>
          <a:xfrm>
            <a:off x="10809630" y="34485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10504510" y="3226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11082892" y="3262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1005537" y="36166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10486716" y="3677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10493426"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10829107" y="37428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151848" y="389604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11092853" y="35312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767702" y="36245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10767702" y="33160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10940519"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5" name="流程圖: 接點 74"/>
          <p:cNvSpPr/>
          <p:nvPr/>
        </p:nvSpPr>
        <p:spPr>
          <a:xfrm>
            <a:off x="11216196"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11133504"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7" name="流程圖: 接點 76"/>
          <p:cNvSpPr/>
          <p:nvPr/>
        </p:nvSpPr>
        <p:spPr>
          <a:xfrm>
            <a:off x="11001491" y="348220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11089145" y="37515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10631211" y="3906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11147359" y="336542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11155497" y="3676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11056853" y="3884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10859164" y="35589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10565513" y="35653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10710402" y="35739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10904519" y="34441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10618069" y="37275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10406887" y="3578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10620932" y="38104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10922867" y="373361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10706830" y="3481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10826155" y="31978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12032" y="327082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429399" y="344539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11052744" y="365961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10433874" y="33974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10244045" y="32791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11248111" y="3517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11285906" y="3684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10684822" y="3689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10397874" y="3920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10911568" y="3612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10875568" y="398115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11004617" y="321598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10801019" y="3470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10895164" y="33204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10815847" y="3848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10695702" y="332347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9685311" y="355102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8876910" y="3098530"/>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10778830" y="30075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822869" y="373079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10723529" y="3942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10479572" y="3506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10787548" y="37896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10601513" y="3434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10978334" y="33317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1030717" y="40190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10504510" y="3797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11321852" y="337255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流程圖: 接點 120"/>
          <p:cNvSpPr/>
          <p:nvPr/>
        </p:nvSpPr>
        <p:spPr>
          <a:xfrm>
            <a:off x="10906334" y="31345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2" name="流程圖: 接點 121"/>
          <p:cNvSpPr/>
          <p:nvPr/>
        </p:nvSpPr>
        <p:spPr>
          <a:xfrm>
            <a:off x="11072588" y="340066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8" name="流程圖: 接點 127"/>
          <p:cNvSpPr/>
          <p:nvPr/>
        </p:nvSpPr>
        <p:spPr>
          <a:xfrm>
            <a:off x="11118892" y="5649273"/>
            <a:ext cx="710043" cy="655653"/>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10" name="流程圖: 接點 9"/>
          <p:cNvSpPr/>
          <p:nvPr/>
        </p:nvSpPr>
        <p:spPr>
          <a:xfrm>
            <a:off x="11482639"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477098"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418909"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526974"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44384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485412"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427222"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294217"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335781"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35781"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65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585162"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618413"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543599"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60178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585162"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344094"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443847"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93723"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252654"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668291"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684916"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502036"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77345"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560224"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568536"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526973"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41890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427221"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435535"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485409"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443848"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576849"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551910"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526974"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518662"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593475"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77342"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294217"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551912"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410596"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85906"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335781"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460471"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385656"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485405"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518659"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94217"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377345"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435533"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1518658"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11460472"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10853643" y="581728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166162" y="623292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9" name="文字方塊 128"/>
          <p:cNvSpPr txBox="1"/>
          <p:nvPr/>
        </p:nvSpPr>
        <p:spPr>
          <a:xfrm>
            <a:off x="11356895" y="5311345"/>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13</a:t>
            </a:fld>
            <a:endParaRPr lang="zh-TW" altLang="en-US"/>
          </a:p>
        </p:txBody>
      </p:sp>
    </p:spTree>
    <p:extLst>
      <p:ext uri="{BB962C8B-B14F-4D97-AF65-F5344CB8AC3E}">
        <p14:creationId xmlns:p14="http://schemas.microsoft.com/office/powerpoint/2010/main" val="116372354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分群</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分群演算法能自動判斷資料的分布狀態</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ea typeface="標楷體" panose="03000509000000000000" pitchFamily="65" charset="-120"/>
                <a:cs typeface="Times New Roman" panose="02020603050405020304" pitchFamily="18" charset="0"/>
              </a:rPr>
              <a:t>K-means</a:t>
            </a:r>
          </a:p>
          <a:p>
            <a:pPr lvl="1"/>
            <a:r>
              <a:rPr lang="en-US" altLang="zh-TW" dirty="0" smtClean="0">
                <a:ea typeface="標楷體" panose="03000509000000000000" pitchFamily="65" charset="-120"/>
                <a:cs typeface="Times New Roman" panose="02020603050405020304" pitchFamily="18" charset="0"/>
              </a:rPr>
              <a:t>GMM (Gaussian mixture model)</a:t>
            </a:r>
          </a:p>
        </p:txBody>
      </p:sp>
      <p:sp>
        <p:nvSpPr>
          <p:cNvPr id="6" name="矩形 5"/>
          <p:cNvSpPr/>
          <p:nvPr/>
        </p:nvSpPr>
        <p:spPr>
          <a:xfrm>
            <a:off x="8071149" y="2827482"/>
            <a:ext cx="3600000" cy="3600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7" name="流程圖: 接點 6"/>
          <p:cNvSpPr/>
          <p:nvPr/>
        </p:nvSpPr>
        <p:spPr>
          <a:xfrm>
            <a:off x="9514738" y="40462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 name="流程圖: 接點 7"/>
          <p:cNvSpPr/>
          <p:nvPr/>
        </p:nvSpPr>
        <p:spPr>
          <a:xfrm>
            <a:off x="11249374"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 name="流程圖: 接點 8"/>
          <p:cNvSpPr/>
          <p:nvPr/>
        </p:nvSpPr>
        <p:spPr>
          <a:xfrm>
            <a:off x="11243833"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 name="流程圖: 接點 9"/>
          <p:cNvSpPr/>
          <p:nvPr/>
        </p:nvSpPr>
        <p:spPr>
          <a:xfrm>
            <a:off x="11185644"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293709"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21058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252147"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193957"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060952"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102516"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102516"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15239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51897"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148"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310334"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36852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351897"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110829"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210582"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260458"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019389"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35026"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451651"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268771"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144080"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326959"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35271"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293708"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18564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193956"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202270"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252144"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210583"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343584"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318645"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293709"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285397"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360210"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144077"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060952"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18647"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177331"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052641"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102516"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27206"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152391"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252140"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285394"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060952"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144080"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02268"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285393"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227207"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0620378" y="58172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8932897" y="62329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9812033" y="412706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810774" y="4161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9911653" y="4248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9486938" y="4284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0054025"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9447151" y="434754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9894402" y="381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9329137" y="4320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467705" y="467795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9372611" y="44461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041151" y="432788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9698476" y="42145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9835149" y="4413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5" name="流程圖: 接點 74"/>
          <p:cNvSpPr/>
          <p:nvPr/>
        </p:nvSpPr>
        <p:spPr>
          <a:xfrm>
            <a:off x="9422230" y="423932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9438439" y="416259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7" name="流程圖: 接點 76"/>
          <p:cNvSpPr/>
          <p:nvPr/>
        </p:nvSpPr>
        <p:spPr>
          <a:xfrm>
            <a:off x="10084361" y="42655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9906991" y="402745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9971949"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9719835" y="4218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9256141" y="454517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9568280"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9681865" y="40968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9656113" y="4424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9478738" y="44274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9750478" y="4285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9589581" y="4303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9589581" y="456545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9859709" y="45540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982240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9402439" y="407248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9670969" y="4341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48539" y="40605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382463"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9861743" y="416485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9856601" y="392180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9935949" y="4494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9304438" y="424994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9221073" y="43681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9595833" y="41351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9503705" y="4176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9855401" y="431011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9503705" y="38998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9719640" y="4375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9829129" y="4715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9949663" y="409767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9788661" y="4521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9962939" y="39690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10048361" y="41763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9576789" y="384278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916565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694894" y="4485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9973137" y="468091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9666417" y="46738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9947653" y="4377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9714293" y="39386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9529901" y="4525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0070298" y="4489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9707989" y="459369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9606348" y="42008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文字方塊 120"/>
          <p:cNvSpPr txBox="1"/>
          <p:nvPr/>
        </p:nvSpPr>
        <p:spPr>
          <a:xfrm>
            <a:off x="9779989" y="3460373"/>
            <a:ext cx="397866" cy="338554"/>
          </a:xfrm>
          <a:prstGeom prst="rect">
            <a:avLst/>
          </a:prstGeom>
          <a:noFill/>
        </p:spPr>
        <p:txBody>
          <a:bodyPr wrap="none" rtlCol="0">
            <a:spAutoFit/>
          </a:bodyPr>
          <a:lstStyle/>
          <a:p>
            <a:r>
              <a:rPr lang="en-US" altLang="zh-TW" sz="1600" dirty="0" smtClean="0"/>
              <a:t>C1</a:t>
            </a:r>
            <a:endParaRPr lang="zh-TW" altLang="en-US" sz="1600" dirty="0"/>
          </a:p>
        </p:txBody>
      </p:sp>
      <p:sp>
        <p:nvSpPr>
          <p:cNvPr id="122" name="文字方塊 121"/>
          <p:cNvSpPr txBox="1"/>
          <p:nvPr/>
        </p:nvSpPr>
        <p:spPr>
          <a:xfrm>
            <a:off x="11233198" y="5407802"/>
            <a:ext cx="397866" cy="338554"/>
          </a:xfrm>
          <a:prstGeom prst="rect">
            <a:avLst/>
          </a:prstGeom>
          <a:noFill/>
        </p:spPr>
        <p:txBody>
          <a:bodyPr wrap="none" rtlCol="0">
            <a:spAutoFit/>
          </a:bodyPr>
          <a:lstStyle/>
          <a:p>
            <a:r>
              <a:rPr lang="en-US" altLang="zh-TW" sz="1600" dirty="0" smtClean="0"/>
              <a:t>C2</a:t>
            </a:r>
            <a:endParaRPr lang="zh-TW" altLang="en-US" sz="1600" dirty="0"/>
          </a:p>
        </p:txBody>
      </p:sp>
      <p:sp>
        <p:nvSpPr>
          <p:cNvPr id="123" name="文字方塊 122"/>
          <p:cNvSpPr txBox="1"/>
          <p:nvPr/>
        </p:nvSpPr>
        <p:spPr>
          <a:xfrm>
            <a:off x="10459659" y="5473194"/>
            <a:ext cx="397866" cy="338554"/>
          </a:xfrm>
          <a:prstGeom prst="rect">
            <a:avLst/>
          </a:prstGeom>
          <a:noFill/>
        </p:spPr>
        <p:txBody>
          <a:bodyPr wrap="none" rtlCol="0">
            <a:spAutoFit/>
          </a:bodyPr>
          <a:lstStyle/>
          <a:p>
            <a:r>
              <a:rPr lang="en-US" altLang="zh-TW" sz="1600" dirty="0" smtClean="0"/>
              <a:t>o1</a:t>
            </a:r>
            <a:endParaRPr lang="zh-TW" altLang="en-US" sz="1600" dirty="0"/>
          </a:p>
        </p:txBody>
      </p:sp>
      <p:sp>
        <p:nvSpPr>
          <p:cNvPr id="124" name="文字方塊 123"/>
          <p:cNvSpPr txBox="1"/>
          <p:nvPr/>
        </p:nvSpPr>
        <p:spPr>
          <a:xfrm>
            <a:off x="8789923" y="5889289"/>
            <a:ext cx="397866" cy="338554"/>
          </a:xfrm>
          <a:prstGeom prst="rect">
            <a:avLst/>
          </a:prstGeom>
          <a:noFill/>
        </p:spPr>
        <p:txBody>
          <a:bodyPr wrap="none" rtlCol="0">
            <a:spAutoFit/>
          </a:bodyPr>
          <a:lstStyle/>
          <a:p>
            <a:r>
              <a:rPr lang="en-US" altLang="zh-TW" sz="1600" dirty="0"/>
              <a:t>o</a:t>
            </a:r>
            <a:r>
              <a:rPr lang="en-US" altLang="zh-TW" sz="1600" dirty="0" smtClean="0"/>
              <a:t>1</a:t>
            </a:r>
            <a:endParaRPr lang="zh-TW" altLang="en-US" sz="1600" dirty="0"/>
          </a:p>
        </p:txBody>
      </p:sp>
      <p:sp>
        <p:nvSpPr>
          <p:cNvPr id="125" name="投影片編號版面配置區 124"/>
          <p:cNvSpPr>
            <a:spLocks noGrp="1"/>
          </p:cNvSpPr>
          <p:nvPr>
            <p:ph type="sldNum" sz="quarter" idx="12"/>
          </p:nvPr>
        </p:nvSpPr>
        <p:spPr/>
        <p:txBody>
          <a:bodyPr/>
          <a:lstStyle/>
          <a:p>
            <a:fld id="{914C6EE6-3FC0-42F2-A2AA-2F8392A95B97}" type="slidenum">
              <a:rPr lang="zh-TW" altLang="en-US" smtClean="0"/>
              <a:t>14</a:t>
            </a:fld>
            <a:endParaRPr lang="zh-TW" altLang="en-US"/>
          </a:p>
        </p:txBody>
      </p:sp>
    </p:spTree>
    <p:extLst>
      <p:ext uri="{BB962C8B-B14F-4D97-AF65-F5344CB8AC3E}">
        <p14:creationId xmlns:p14="http://schemas.microsoft.com/office/powerpoint/2010/main" val="152571156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鄰近點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觀察資料與鄰近資料之間的距離</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常搭配其他方法</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如：</a:t>
            </a:r>
            <a:r>
              <a:rPr lang="en-US" altLang="zh-TW" dirty="0" smtClean="0">
                <a:ea typeface="標楷體" panose="03000509000000000000" pitchFamily="65" charset="-120"/>
                <a:cs typeface="Times New Roman" panose="02020603050405020304" pitchFamily="18" charset="0"/>
              </a:rPr>
              <a:t>LOF(Local Outlier Factor)</a:t>
            </a:r>
            <a:r>
              <a:rPr lang="zh-TW" altLang="en-US" dirty="0" smtClean="0">
                <a:latin typeface="標楷體" panose="03000509000000000000" pitchFamily="65" charset="-120"/>
                <a:ea typeface="標楷體" panose="03000509000000000000" pitchFamily="65" charset="-120"/>
              </a:rPr>
              <a:t>中使用</a:t>
            </a:r>
            <a:r>
              <a:rPr lang="en-US" altLang="zh-TW" dirty="0" smtClean="0">
                <a:ea typeface="標楷體" panose="03000509000000000000" pitchFamily="65" charset="-120"/>
                <a:cs typeface="Times New Roman" panose="02020603050405020304" pitchFamily="18" charset="0"/>
              </a:rPr>
              <a:t>K Nearest Neighbor</a:t>
            </a:r>
            <a:r>
              <a:rPr lang="zh-TW" altLang="en-US" dirty="0" smtClean="0">
                <a:latin typeface="標楷體" panose="03000509000000000000" pitchFamily="65" charset="-120"/>
                <a:ea typeface="標楷體" panose="03000509000000000000" pitchFamily="65" charset="-120"/>
              </a:rPr>
              <a:t>決定計算密度的區域範圍。</a:t>
            </a:r>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15</a:t>
            </a:fld>
            <a:endParaRPr lang="zh-TW" altLang="en-US"/>
          </a:p>
        </p:txBody>
      </p:sp>
    </p:spTree>
    <p:extLst>
      <p:ext uri="{BB962C8B-B14F-4D97-AF65-F5344CB8AC3E}">
        <p14:creationId xmlns:p14="http://schemas.microsoft.com/office/powerpoint/2010/main" val="246568014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統計為基礎的判斷方法</a:t>
            </a: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預想一般情況下，正常狀態資料發生的機率會高於異常的機率。</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取得區段資料的統計狀態</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預測可能的變動</a:t>
            </a:r>
            <a:r>
              <a:rPr lang="zh-TW" altLang="en-US" dirty="0">
                <a:latin typeface="標楷體" panose="03000509000000000000" pitchFamily="65" charset="-120"/>
                <a:ea typeface="標楷體" panose="03000509000000000000" pitchFamily="65" charset="-120"/>
              </a:rPr>
              <a:t>趨勢</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16</a:t>
            </a:fld>
            <a:endParaRPr lang="zh-TW" altLang="en-US"/>
          </a:p>
        </p:txBody>
      </p:sp>
    </p:spTree>
    <p:extLst>
      <p:ext uri="{BB962C8B-B14F-4D97-AF65-F5344CB8AC3E}">
        <p14:creationId xmlns:p14="http://schemas.microsoft.com/office/powerpoint/2010/main" val="111652736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研究方</a:t>
            </a:r>
            <a:r>
              <a:rPr lang="zh-TW" altLang="en-US" sz="3200" dirty="0">
                <a:latin typeface="標楷體" panose="03000509000000000000" pitchFamily="65" charset="-120"/>
                <a:ea typeface="標楷體" panose="03000509000000000000" pitchFamily="65" charset="-120"/>
              </a:rPr>
              <a:t>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17</a:t>
            </a:fld>
            <a:endParaRPr lang="zh-TW" altLang="en-US"/>
          </a:p>
        </p:txBody>
      </p:sp>
    </p:spTree>
    <p:extLst>
      <p:ext uri="{BB962C8B-B14F-4D97-AF65-F5344CB8AC3E}">
        <p14:creationId xmlns:p14="http://schemas.microsoft.com/office/powerpoint/2010/main" val="366015667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常態分佈的自然特性也是機率統計學被廣泛使用的一種分佈</a:t>
            </a:r>
            <a:r>
              <a:rPr lang="zh-TW" altLang="en-US" dirty="0" smtClean="0">
                <a:latin typeface="標楷體" panose="03000509000000000000" pitchFamily="65" charset="-120"/>
                <a:ea typeface="標楷體" panose="03000509000000000000" pitchFamily="65" charset="-120"/>
              </a:rPr>
              <a:t>類型</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各科學領域中也能觀察到許多資料特徵符合常態分佈的</a:t>
            </a:r>
            <a:r>
              <a:rPr lang="zh-TW" altLang="en-US" dirty="0" smtClean="0">
                <a:latin typeface="標楷體" panose="03000509000000000000" pitchFamily="65" charset="-120"/>
                <a:ea typeface="標楷體" panose="03000509000000000000" pitchFamily="65" charset="-120"/>
              </a:rPr>
              <a:t>條件</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因此假定感測器產生的環境指標在不受人為干擾的情況下，其感測數值所得之機率密度函數應該會符合常態分佈的行為模式</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18</a:t>
            </a:fld>
            <a:endParaRPr lang="zh-TW" altLang="en-US"/>
          </a:p>
        </p:txBody>
      </p:sp>
    </p:spTree>
    <p:extLst>
      <p:ext uri="{BB962C8B-B14F-4D97-AF65-F5344CB8AC3E}">
        <p14:creationId xmlns:p14="http://schemas.microsoft.com/office/powerpoint/2010/main" val="141528187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496000" y="1875813"/>
            <a:ext cx="7200000" cy="5101200"/>
          </a:xfr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19</a:t>
            </a:fld>
            <a:endParaRPr lang="zh-TW" altLang="en-US"/>
          </a:p>
        </p:txBody>
      </p:sp>
    </p:spTree>
    <p:extLst>
      <p:ext uri="{BB962C8B-B14F-4D97-AF65-F5344CB8AC3E}">
        <p14:creationId xmlns:p14="http://schemas.microsoft.com/office/powerpoint/2010/main" val="318196595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內容版面配置區 5"/>
          <p:cNvSpPr>
            <a:spLocks noGrp="1"/>
          </p:cNvSpPr>
          <p:nvPr>
            <p:ph idx="1"/>
          </p:nvPr>
        </p:nvSpPr>
        <p:spPr/>
        <p:txBody>
          <a:bodyPr/>
          <a:lstStyle/>
          <a:p>
            <a:r>
              <a:rPr lang="zh-TW" altLang="zh-TW" dirty="0" smtClean="0">
                <a:latin typeface="標楷體" panose="03000509000000000000" pitchFamily="65" charset="-120"/>
                <a:ea typeface="標楷體" panose="03000509000000000000" pitchFamily="65" charset="-120"/>
              </a:rPr>
              <a:t>主要</a:t>
            </a:r>
            <a:r>
              <a:rPr lang="zh-TW" altLang="zh-TW" dirty="0">
                <a:latin typeface="標楷體" panose="03000509000000000000" pitchFamily="65" charset="-120"/>
                <a:ea typeface="標楷體" panose="03000509000000000000" pitchFamily="65" charset="-120"/>
              </a:rPr>
              <a:t>概念是觀察資料變化</a:t>
            </a:r>
            <a:r>
              <a:rPr lang="zh-TW" altLang="zh-TW" dirty="0" smtClean="0">
                <a:latin typeface="標楷體" panose="03000509000000000000" pitchFamily="65" charset="-120"/>
                <a:ea typeface="標楷體" panose="03000509000000000000" pitchFamily="65" charset="-120"/>
              </a:rPr>
              <a:t>的趨勢</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資料的波動大於限制區間便會開始記錄變化幅度的大小，如果趨勢呈現持續增加或減少，變化量會在持續的過程中累加，而累加值到達定量後就會認定資料</a:t>
            </a:r>
            <a:r>
              <a:rPr lang="zh-TW" altLang="zh-TW" dirty="0" smtClean="0">
                <a:latin typeface="標楷體" panose="03000509000000000000" pitchFamily="65" charset="-120"/>
                <a:ea typeface="標楷體" panose="03000509000000000000" pitchFamily="65" charset="-120"/>
              </a:rPr>
              <a:t>變化</a:t>
            </a:r>
            <a:r>
              <a:rPr lang="zh-TW" altLang="en-US" dirty="0" smtClean="0">
                <a:latin typeface="標楷體" panose="03000509000000000000" pitchFamily="65" charset="-120"/>
                <a:ea typeface="標楷體" panose="03000509000000000000" pitchFamily="65" charset="-120"/>
              </a:rPr>
              <a:t>已經偏</a:t>
            </a:r>
            <a:r>
              <a:rPr lang="zh-TW" altLang="en-US" dirty="0">
                <a:latin typeface="標楷體" panose="03000509000000000000" pitchFamily="65" charset="-120"/>
                <a:ea typeface="標楷體" panose="03000509000000000000" pitchFamily="65" charset="-120"/>
              </a:rPr>
              <a:t>離</a:t>
            </a:r>
            <a:r>
              <a:rPr lang="zh-TW" altLang="zh-TW" dirty="0" smtClean="0">
                <a:latin typeface="標楷體" panose="03000509000000000000" pitchFamily="65" charset="-120"/>
                <a:ea typeface="標楷體" panose="03000509000000000000" pitchFamily="65" charset="-120"/>
              </a:rPr>
              <a:t>原本</a:t>
            </a:r>
            <a:r>
              <a:rPr lang="zh-TW" altLang="zh-TW" dirty="0">
                <a:latin typeface="標楷體" panose="03000509000000000000" pitchFamily="65" charset="-120"/>
                <a:ea typeface="標楷體" panose="03000509000000000000" pitchFamily="65" charset="-120"/>
              </a:rPr>
              <a:t>的狀態</a:t>
            </a:r>
            <a:r>
              <a:rPr lang="zh-TW" altLang="zh-TW" dirty="0" smtClean="0">
                <a:latin typeface="標楷體" panose="03000509000000000000" pitchFamily="65" charset="-120"/>
                <a:ea typeface="標楷體" panose="03000509000000000000" pitchFamily="65" charset="-120"/>
              </a:rPr>
              <a:t>。</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須定義</a:t>
            </a:r>
            <a:r>
              <a:rPr lang="zh-TW" altLang="zh-TW" dirty="0">
                <a:latin typeface="標楷體" panose="03000509000000000000" pitchFamily="65" charset="-120"/>
                <a:ea typeface="標楷體" panose="03000509000000000000" pitchFamily="65" charset="-120"/>
              </a:rPr>
              <a:t>兩個</a:t>
            </a:r>
            <a:r>
              <a:rPr lang="zh-TW" altLang="zh-TW" dirty="0" smtClean="0">
                <a:latin typeface="標楷體" panose="03000509000000000000" pitchFamily="65" charset="-120"/>
                <a:ea typeface="標楷體" panose="03000509000000000000" pitchFamily="65" charset="-120"/>
              </a:rPr>
              <a:t>參數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可容忍的資料</a:t>
            </a:r>
            <a:r>
              <a:rPr lang="zh-TW" altLang="zh-TW" dirty="0" smtClean="0">
                <a:latin typeface="標楷體" panose="03000509000000000000" pitchFamily="65" charset="-120"/>
                <a:ea typeface="標楷體" panose="03000509000000000000" pitchFamily="65" charset="-120"/>
              </a:rPr>
              <a:t>波動範圍</a:t>
            </a:r>
            <a:r>
              <a:rPr lang="zh-TW" altLang="zh-TW" dirty="0">
                <a:latin typeface="標楷體" panose="03000509000000000000" pitchFamily="65" charset="-120"/>
                <a:ea typeface="標楷體" panose="03000509000000000000" pitchFamily="65" charset="-120"/>
              </a:rPr>
              <a:t>（常使用</a:t>
            </a:r>
            <a:r>
              <a:rPr lang="en-US" altLang="zh-TW" dirty="0">
                <a:latin typeface="標楷體" panose="03000509000000000000" pitchFamily="65" charset="-120"/>
                <a:ea typeface="標楷體" panose="03000509000000000000" pitchFamily="65" charset="-120"/>
              </a:rPr>
              <a:t>1/2</a:t>
            </a:r>
            <a:r>
              <a:rPr lang="zh-TW" altLang="zh-TW" dirty="0">
                <a:latin typeface="標楷體" panose="03000509000000000000" pitchFamily="65" charset="-120"/>
                <a:ea typeface="標楷體" panose="03000509000000000000" pitchFamily="65" charset="-120"/>
              </a:rPr>
              <a:t>或</a:t>
            </a:r>
            <a:r>
              <a:rPr lang="en-US" altLang="zh-TW" dirty="0">
                <a:latin typeface="標楷體" panose="03000509000000000000" pitchFamily="65" charset="-120"/>
                <a:ea typeface="標楷體" panose="03000509000000000000" pitchFamily="65" charset="-120"/>
              </a:rPr>
              <a:t>1</a:t>
            </a:r>
            <a:r>
              <a:rPr lang="zh-TW" altLang="zh-TW" dirty="0">
                <a:latin typeface="標楷體" panose="03000509000000000000" pitchFamily="65" charset="-120"/>
                <a:ea typeface="標楷體" panose="03000509000000000000" pitchFamily="65" charset="-120"/>
              </a:rPr>
              <a:t>倍標準</a:t>
            </a:r>
            <a:r>
              <a:rPr lang="zh-TW" altLang="zh-TW" dirty="0" smtClean="0">
                <a:latin typeface="標楷體" panose="03000509000000000000" pitchFamily="65" charset="-120"/>
                <a:ea typeface="標楷體" panose="03000509000000000000" pitchFamily="65" charset="-120"/>
              </a:rPr>
              <a:t>差）</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變化累積量的門檻</a:t>
            </a:r>
            <a:r>
              <a:rPr lang="zh-TW" altLang="zh-TW"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常</a:t>
            </a:r>
            <a:r>
              <a:rPr lang="zh-TW" altLang="zh-TW" dirty="0" smtClean="0">
                <a:latin typeface="標楷體" panose="03000509000000000000" pitchFamily="65" charset="-120"/>
                <a:ea typeface="標楷體" panose="03000509000000000000" pitchFamily="65" charset="-120"/>
              </a:rPr>
              <a:t>使用</a:t>
            </a:r>
            <a:r>
              <a:rPr lang="zh-TW" altLang="zh-TW" dirty="0">
                <a:latin typeface="標楷體" panose="03000509000000000000" pitchFamily="65" charset="-120"/>
                <a:ea typeface="標楷體" panose="03000509000000000000" pitchFamily="65" charset="-120"/>
              </a:rPr>
              <a:t>四或五倍標準差）</a:t>
            </a:r>
            <a:endParaRPr lang="zh-TW" altLang="en-US" dirty="0">
              <a:latin typeface="標楷體" panose="03000509000000000000" pitchFamily="65" charset="-120"/>
              <a:ea typeface="標楷體" panose="03000509000000000000" pitchFamily="65" charset="-120"/>
            </a:endParaRPr>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20</a:t>
            </a:fld>
            <a:endParaRPr lang="zh-TW" altLang="en-US"/>
          </a:p>
        </p:txBody>
      </p:sp>
    </p:spTree>
    <p:extLst>
      <p:ext uri="{BB962C8B-B14F-4D97-AF65-F5344CB8AC3E}">
        <p14:creationId xmlns:p14="http://schemas.microsoft.com/office/powerpoint/2010/main" val="423405999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 name="內容版面配置區 2"/>
              <p:cNvSpPr>
                <a:spLocks noGrp="1"/>
              </p:cNvSpPr>
              <p:nvPr>
                <p:ph idx="1"/>
              </p:nvPr>
            </p:nvSpPr>
            <p:spPr/>
            <p:txBody>
              <a:bodyPr/>
              <a:lstStyle/>
              <a:p>
                <a14:m>
                  <m:oMath xmlns:m="http://schemas.openxmlformats.org/officeDocument/2006/math">
                    <m:r>
                      <m:rPr>
                        <m:sty m:val="p"/>
                      </m:rPr>
                      <a:rPr lang="en-US" altLang="zh-TW">
                        <a:latin typeface="Cambria Math" panose="02040503050406030204" pitchFamily="18" charset="0"/>
                      </a:rPr>
                      <m:t>SH</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𝑀𝑎𝑥</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𝑆𝐻</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latin typeface="+mj-lt"/>
                </a:endParaRPr>
              </a:p>
              <a:p>
                <a14:m>
                  <m:oMath xmlns:m="http://schemas.openxmlformats.org/officeDocument/2006/math">
                    <m:r>
                      <m:rPr>
                        <m:sty m:val="p"/>
                      </m:rPr>
                      <a:rPr lang="en-US" altLang="zh-TW">
                        <a:latin typeface="Cambria Math" panose="02040503050406030204" pitchFamily="18" charset="0"/>
                      </a:rPr>
                      <m:t>SL</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𝑀𝑖𝑛</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𝑆𝐿</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latin typeface="+mj-lt"/>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oMath>
                </a14:m>
                <a:r>
                  <a:rPr lang="en-US" altLang="zh-TW" dirty="0" smtClean="0">
                    <a:latin typeface="標楷體" panose="03000509000000000000" pitchFamily="65" charset="-120"/>
                    <a:ea typeface="標楷體" panose="03000509000000000000" pitchFamily="65" charset="-120"/>
                  </a:rPr>
                  <a:t> =</a:t>
                </a:r>
                <a:r>
                  <a:rPr lang="zh-TW" altLang="en-US" dirty="0" smtClean="0">
                    <a:latin typeface="標楷體" panose="03000509000000000000" pitchFamily="65" charset="-120"/>
                    <a:ea typeface="標楷體" panose="03000509000000000000" pitchFamily="65" charset="-120"/>
                  </a:rPr>
                  <a:t> 資料數值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𝐺𝑜𝑎𝑙</m:t>
                    </m:r>
                  </m:oMath>
                </a14:m>
                <a:r>
                  <a:rPr lang="en-US" altLang="zh-TW" dirty="0" smtClean="0"/>
                  <a:t> =</a:t>
                </a:r>
                <a:r>
                  <a:rPr lang="zh-TW" altLang="en-US" dirty="0" smtClean="0"/>
                  <a:t> </a:t>
                </a:r>
                <a:r>
                  <a:rPr lang="zh-TW" altLang="en-US" dirty="0" smtClean="0">
                    <a:latin typeface="標楷體" panose="03000509000000000000" pitchFamily="65" charset="-120"/>
                    <a:ea typeface="標楷體" panose="03000509000000000000" pitchFamily="65" charset="-120"/>
                  </a:rPr>
                  <a:t>平均值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𝑘</m:t>
                    </m:r>
                  </m:oMath>
                </a14:m>
                <a:r>
                  <a:rPr lang="zh-TW" altLang="en-US" dirty="0" smtClean="0"/>
                  <a:t> </a:t>
                </a:r>
                <a:r>
                  <a:rPr lang="en-US" altLang="zh-TW" dirty="0" smtClean="0"/>
                  <a:t>=</a:t>
                </a:r>
                <a:r>
                  <a:rPr lang="zh-TW" altLang="en-US" dirty="0" smtClean="0"/>
                  <a:t> </a:t>
                </a:r>
                <a:r>
                  <a:rPr lang="en-US" altLang="zh-TW" dirty="0" smtClean="0"/>
                  <a:t>½~1</a:t>
                </a:r>
                <a:r>
                  <a:rPr lang="zh-TW" altLang="en-US" dirty="0" smtClean="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觀察</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ea typeface="標楷體" panose="03000509000000000000" pitchFamily="65" charset="-120"/>
                </a:endParaRPr>
              </a:p>
              <a:p>
                <a:endParaRPr lang="zh-TW" altLang="en-US" dirty="0"/>
              </a:p>
            </p:txBody>
          </p:sp>
        </mc:Choice>
        <mc:Fallback xmlns="">
          <p:sp>
            <p:nvSpPr>
              <p:cNvPr id="3" name="內容版面配置區 2"/>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zh-TW" altLang="en-US">
                    <a:noFill/>
                  </a:rPr>
                  <a:t> </a:t>
                </a:r>
              </a:p>
            </p:txBody>
          </p:sp>
        </mc:Fallback>
      </mc:AlternateContent>
      <p:sp>
        <p:nvSpPr>
          <p:cNvPr id="6" name="投影片編號版面配置區 5"/>
          <p:cNvSpPr>
            <a:spLocks noGrp="1"/>
          </p:cNvSpPr>
          <p:nvPr>
            <p:ph type="sldNum" sz="quarter" idx="12"/>
          </p:nvPr>
        </p:nvSpPr>
        <p:spPr/>
        <p:txBody>
          <a:bodyPr/>
          <a:lstStyle/>
          <a:p>
            <a:fld id="{914C6EE6-3FC0-42F2-A2AA-2F8392A95B97}" type="slidenum">
              <a:rPr lang="zh-TW" altLang="en-US" smtClean="0"/>
              <a:t>21</a:t>
            </a:fld>
            <a:endParaRPr lang="zh-TW" altLang="en-US"/>
          </a:p>
        </p:txBody>
      </p:sp>
    </p:spTree>
    <p:extLst>
      <p:ext uri="{BB962C8B-B14F-4D97-AF65-F5344CB8AC3E}">
        <p14:creationId xmlns:p14="http://schemas.microsoft.com/office/powerpoint/2010/main" val="34519170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LOF</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Local Outlier Factor</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a:xfrm>
            <a:off x="838200" y="1690688"/>
            <a:ext cx="10515600" cy="4351338"/>
          </a:xfrm>
        </p:spPr>
        <p:txBody>
          <a:bodyPr/>
          <a:lstStyle/>
          <a:p>
            <a:r>
              <a:rPr lang="en-US" altLang="zh-TW" dirty="0"/>
              <a:t>LOF</a:t>
            </a:r>
            <a:r>
              <a:rPr lang="zh-TW" altLang="zh-TW" dirty="0">
                <a:latin typeface="標楷體" panose="03000509000000000000" pitchFamily="65" charset="-120"/>
                <a:ea typeface="標楷體" panose="03000509000000000000" pitchFamily="65" charset="-120"/>
              </a:rPr>
              <a:t>是參考資料點間距離與區域分布密度作為檢測標準的演算法</a:t>
            </a:r>
            <a:endParaRPr lang="zh-TW" altLang="en-US" dirty="0">
              <a:latin typeface="標楷體" panose="03000509000000000000" pitchFamily="65" charset="-120"/>
              <a:ea typeface="標楷體" panose="03000509000000000000" pitchFamily="65" charset="-120"/>
            </a:endParaRPr>
          </a:p>
        </p:txBody>
      </p:sp>
      <p:pic>
        <p:nvPicPr>
          <p:cNvPr id="8" name="內容版面配置區 6"/>
          <p:cNvPicPr>
            <a:picLocks/>
          </p:cNvPicPr>
          <p:nvPr/>
        </p:nvPicPr>
        <p:blipFill>
          <a:blip r:embed="rId3"/>
          <a:stretch>
            <a:fillRect/>
          </a:stretch>
        </p:blipFill>
        <p:spPr>
          <a:xfrm>
            <a:off x="4116000" y="2589831"/>
            <a:ext cx="3960000" cy="3960000"/>
          </a:xfrm>
          <a:prstGeom prst="rect">
            <a:avLst/>
          </a:prstGeom>
        </p:spPr>
      </p:pic>
      <p:sp>
        <p:nvSpPr>
          <p:cNvPr id="6" name="投影片編號版面配置區 5"/>
          <p:cNvSpPr>
            <a:spLocks noGrp="1"/>
          </p:cNvSpPr>
          <p:nvPr>
            <p:ph type="sldNum" sz="quarter" idx="12"/>
          </p:nvPr>
        </p:nvSpPr>
        <p:spPr/>
        <p:txBody>
          <a:bodyPr/>
          <a:lstStyle/>
          <a:p>
            <a:fld id="{914C6EE6-3FC0-42F2-A2AA-2F8392A95B97}" type="slidenum">
              <a:rPr lang="zh-TW" altLang="en-US" smtClean="0"/>
              <a:t>22</a:t>
            </a:fld>
            <a:endParaRPr lang="zh-TW" altLang="en-US"/>
          </a:p>
        </p:txBody>
      </p:sp>
    </p:spTree>
    <p:extLst>
      <p:ext uri="{BB962C8B-B14F-4D97-AF65-F5344CB8AC3E}">
        <p14:creationId xmlns:p14="http://schemas.microsoft.com/office/powerpoint/2010/main" val="243540981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Times New Roman" panose="02020603050405020304" pitchFamily="18" charset="0"/>
                <a:ea typeface="標楷體" panose="03000509000000000000" pitchFamily="65" charset="-120"/>
                <a:cs typeface="Times New Roman" panose="02020603050405020304" pitchFamily="18" charset="0"/>
              </a:rPr>
              <a:t>實</a:t>
            </a:r>
            <a:r>
              <a:rPr lang="zh-TW" altLang="en-US" sz="3200" dirty="0" smtClean="0">
                <a:latin typeface="Times New Roman" panose="02020603050405020304" pitchFamily="18" charset="0"/>
                <a:ea typeface="標楷體" panose="03000509000000000000" pitchFamily="65" charset="-120"/>
                <a:cs typeface="Times New Roman" panose="02020603050405020304" pitchFamily="18" charset="0"/>
              </a:rPr>
              <a:t>作的偵測方法</a:t>
            </a:r>
            <a:endParaRPr lang="en-US" altLang="zh-TW" sz="32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門檻值</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一般常態分佈</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資料片段平均值與常態分佈</a:t>
            </a:r>
            <a:endParaRPr lang="en-US" altLang="zh-TW" dirty="0" smtClean="0">
              <a:latin typeface="標楷體" panose="03000509000000000000" pitchFamily="65" charset="-120"/>
              <a:ea typeface="標楷體" panose="03000509000000000000" pitchFamily="65" charset="-120"/>
            </a:endParaRPr>
          </a:p>
          <a:p>
            <a:pPr lvl="0"/>
            <a:r>
              <a:rPr lang="en-US" altLang="zh-TW" dirty="0"/>
              <a:t>CUSUM</a:t>
            </a:r>
            <a:endParaRPr lang="zh-TW" altLang="zh-TW" dirty="0"/>
          </a:p>
          <a:p>
            <a:r>
              <a:rPr lang="zh-TW" altLang="en-US" dirty="0" smtClean="0">
                <a:latin typeface="標楷體" panose="03000509000000000000" pitchFamily="65" charset="-120"/>
                <a:ea typeface="標楷體" panose="03000509000000000000" pitchFamily="65" charset="-120"/>
              </a:rPr>
              <a:t>資料片段數值與</a:t>
            </a:r>
            <a:r>
              <a:rPr lang="en-US" altLang="zh-TW" dirty="0" smtClean="0"/>
              <a:t>LOF</a:t>
            </a:r>
          </a:p>
          <a:p>
            <a:r>
              <a:rPr lang="zh-TW" altLang="en-US" dirty="0" smtClean="0">
                <a:latin typeface="標楷體" panose="03000509000000000000" pitchFamily="65" charset="-120"/>
                <a:ea typeface="標楷體" panose="03000509000000000000" pitchFamily="65" charset="-120"/>
              </a:rPr>
              <a:t>資料片段平均值、標準差與</a:t>
            </a:r>
            <a:r>
              <a:rPr lang="en-US" altLang="zh-TW" dirty="0" smtClean="0"/>
              <a:t>LOF</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23</a:t>
            </a:fld>
            <a:endParaRPr lang="zh-TW" altLang="en-US"/>
          </a:p>
        </p:txBody>
      </p:sp>
    </p:spTree>
    <p:extLst>
      <p:ext uri="{BB962C8B-B14F-4D97-AF65-F5344CB8AC3E}">
        <p14:creationId xmlns:p14="http://schemas.microsoft.com/office/powerpoint/2010/main" val="85766014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實驗一</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24</a:t>
            </a:fld>
            <a:endParaRPr lang="zh-TW" altLang="en-US"/>
          </a:p>
        </p:txBody>
      </p:sp>
    </p:spTree>
    <p:extLst>
      <p:ext uri="{BB962C8B-B14F-4D97-AF65-F5344CB8AC3E}">
        <p14:creationId xmlns:p14="http://schemas.microsoft.com/office/powerpoint/2010/main" val="20840002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p:cNvPicPr>
          <p:nvPr>
            <p:ph idx="1"/>
          </p:nvPr>
        </p:nvPicPr>
        <p:blipFill>
          <a:blip r:embed="rId3"/>
          <a:stretch>
            <a:fillRect/>
          </a:stretch>
        </p:blipFill>
        <p:spPr>
          <a:xfrm>
            <a:off x="2192834" y="1825625"/>
            <a:ext cx="7806332"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25</a:t>
            </a:fld>
            <a:endParaRPr lang="zh-TW" altLang="en-US"/>
          </a:p>
        </p:txBody>
      </p:sp>
    </p:spTree>
    <p:extLst>
      <p:ext uri="{BB962C8B-B14F-4D97-AF65-F5344CB8AC3E}">
        <p14:creationId xmlns:p14="http://schemas.microsoft.com/office/powerpoint/2010/main" val="35174350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fontScale="85000" lnSpcReduction="20000"/>
          </a:bodyPr>
          <a:lstStyle/>
          <a:p>
            <a:r>
              <a:rPr lang="zh-TW" altLang="zh-TW" dirty="0">
                <a:latin typeface="標楷體" panose="03000509000000000000" pitchFamily="65" charset="-120"/>
                <a:ea typeface="標楷體" panose="03000509000000000000" pitchFamily="65" charset="-120"/>
              </a:rPr>
              <a:t>一般常態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三倍標準差</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集體資料的平均值常態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視窗大小為</a:t>
            </a:r>
            <a:r>
              <a:rPr lang="en-US" altLang="zh-TW" dirty="0" smtClean="0">
                <a:ea typeface="標楷體" panose="03000509000000000000" pitchFamily="65" charset="-120"/>
              </a:rPr>
              <a:t>8</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滑動間隔為</a:t>
            </a:r>
            <a:r>
              <a:rPr lang="en-US" altLang="zh-TW" dirty="0" smtClean="0">
                <a:ea typeface="標楷體" panose="03000509000000000000" pitchFamily="65" charset="-120"/>
              </a:rPr>
              <a:t>6</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五倍標準差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CUSUM</a:t>
            </a:r>
          </a:p>
          <a:p>
            <a:pPr lvl="1"/>
            <a:r>
              <a:rPr lang="zh-TW" altLang="zh-TW" dirty="0">
                <a:latin typeface="標楷體" panose="03000509000000000000" pitchFamily="65" charset="-120"/>
                <a:ea typeface="標楷體" panose="03000509000000000000" pitchFamily="65" charset="-120"/>
              </a:rPr>
              <a:t>資料波動的容忍區間為</a:t>
            </a:r>
            <a:r>
              <a:rPr lang="en-US" altLang="zh-TW" dirty="0"/>
              <a:t>1/2</a:t>
            </a:r>
            <a:r>
              <a:rPr lang="zh-TW" altLang="zh-TW" dirty="0">
                <a:latin typeface="標楷體" panose="03000509000000000000" pitchFamily="65" charset="-120"/>
                <a:ea typeface="標楷體" panose="03000509000000000000" pitchFamily="65" charset="-120"/>
              </a:rPr>
              <a:t>標準</a:t>
            </a:r>
            <a:r>
              <a:rPr lang="zh-TW" altLang="zh-TW" dirty="0" smtClean="0">
                <a:latin typeface="標楷體" panose="03000509000000000000" pitchFamily="65" charset="-120"/>
                <a:ea typeface="標楷體" panose="03000509000000000000" pitchFamily="65" charset="-120"/>
              </a:rPr>
              <a:t>差</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累加值異常門檻則是</a:t>
            </a:r>
            <a:r>
              <a:rPr lang="en-US" altLang="zh-TW" dirty="0"/>
              <a:t>4</a:t>
            </a:r>
            <a:r>
              <a:rPr lang="zh-TW" altLang="zh-TW" dirty="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視窗大小為</a:t>
            </a:r>
            <a:r>
              <a:rPr lang="en-US" altLang="zh-TW" dirty="0"/>
              <a:t>8</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a:t>
            </a:r>
            <a:r>
              <a:rPr lang="zh-TW" altLang="en-US" dirty="0">
                <a:latin typeface="標楷體" panose="03000509000000000000" pitchFamily="65" charset="-120"/>
                <a:ea typeface="標楷體" panose="03000509000000000000" pitchFamily="65" charset="-120"/>
              </a:rPr>
              <a:t>間隔</a:t>
            </a:r>
            <a:r>
              <a:rPr lang="zh-TW" altLang="zh-TW" dirty="0" smtClean="0">
                <a:latin typeface="標楷體" panose="03000509000000000000" pitchFamily="65" charset="-120"/>
                <a:ea typeface="標楷體" panose="03000509000000000000" pitchFamily="65" charset="-120"/>
              </a:rPr>
              <a:t>為</a:t>
            </a:r>
            <a:r>
              <a:rPr lang="en-US" altLang="zh-TW" dirty="0"/>
              <a:t>1</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判斷區域的鄰近點個數為</a:t>
            </a:r>
            <a:r>
              <a:rPr lang="en-US" altLang="zh-TW" dirty="0" smtClean="0"/>
              <a:t>8</a:t>
            </a:r>
          </a:p>
          <a:p>
            <a:pPr lvl="1"/>
            <a:r>
              <a:rPr lang="en-US" altLang="zh-TW" dirty="0" smtClean="0"/>
              <a:t>LOF</a:t>
            </a:r>
            <a:r>
              <a:rPr lang="zh-TW" altLang="en-US" dirty="0" smtClean="0">
                <a:latin typeface="標楷體" panose="03000509000000000000" pitchFamily="65" charset="-120"/>
                <a:ea typeface="標楷體" panose="03000509000000000000" pitchFamily="65" charset="-120"/>
              </a:rPr>
              <a:t>異常分數門檻</a:t>
            </a:r>
            <a:r>
              <a:rPr lang="en-US" altLang="zh-TW" dirty="0" smtClean="0">
                <a:ea typeface="標楷體" panose="03000509000000000000" pitchFamily="65" charset="-120"/>
              </a:rPr>
              <a:t>2</a:t>
            </a:r>
            <a:endParaRPr lang="en-US" altLang="zh-TW" dirty="0" smtClean="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26</a:t>
            </a:fld>
            <a:endParaRPr lang="zh-TW" altLang="en-US"/>
          </a:p>
        </p:txBody>
      </p:sp>
    </p:spTree>
    <p:extLst>
      <p:ext uri="{BB962C8B-B14F-4D97-AF65-F5344CB8AC3E}">
        <p14:creationId xmlns:p14="http://schemas.microsoft.com/office/powerpoint/2010/main" val="116783464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a:t>
            </a:r>
            <a:r>
              <a:rPr lang="zh-TW" altLang="zh-TW" dirty="0" smtClean="0">
                <a:latin typeface="標楷體" panose="03000509000000000000" pitchFamily="65" charset="-120"/>
                <a:ea typeface="標楷體" panose="03000509000000000000" pitchFamily="65" charset="-120"/>
              </a:rPr>
              <a:t>偏離</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a:t>
            </a:r>
            <a:r>
              <a:rPr lang="zh-TW" altLang="zh-TW" dirty="0" smtClean="0">
                <a:latin typeface="標楷體" panose="03000509000000000000" pitchFamily="65" charset="-120"/>
                <a:ea typeface="標楷體" panose="03000509000000000000" pitchFamily="65" charset="-120"/>
              </a:rPr>
              <a:t>偏離</a:t>
            </a:r>
            <a:endParaRPr lang="en-US" altLang="zh-TW" dirty="0" smtClean="0">
              <a:latin typeface="標楷體" panose="03000509000000000000" pitchFamily="65" charset="-120"/>
              <a:ea typeface="標楷體" panose="03000509000000000000" pitchFamily="65" charset="-120"/>
            </a:endParaRPr>
          </a:p>
          <a:p>
            <a:pPr lvl="1"/>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27</a:t>
            </a:fld>
            <a:endParaRPr lang="zh-TW" altLang="en-US"/>
          </a:p>
        </p:txBody>
      </p:sp>
    </p:spTree>
    <p:extLst>
      <p:ext uri="{BB962C8B-B14F-4D97-AF65-F5344CB8AC3E}">
        <p14:creationId xmlns:p14="http://schemas.microsoft.com/office/powerpoint/2010/main" val="162149776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p:cNvPicPr/>
          <p:nvPr/>
        </p:nvPicPr>
        <p:blipFill>
          <a:blip r:embed="rId3"/>
          <a:stretch>
            <a:fillRect/>
          </a:stretch>
        </p:blipFill>
        <p:spPr>
          <a:xfrm>
            <a:off x="622852" y="456810"/>
            <a:ext cx="5148000" cy="2880000"/>
          </a:xfrm>
          <a:prstGeom prst="rect">
            <a:avLst/>
          </a:prstGeom>
        </p:spPr>
      </p:pic>
      <p:pic>
        <p:nvPicPr>
          <p:cNvPr id="13" name="圖片 12"/>
          <p:cNvPicPr/>
          <p:nvPr/>
        </p:nvPicPr>
        <p:blipFill>
          <a:blip r:embed="rId4"/>
          <a:stretch>
            <a:fillRect/>
          </a:stretch>
        </p:blipFill>
        <p:spPr>
          <a:xfrm>
            <a:off x="6286047" y="456810"/>
            <a:ext cx="5148000" cy="2880000"/>
          </a:xfrm>
          <a:prstGeom prst="rect">
            <a:avLst/>
          </a:prstGeom>
        </p:spPr>
      </p:pic>
      <p:pic>
        <p:nvPicPr>
          <p:cNvPr id="14" name="圖片 13"/>
          <p:cNvPicPr/>
          <p:nvPr/>
        </p:nvPicPr>
        <p:blipFill>
          <a:blip r:embed="rId5"/>
          <a:stretch>
            <a:fillRect/>
          </a:stretch>
        </p:blipFill>
        <p:spPr>
          <a:xfrm>
            <a:off x="622852" y="3567405"/>
            <a:ext cx="5148000" cy="2880000"/>
          </a:xfrm>
          <a:prstGeom prst="rect">
            <a:avLst/>
          </a:prstGeom>
        </p:spPr>
      </p:pic>
      <p:pic>
        <p:nvPicPr>
          <p:cNvPr id="15" name="圖片 14"/>
          <p:cNvPicPr/>
          <p:nvPr/>
        </p:nvPicPr>
        <p:blipFill>
          <a:blip r:embed="rId6"/>
          <a:stretch>
            <a:fillRect/>
          </a:stretch>
        </p:blipFill>
        <p:spPr>
          <a:xfrm>
            <a:off x="6286047" y="3567405"/>
            <a:ext cx="5148000" cy="288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28</a:t>
            </a:fld>
            <a:endParaRPr lang="zh-TW" altLang="en-US"/>
          </a:p>
        </p:txBody>
      </p:sp>
    </p:spTree>
    <p:extLst>
      <p:ext uri="{BB962C8B-B14F-4D97-AF65-F5344CB8AC3E}">
        <p14:creationId xmlns:p14="http://schemas.microsoft.com/office/powerpoint/2010/main" val="382600664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p:cNvPicPr/>
          <p:nvPr/>
        </p:nvPicPr>
        <p:blipFill>
          <a:blip r:embed="rId3"/>
          <a:stretch>
            <a:fillRect/>
          </a:stretch>
        </p:blipFill>
        <p:spPr>
          <a:xfrm>
            <a:off x="693139" y="918549"/>
            <a:ext cx="5148580" cy="2879725"/>
          </a:xfrm>
          <a:prstGeom prst="rect">
            <a:avLst/>
          </a:prstGeom>
        </p:spPr>
      </p:pic>
      <p:pic>
        <p:nvPicPr>
          <p:cNvPr id="8" name="圖片 7"/>
          <p:cNvPicPr/>
          <p:nvPr/>
        </p:nvPicPr>
        <p:blipFill>
          <a:blip r:embed="rId4"/>
          <a:stretch>
            <a:fillRect/>
          </a:stretch>
        </p:blipFill>
        <p:spPr>
          <a:xfrm>
            <a:off x="6282016" y="918548"/>
            <a:ext cx="5148000" cy="2879725"/>
          </a:xfrm>
          <a:prstGeom prst="rect">
            <a:avLst/>
          </a:prstGeom>
        </p:spPr>
      </p:pic>
      <p:pic>
        <p:nvPicPr>
          <p:cNvPr id="10" name="圖片 9"/>
          <p:cNvPicPr/>
          <p:nvPr/>
        </p:nvPicPr>
        <p:blipFill>
          <a:blip r:embed="rId5"/>
          <a:stretch>
            <a:fillRect/>
          </a:stretch>
        </p:blipFill>
        <p:spPr>
          <a:xfrm>
            <a:off x="693139" y="3798275"/>
            <a:ext cx="5148000" cy="2879725"/>
          </a:xfrm>
          <a:prstGeom prst="rect">
            <a:avLst/>
          </a:prstGeom>
        </p:spPr>
      </p:pic>
      <p:pic>
        <p:nvPicPr>
          <p:cNvPr id="11" name="圖片 10"/>
          <p:cNvPicPr/>
          <p:nvPr/>
        </p:nvPicPr>
        <p:blipFill>
          <a:blip r:embed="rId6"/>
          <a:stretch>
            <a:fillRect/>
          </a:stretch>
        </p:blipFill>
        <p:spPr>
          <a:xfrm>
            <a:off x="6282016" y="3798274"/>
            <a:ext cx="5148000" cy="2879725"/>
          </a:xfrm>
          <a:prstGeom prst="rect">
            <a:avLst/>
          </a:prstGeom>
        </p:spPr>
      </p:pic>
      <p:sp>
        <p:nvSpPr>
          <p:cNvPr id="12" name="標題 1"/>
          <p:cNvSpPr>
            <a:spLocks noGrp="1"/>
          </p:cNvSpPr>
          <p:nvPr>
            <p:ph type="title"/>
          </p:nvPr>
        </p:nvSpPr>
        <p:spPr>
          <a:xfrm>
            <a:off x="838200" y="266868"/>
            <a:ext cx="10515600" cy="564811"/>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(1)–</a:t>
            </a:r>
            <a:r>
              <a:rPr lang="zh-TW" altLang="en-US" sz="3200" dirty="0" smtClean="0">
                <a:latin typeface="標楷體" panose="03000509000000000000" pitchFamily="65" charset="-120"/>
                <a:ea typeface="標楷體" panose="03000509000000000000" pitchFamily="65" charset="-120"/>
              </a:rPr>
              <a:t>一般</a:t>
            </a:r>
            <a:r>
              <a:rPr lang="zh-TW" altLang="en-US" sz="3200" dirty="0">
                <a:latin typeface="標楷體" panose="03000509000000000000" pitchFamily="65" charset="-120"/>
                <a:ea typeface="標楷體" panose="03000509000000000000" pitchFamily="65" charset="-120"/>
              </a:rPr>
              <a:t>常態分佈</a:t>
            </a:r>
            <a:endParaRPr lang="en-US" altLang="zh-TW" sz="3200" dirty="0">
              <a:latin typeface="標楷體" panose="03000509000000000000" pitchFamily="65" charset="-120"/>
              <a:ea typeface="標楷體" panose="03000509000000000000" pitchFamily="65" charset="-120"/>
            </a:endParaRPr>
          </a:p>
        </p:txBody>
      </p:sp>
      <p:sp>
        <p:nvSpPr>
          <p:cNvPr id="2" name="投影片編號版面配置區 1"/>
          <p:cNvSpPr>
            <a:spLocks noGrp="1"/>
          </p:cNvSpPr>
          <p:nvPr>
            <p:ph type="sldNum" sz="quarter" idx="12"/>
          </p:nvPr>
        </p:nvSpPr>
        <p:spPr/>
        <p:txBody>
          <a:bodyPr/>
          <a:lstStyle/>
          <a:p>
            <a:fld id="{914C6EE6-3FC0-42F2-A2AA-2F8392A95B97}" type="slidenum">
              <a:rPr lang="zh-TW" altLang="en-US" smtClean="0"/>
              <a:t>29</a:t>
            </a:fld>
            <a:endParaRPr lang="zh-TW" altLang="en-US"/>
          </a:p>
        </p:txBody>
      </p:sp>
    </p:spTree>
    <p:extLst>
      <p:ext uri="{BB962C8B-B14F-4D97-AF65-F5344CB8AC3E}">
        <p14:creationId xmlns:p14="http://schemas.microsoft.com/office/powerpoint/2010/main" val="85212186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p:cNvPicPr/>
          <p:nvPr/>
        </p:nvPicPr>
        <p:blipFill>
          <a:blip r:embed="rId3"/>
          <a:stretch>
            <a:fillRect/>
          </a:stretch>
        </p:blipFill>
        <p:spPr>
          <a:xfrm>
            <a:off x="595433" y="918549"/>
            <a:ext cx="5148000" cy="2879725"/>
          </a:xfrm>
          <a:prstGeom prst="rect">
            <a:avLst/>
          </a:prstGeom>
        </p:spPr>
      </p:pic>
      <p:pic>
        <p:nvPicPr>
          <p:cNvPr id="12" name="圖片 11"/>
          <p:cNvPicPr/>
          <p:nvPr/>
        </p:nvPicPr>
        <p:blipFill>
          <a:blip r:embed="rId4"/>
          <a:stretch>
            <a:fillRect/>
          </a:stretch>
        </p:blipFill>
        <p:spPr>
          <a:xfrm>
            <a:off x="6340825" y="918549"/>
            <a:ext cx="5146040" cy="2879725"/>
          </a:xfrm>
          <a:prstGeom prst="rect">
            <a:avLst/>
          </a:prstGeom>
        </p:spPr>
      </p:pic>
      <p:pic>
        <p:nvPicPr>
          <p:cNvPr id="14" name="圖片 13"/>
          <p:cNvPicPr/>
          <p:nvPr/>
        </p:nvPicPr>
        <p:blipFill>
          <a:blip r:embed="rId5"/>
          <a:stretch>
            <a:fillRect/>
          </a:stretch>
        </p:blipFill>
        <p:spPr>
          <a:xfrm>
            <a:off x="6338865" y="3798275"/>
            <a:ext cx="5148000" cy="2879725"/>
          </a:xfrm>
          <a:prstGeom prst="rect">
            <a:avLst/>
          </a:prstGeom>
        </p:spPr>
      </p:pic>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(2)–</a:t>
            </a:r>
            <a:r>
              <a:rPr lang="zh-TW" altLang="en-US" sz="3200" dirty="0" smtClean="0">
                <a:latin typeface="標楷體" panose="03000509000000000000" pitchFamily="65" charset="-120"/>
                <a:ea typeface="標楷體" panose="03000509000000000000" pitchFamily="65" charset="-120"/>
              </a:rPr>
              <a:t>資料</a:t>
            </a:r>
            <a:r>
              <a:rPr lang="zh-TW" altLang="en-US" sz="3200" dirty="0">
                <a:latin typeface="標楷體" panose="03000509000000000000" pitchFamily="65" charset="-120"/>
                <a:ea typeface="標楷體" panose="03000509000000000000" pitchFamily="65" charset="-120"/>
              </a:rPr>
              <a:t>片段平均值與常態分佈</a:t>
            </a:r>
          </a:p>
        </p:txBody>
      </p:sp>
      <p:pic>
        <p:nvPicPr>
          <p:cNvPr id="10" name="圖片 9"/>
          <p:cNvPicPr>
            <a:picLocks noChangeAspect="1"/>
          </p:cNvPicPr>
          <p:nvPr/>
        </p:nvPicPr>
        <p:blipFill>
          <a:blip r:embed="rId6"/>
          <a:stretch>
            <a:fillRect/>
          </a:stretch>
        </p:blipFill>
        <p:spPr>
          <a:xfrm>
            <a:off x="595433" y="3798274"/>
            <a:ext cx="5148000" cy="2879571"/>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30</a:t>
            </a:fld>
            <a:endParaRPr lang="zh-TW" altLang="en-US"/>
          </a:p>
        </p:txBody>
      </p:sp>
    </p:spTree>
    <p:extLst>
      <p:ext uri="{BB962C8B-B14F-4D97-AF65-F5344CB8AC3E}">
        <p14:creationId xmlns:p14="http://schemas.microsoft.com/office/powerpoint/2010/main" val="186513476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(3)– </a:t>
            </a:r>
            <a:r>
              <a:rPr lang="en-US" altLang="zh-TW" sz="3200" dirty="0" smtClean="0">
                <a:ea typeface="標楷體" panose="03000509000000000000" pitchFamily="65" charset="-120"/>
              </a:rPr>
              <a:t>CUSUM</a:t>
            </a:r>
            <a:endParaRPr lang="zh-TW" altLang="en-US" sz="3200" dirty="0">
              <a:ea typeface="標楷體" panose="03000509000000000000" pitchFamily="65" charset="-120"/>
            </a:endParaRPr>
          </a:p>
        </p:txBody>
      </p:sp>
      <p:pic>
        <p:nvPicPr>
          <p:cNvPr id="10" name="圖片 9"/>
          <p:cNvPicPr/>
          <p:nvPr/>
        </p:nvPicPr>
        <p:blipFill>
          <a:blip r:embed="rId3"/>
          <a:stretch>
            <a:fillRect/>
          </a:stretch>
        </p:blipFill>
        <p:spPr>
          <a:xfrm>
            <a:off x="757464" y="927164"/>
            <a:ext cx="5148000" cy="2879725"/>
          </a:xfrm>
          <a:prstGeom prst="rect">
            <a:avLst/>
          </a:prstGeom>
        </p:spPr>
      </p:pic>
      <p:pic>
        <p:nvPicPr>
          <p:cNvPr id="11" name="圖片 10"/>
          <p:cNvPicPr/>
          <p:nvPr/>
        </p:nvPicPr>
        <p:blipFill>
          <a:blip r:embed="rId4"/>
          <a:stretch>
            <a:fillRect/>
          </a:stretch>
        </p:blipFill>
        <p:spPr>
          <a:xfrm>
            <a:off x="6359702" y="927164"/>
            <a:ext cx="5146040" cy="2879725"/>
          </a:xfrm>
          <a:prstGeom prst="rect">
            <a:avLst/>
          </a:prstGeom>
        </p:spPr>
      </p:pic>
      <p:pic>
        <p:nvPicPr>
          <p:cNvPr id="16" name="圖片 15"/>
          <p:cNvPicPr/>
          <p:nvPr/>
        </p:nvPicPr>
        <p:blipFill>
          <a:blip r:embed="rId5"/>
          <a:stretch>
            <a:fillRect/>
          </a:stretch>
        </p:blipFill>
        <p:spPr>
          <a:xfrm>
            <a:off x="719901" y="3798275"/>
            <a:ext cx="5148000" cy="2879725"/>
          </a:xfrm>
          <a:prstGeom prst="rect">
            <a:avLst/>
          </a:prstGeom>
        </p:spPr>
      </p:pic>
      <p:pic>
        <p:nvPicPr>
          <p:cNvPr id="17" name="圖片 16"/>
          <p:cNvPicPr/>
          <p:nvPr/>
        </p:nvPicPr>
        <p:blipFill>
          <a:blip r:embed="rId6"/>
          <a:stretch>
            <a:fillRect/>
          </a:stretch>
        </p:blipFill>
        <p:spPr>
          <a:xfrm>
            <a:off x="6322139" y="3798274"/>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31</a:t>
            </a:fld>
            <a:endParaRPr lang="zh-TW" altLang="en-US"/>
          </a:p>
        </p:txBody>
      </p:sp>
    </p:spTree>
    <p:extLst>
      <p:ext uri="{BB962C8B-B14F-4D97-AF65-F5344CB8AC3E}">
        <p14:creationId xmlns:p14="http://schemas.microsoft.com/office/powerpoint/2010/main" val="393158644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(4)–</a:t>
            </a:r>
            <a:r>
              <a:rPr lang="zh-TW" altLang="en-US" sz="3200" dirty="0" smtClean="0">
                <a:ea typeface="標楷體" panose="03000509000000000000" pitchFamily="65" charset="-120"/>
              </a:rPr>
              <a:t>資料</a:t>
            </a:r>
            <a:r>
              <a:rPr lang="zh-TW" altLang="en-US" sz="3200" dirty="0">
                <a:ea typeface="標楷體" panose="03000509000000000000" pitchFamily="65" charset="-120"/>
              </a:rPr>
              <a:t>片段數值與</a:t>
            </a:r>
            <a:r>
              <a:rPr lang="en-US" altLang="zh-TW" sz="3200" dirty="0">
                <a:ea typeface="標楷體" panose="03000509000000000000" pitchFamily="65" charset="-120"/>
              </a:rPr>
              <a:t>LOF</a:t>
            </a:r>
          </a:p>
        </p:txBody>
      </p:sp>
      <p:pic>
        <p:nvPicPr>
          <p:cNvPr id="9" name="圖片 8"/>
          <p:cNvPicPr/>
          <p:nvPr/>
        </p:nvPicPr>
        <p:blipFill>
          <a:blip r:embed="rId3"/>
          <a:stretch>
            <a:fillRect/>
          </a:stretch>
        </p:blipFill>
        <p:spPr>
          <a:xfrm>
            <a:off x="745484" y="918549"/>
            <a:ext cx="5148000" cy="2879725"/>
          </a:xfrm>
          <a:prstGeom prst="rect">
            <a:avLst/>
          </a:prstGeom>
        </p:spPr>
      </p:pic>
      <p:pic>
        <p:nvPicPr>
          <p:cNvPr id="12" name="圖片 11"/>
          <p:cNvPicPr/>
          <p:nvPr/>
        </p:nvPicPr>
        <p:blipFill>
          <a:blip r:embed="rId4"/>
          <a:stretch>
            <a:fillRect/>
          </a:stretch>
        </p:blipFill>
        <p:spPr>
          <a:xfrm>
            <a:off x="6468742" y="918549"/>
            <a:ext cx="5148000" cy="2879725"/>
          </a:xfrm>
          <a:prstGeom prst="rect">
            <a:avLst/>
          </a:prstGeom>
        </p:spPr>
      </p:pic>
      <p:pic>
        <p:nvPicPr>
          <p:cNvPr id="13" name="圖片 12"/>
          <p:cNvPicPr/>
          <p:nvPr/>
        </p:nvPicPr>
        <p:blipFill>
          <a:blip r:embed="rId5"/>
          <a:stretch>
            <a:fillRect/>
          </a:stretch>
        </p:blipFill>
        <p:spPr>
          <a:xfrm>
            <a:off x="745484" y="3796413"/>
            <a:ext cx="5148000" cy="2879725"/>
          </a:xfrm>
          <a:prstGeom prst="rect">
            <a:avLst/>
          </a:prstGeom>
        </p:spPr>
      </p:pic>
      <p:pic>
        <p:nvPicPr>
          <p:cNvPr id="14" name="圖片 13"/>
          <p:cNvPicPr/>
          <p:nvPr/>
        </p:nvPicPr>
        <p:blipFill>
          <a:blip r:embed="rId6"/>
          <a:stretch>
            <a:fillRect/>
          </a:stretch>
        </p:blipFill>
        <p:spPr>
          <a:xfrm>
            <a:off x="6468742" y="3796412"/>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32</a:t>
            </a:fld>
            <a:endParaRPr lang="zh-TW" altLang="en-US"/>
          </a:p>
        </p:txBody>
      </p:sp>
    </p:spTree>
    <p:extLst>
      <p:ext uri="{BB962C8B-B14F-4D97-AF65-F5344CB8AC3E}">
        <p14:creationId xmlns:p14="http://schemas.microsoft.com/office/powerpoint/2010/main" val="9065842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(5)–</a:t>
            </a:r>
            <a:r>
              <a:rPr lang="zh-TW" altLang="en-US" sz="3200" dirty="0" smtClean="0">
                <a:ea typeface="標楷體" panose="03000509000000000000" pitchFamily="65" charset="-120"/>
              </a:rPr>
              <a:t>資料</a:t>
            </a:r>
            <a:r>
              <a:rPr lang="zh-TW" altLang="en-US" sz="3200" dirty="0">
                <a:ea typeface="標楷體" panose="03000509000000000000" pitchFamily="65" charset="-120"/>
              </a:rPr>
              <a:t>片段平均值、標準差與</a:t>
            </a:r>
            <a:r>
              <a:rPr lang="en-US" altLang="zh-TW" sz="3200" dirty="0">
                <a:ea typeface="標楷體" panose="03000509000000000000" pitchFamily="65" charset="-120"/>
              </a:rPr>
              <a:t>LOF</a:t>
            </a:r>
          </a:p>
        </p:txBody>
      </p:sp>
      <p:pic>
        <p:nvPicPr>
          <p:cNvPr id="10" name="圖片 9"/>
          <p:cNvPicPr/>
          <p:nvPr/>
        </p:nvPicPr>
        <p:blipFill>
          <a:blip r:embed="rId3"/>
          <a:stretch>
            <a:fillRect/>
          </a:stretch>
        </p:blipFill>
        <p:spPr>
          <a:xfrm>
            <a:off x="734982" y="918550"/>
            <a:ext cx="5148000" cy="2879725"/>
          </a:xfrm>
          <a:prstGeom prst="rect">
            <a:avLst/>
          </a:prstGeom>
        </p:spPr>
      </p:pic>
      <p:pic>
        <p:nvPicPr>
          <p:cNvPr id="11" name="圖片 10"/>
          <p:cNvPicPr/>
          <p:nvPr/>
        </p:nvPicPr>
        <p:blipFill>
          <a:blip r:embed="rId4"/>
          <a:stretch>
            <a:fillRect/>
          </a:stretch>
        </p:blipFill>
        <p:spPr>
          <a:xfrm>
            <a:off x="6464430" y="891444"/>
            <a:ext cx="5148000" cy="2879725"/>
          </a:xfrm>
          <a:prstGeom prst="rect">
            <a:avLst/>
          </a:prstGeom>
        </p:spPr>
      </p:pic>
      <p:pic>
        <p:nvPicPr>
          <p:cNvPr id="16" name="圖片 15"/>
          <p:cNvPicPr/>
          <p:nvPr/>
        </p:nvPicPr>
        <p:blipFill>
          <a:blip r:embed="rId5"/>
          <a:stretch>
            <a:fillRect/>
          </a:stretch>
        </p:blipFill>
        <p:spPr>
          <a:xfrm>
            <a:off x="734982" y="3771169"/>
            <a:ext cx="5148000" cy="2879725"/>
          </a:xfrm>
          <a:prstGeom prst="rect">
            <a:avLst/>
          </a:prstGeom>
        </p:spPr>
      </p:pic>
      <p:pic>
        <p:nvPicPr>
          <p:cNvPr id="17" name="圖片 16"/>
          <p:cNvPicPr/>
          <p:nvPr/>
        </p:nvPicPr>
        <p:blipFill>
          <a:blip r:embed="rId6"/>
          <a:stretch>
            <a:fillRect/>
          </a:stretch>
        </p:blipFill>
        <p:spPr>
          <a:xfrm>
            <a:off x="6464430" y="3798275"/>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33</a:t>
            </a:fld>
            <a:endParaRPr lang="zh-TW" altLang="en-US"/>
          </a:p>
        </p:txBody>
      </p:sp>
    </p:spTree>
    <p:extLst>
      <p:ext uri="{BB962C8B-B14F-4D97-AF65-F5344CB8AC3E}">
        <p14:creationId xmlns:p14="http://schemas.microsoft.com/office/powerpoint/2010/main" val="18060287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34</a:t>
            </a:fld>
            <a:endParaRPr lang="zh-TW" altLang="en-US"/>
          </a:p>
        </p:txBody>
      </p:sp>
    </p:spTree>
    <p:extLst>
      <p:ext uri="{BB962C8B-B14F-4D97-AF65-F5344CB8AC3E}">
        <p14:creationId xmlns:p14="http://schemas.microsoft.com/office/powerpoint/2010/main" val="409556349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75974" y="1825625"/>
            <a:ext cx="7840051"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35</a:t>
            </a:fld>
            <a:endParaRPr lang="zh-TW" altLang="en-US"/>
          </a:p>
        </p:txBody>
      </p:sp>
    </p:spTree>
    <p:extLst>
      <p:ext uri="{BB962C8B-B14F-4D97-AF65-F5344CB8AC3E}">
        <p14:creationId xmlns:p14="http://schemas.microsoft.com/office/powerpoint/2010/main" val="102052261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8" name="內容版面配置區 7"/>
          <p:cNvPicPr>
            <a:picLocks noGrp="1"/>
          </p:cNvPicPr>
          <p:nvPr>
            <p:ph idx="1"/>
          </p:nvPr>
        </p:nvPicPr>
        <p:blipFill>
          <a:blip r:embed="rId3"/>
          <a:stretch>
            <a:fillRect/>
          </a:stretch>
        </p:blipFill>
        <p:spPr>
          <a:xfrm>
            <a:off x="2176516" y="1825625"/>
            <a:ext cx="7838968"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36</a:t>
            </a:fld>
            <a:endParaRPr lang="zh-TW" altLang="en-US"/>
          </a:p>
        </p:txBody>
      </p:sp>
    </p:spTree>
    <p:extLst>
      <p:ext uri="{BB962C8B-B14F-4D97-AF65-F5344CB8AC3E}">
        <p14:creationId xmlns:p14="http://schemas.microsoft.com/office/powerpoint/2010/main" val="91819945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於資料波動範圍內的單點和集體異常</a:t>
            </a:r>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37</a:t>
            </a:fld>
            <a:endParaRPr lang="zh-TW" altLang="en-US"/>
          </a:p>
        </p:txBody>
      </p:sp>
    </p:spTree>
    <p:extLst>
      <p:ext uri="{BB962C8B-B14F-4D97-AF65-F5344CB8AC3E}">
        <p14:creationId xmlns:p14="http://schemas.microsoft.com/office/powerpoint/2010/main" val="3148240960"/>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模擬週期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80886" y="1825625"/>
            <a:ext cx="7830227" cy="4351338"/>
          </a:xfrm>
          <a:prstGeom prst="rect">
            <a:avLst/>
          </a:prstGeom>
        </p:spPr>
      </p:pic>
      <p:sp>
        <p:nvSpPr>
          <p:cNvPr id="8" name="橢圓 7"/>
          <p:cNvSpPr/>
          <p:nvPr/>
        </p:nvSpPr>
        <p:spPr>
          <a:xfrm>
            <a:off x="3500438" y="213365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4352926" y="5443594"/>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6781800" y="2888692"/>
            <a:ext cx="1462088" cy="940357"/>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38</a:t>
            </a:fld>
            <a:endParaRPr lang="zh-TW" altLang="en-US"/>
          </a:p>
        </p:txBody>
      </p:sp>
    </p:spTree>
    <p:extLst>
      <p:ext uri="{BB962C8B-B14F-4D97-AF65-F5344CB8AC3E}">
        <p14:creationId xmlns:p14="http://schemas.microsoft.com/office/powerpoint/2010/main" val="310489391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真實資料週期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內容版面配置區 8"/>
          <p:cNvPicPr>
            <a:picLocks noGrp="1"/>
          </p:cNvPicPr>
          <p:nvPr>
            <p:ph idx="1"/>
          </p:nvPr>
        </p:nvPicPr>
        <p:blipFill>
          <a:blip r:embed="rId3"/>
          <a:stretch>
            <a:fillRect/>
          </a:stretch>
        </p:blipFill>
        <p:spPr>
          <a:xfrm>
            <a:off x="2193394" y="1825625"/>
            <a:ext cx="7805212" cy="4351338"/>
          </a:xfrm>
          <a:prstGeom prst="rect">
            <a:avLst/>
          </a:prstGeom>
        </p:spPr>
      </p:pic>
      <p:sp>
        <p:nvSpPr>
          <p:cNvPr id="10" name="橢圓 9"/>
          <p:cNvSpPr/>
          <p:nvPr/>
        </p:nvSpPr>
        <p:spPr>
          <a:xfrm>
            <a:off x="3914776" y="276230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5629275" y="4987312"/>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7258051" y="3641293"/>
            <a:ext cx="1285874" cy="687819"/>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39</a:t>
            </a:fld>
            <a:endParaRPr lang="zh-TW" altLang="en-US"/>
          </a:p>
        </p:txBody>
      </p:sp>
    </p:spTree>
    <p:extLst>
      <p:ext uri="{BB962C8B-B14F-4D97-AF65-F5344CB8AC3E}">
        <p14:creationId xmlns:p14="http://schemas.microsoft.com/office/powerpoint/2010/main" val="47303832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a:bodyPr>
          <a:lstStyle/>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視窗大小為</a:t>
            </a:r>
            <a:r>
              <a:rPr lang="en-US" altLang="zh-TW" dirty="0" smtClean="0"/>
              <a:t>8</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滑動間格為</a:t>
            </a:r>
            <a:r>
              <a:rPr lang="en-US" altLang="zh-TW" dirty="0" smtClean="0"/>
              <a:t>1</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判斷區域的鄰近點個數為</a:t>
            </a:r>
            <a:r>
              <a:rPr lang="en-US" altLang="zh-TW" dirty="0" smtClean="0">
                <a:ea typeface="標楷體" panose="03000509000000000000" pitchFamily="65" charset="-120"/>
              </a:rPr>
              <a:t>3</a:t>
            </a:r>
          </a:p>
          <a:p>
            <a:pPr lvl="1"/>
            <a:r>
              <a:rPr lang="en-US" altLang="zh-TW" dirty="0"/>
              <a:t>LOF</a:t>
            </a:r>
            <a:r>
              <a:rPr lang="zh-TW" altLang="en-US" dirty="0">
                <a:latin typeface="標楷體" panose="03000509000000000000" pitchFamily="65" charset="-120"/>
                <a:ea typeface="標楷體" panose="03000509000000000000" pitchFamily="65" charset="-120"/>
              </a:rPr>
              <a:t>異常分數門檻</a:t>
            </a:r>
            <a:r>
              <a:rPr lang="en-US" altLang="zh-TW" dirty="0" smtClean="0">
                <a:ea typeface="標楷體" panose="03000509000000000000" pitchFamily="65" charset="-120"/>
              </a:rPr>
              <a:t>2</a:t>
            </a:r>
            <a:endParaRPr lang="en-US" altLang="zh-TW" dirty="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40</a:t>
            </a:fld>
            <a:endParaRPr lang="zh-TW" altLang="en-US"/>
          </a:p>
        </p:txBody>
      </p:sp>
    </p:spTree>
    <p:extLst>
      <p:ext uri="{BB962C8B-B14F-4D97-AF65-F5344CB8AC3E}">
        <p14:creationId xmlns:p14="http://schemas.microsoft.com/office/powerpoint/2010/main" val="402362244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11" name="內容版面配置區 5"/>
          <p:cNvPicPr>
            <a:picLocks/>
          </p:cNvPicPr>
          <p:nvPr/>
        </p:nvPicPr>
        <p:blipFill>
          <a:blip r:embed="rId3"/>
          <a:stretch>
            <a:fillRect/>
          </a:stretch>
        </p:blipFill>
        <p:spPr>
          <a:xfrm>
            <a:off x="6072000" y="3438000"/>
            <a:ext cx="6120000" cy="3240000"/>
          </a:xfrm>
          <a:prstGeom prst="rect">
            <a:avLst/>
          </a:prstGeom>
        </p:spPr>
      </p:pic>
      <p:pic>
        <p:nvPicPr>
          <p:cNvPr id="10" name="內容版面配置區 6"/>
          <p:cNvPicPr>
            <a:picLocks noGrp="1"/>
          </p:cNvPicPr>
          <p:nvPr>
            <p:ph idx="1"/>
          </p:nvPr>
        </p:nvPicPr>
        <p:blipFill>
          <a:blip r:embed="rId4"/>
          <a:stretch>
            <a:fillRect/>
          </a:stretch>
        </p:blipFill>
        <p:spPr>
          <a:xfrm>
            <a:off x="0" y="864337"/>
            <a:ext cx="6120000" cy="324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41</a:t>
            </a:fld>
            <a:endParaRPr lang="zh-TW" altLang="en-US"/>
          </a:p>
        </p:txBody>
      </p:sp>
    </p:spTree>
    <p:extLst>
      <p:ext uri="{BB962C8B-B14F-4D97-AF65-F5344CB8AC3E}">
        <p14:creationId xmlns:p14="http://schemas.microsoft.com/office/powerpoint/2010/main" val="375410563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2" name="內容版面配置區 8"/>
          <p:cNvPicPr>
            <a:picLocks/>
          </p:cNvPicPr>
          <p:nvPr/>
        </p:nvPicPr>
        <p:blipFill>
          <a:blip r:embed="rId3"/>
          <a:stretch>
            <a:fillRect/>
          </a:stretch>
        </p:blipFill>
        <p:spPr>
          <a:xfrm>
            <a:off x="6072000" y="3438000"/>
            <a:ext cx="6120000" cy="3240000"/>
          </a:xfrm>
          <a:prstGeom prst="rect">
            <a:avLst/>
          </a:prstGeom>
        </p:spPr>
      </p:pic>
      <p:pic>
        <p:nvPicPr>
          <p:cNvPr id="9" name="內容版面配置區 7"/>
          <p:cNvPicPr>
            <a:picLocks noGrp="1"/>
          </p:cNvPicPr>
          <p:nvPr>
            <p:ph idx="1"/>
          </p:nvPr>
        </p:nvPicPr>
        <p:blipFill>
          <a:blip r:embed="rId4"/>
          <a:stretch>
            <a:fillRect/>
          </a:stretch>
        </p:blipFill>
        <p:spPr>
          <a:xfrm>
            <a:off x="0" y="864337"/>
            <a:ext cx="6120000" cy="324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42</a:t>
            </a:fld>
            <a:endParaRPr lang="zh-TW" altLang="en-US"/>
          </a:p>
        </p:txBody>
      </p:sp>
    </p:spTree>
    <p:extLst>
      <p:ext uri="{BB962C8B-B14F-4D97-AF65-F5344CB8AC3E}">
        <p14:creationId xmlns:p14="http://schemas.microsoft.com/office/powerpoint/2010/main" val="325165298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結論</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43</a:t>
            </a:fld>
            <a:endParaRPr lang="zh-TW" altLang="en-US"/>
          </a:p>
        </p:txBody>
      </p:sp>
    </p:spTree>
    <p:extLst>
      <p:ext uri="{BB962C8B-B14F-4D97-AF65-F5344CB8AC3E}">
        <p14:creationId xmlns:p14="http://schemas.microsoft.com/office/powerpoint/2010/main" val="68176963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門檻</a:t>
            </a:r>
            <a:r>
              <a:rPr lang="zh-TW" altLang="en-US" sz="3200" dirty="0">
                <a:latin typeface="標楷體" panose="03000509000000000000" pitchFamily="65" charset="-120"/>
                <a:ea typeface="標楷體" panose="03000509000000000000" pitchFamily="65" charset="-120"/>
              </a:rPr>
              <a:t>值</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直接設定門檻值的方法適用於明確知道資料正常範圍的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異常事件一定會造成資料偏移至正常範圍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偵測反應快速、不會造成</a:t>
            </a:r>
            <a:r>
              <a:rPr lang="zh-TW" altLang="zh-TW" dirty="0" smtClean="0">
                <a:latin typeface="標楷體" panose="03000509000000000000" pitchFamily="65" charset="-120"/>
                <a:ea typeface="標楷體" panose="03000509000000000000" pitchFamily="65" charset="-120"/>
              </a:rPr>
              <a:t>誤判</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無法適應任何狀態的改變，每次使用時都要自己指定明確的門檻</a:t>
            </a:r>
            <a:r>
              <a:rPr lang="zh-TW" altLang="zh-TW" dirty="0" smtClean="0">
                <a:latin typeface="標楷體" panose="03000509000000000000" pitchFamily="65" charset="-120"/>
                <a:ea typeface="標楷體" panose="03000509000000000000" pitchFamily="65" charset="-120"/>
              </a:rPr>
              <a:t>範圍</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44</a:t>
            </a:fld>
            <a:endParaRPr lang="zh-TW" altLang="en-US"/>
          </a:p>
        </p:txBody>
      </p:sp>
    </p:spTree>
    <p:extLst>
      <p:ext uri="{BB962C8B-B14F-4D97-AF65-F5344CB8AC3E}">
        <p14:creationId xmlns:p14="http://schemas.microsoft.com/office/powerpoint/2010/main" val="356628829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一般常態分佈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適用於不確定正常範圍的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異常事件會使資料偏移到正常範圍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如果資料數值相近容易造成很小的標準差，使用很小的標準差當作判斷正常資料的範圍，很可能會造成異常</a:t>
            </a:r>
            <a:r>
              <a:rPr lang="zh-TW" altLang="zh-TW" dirty="0" smtClean="0">
                <a:latin typeface="標楷體" panose="03000509000000000000" pitchFamily="65" charset="-120"/>
                <a:ea typeface="標楷體" panose="03000509000000000000" pitchFamily="65" charset="-120"/>
              </a:rPr>
              <a:t>誤判</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45</a:t>
            </a:fld>
            <a:endParaRPr lang="zh-TW" altLang="en-US"/>
          </a:p>
        </p:txBody>
      </p:sp>
    </p:spTree>
    <p:extLst>
      <p:ext uri="{BB962C8B-B14F-4D97-AF65-F5344CB8AC3E}">
        <p14:creationId xmlns:p14="http://schemas.microsoft.com/office/powerpoint/2010/main" val="2521758529"/>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資料片段平均值與常態分佈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為了避免取得的平均值彼此相近，而產生過小的標準差，視窗轉換使用較大的滑動</a:t>
            </a:r>
            <a:r>
              <a:rPr lang="zh-TW" altLang="zh-TW" dirty="0" smtClean="0">
                <a:latin typeface="標楷體" panose="03000509000000000000" pitchFamily="65" charset="-120"/>
                <a:ea typeface="標楷體" panose="03000509000000000000" pitchFamily="65" charset="-120"/>
              </a:rPr>
              <a:t>間隔</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讓視窗內維持的相同資料較少，在原始資料發生改變的情況下，才可以產生具有差異性的資料</a:t>
            </a:r>
            <a:r>
              <a:rPr lang="zh-TW" altLang="zh-TW" dirty="0" smtClean="0">
                <a:latin typeface="標楷體" panose="03000509000000000000" pitchFamily="65" charset="-120"/>
                <a:ea typeface="標楷體" panose="03000509000000000000" pitchFamily="65" charset="-120"/>
              </a:rPr>
              <a:t>點</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由於設計的關係需要取用較大的視窗滑動間隔，造成對異常事件的反應較慢</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46</a:t>
            </a:fld>
            <a:endParaRPr lang="zh-TW" altLang="en-US"/>
          </a:p>
        </p:txBody>
      </p:sp>
    </p:spTree>
    <p:extLst>
      <p:ext uri="{BB962C8B-B14F-4D97-AF65-F5344CB8AC3E}">
        <p14:creationId xmlns:p14="http://schemas.microsoft.com/office/powerpoint/2010/main" val="263000322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CUSUM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改善了單純使用一般常態分佈時，小的標準差容易造成誤判的</a:t>
            </a:r>
            <a:r>
              <a:rPr lang="zh-TW" altLang="zh-TW" dirty="0" smtClean="0">
                <a:latin typeface="標楷體" panose="03000509000000000000" pitchFamily="65" charset="-120"/>
                <a:ea typeface="標楷體" panose="03000509000000000000" pitchFamily="65" charset="-120"/>
              </a:rPr>
              <a:t>問題</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除非偏離的量非常大，否則都要經過演算法累加的過程，觀察連續的資料偏移行為後才確認異常</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演算法內的機制在回報異常後會清空累加的值，因此只要下一筆資料偏差不會直接造成累加超過門檻，就有</a:t>
            </a:r>
            <a:r>
              <a:rPr lang="zh-TW" altLang="zh-TW">
                <a:latin typeface="標楷體" panose="03000509000000000000" pitchFamily="65" charset="-120"/>
                <a:ea typeface="標楷體" panose="03000509000000000000" pitchFamily="65" charset="-120"/>
              </a:rPr>
              <a:t>機會</a:t>
            </a:r>
            <a:r>
              <a:rPr lang="zh-TW" altLang="zh-TW" smtClean="0">
                <a:latin typeface="標楷體" panose="03000509000000000000" pitchFamily="65" charset="-120"/>
                <a:ea typeface="標楷體" panose="03000509000000000000" pitchFamily="65" charset="-120"/>
              </a:rPr>
              <a:t>將資料</a:t>
            </a:r>
            <a:r>
              <a:rPr lang="zh-TW" altLang="zh-TW" dirty="0">
                <a:latin typeface="標楷體" panose="03000509000000000000" pitchFamily="65" charset="-120"/>
                <a:ea typeface="標楷體" panose="03000509000000000000" pitchFamily="65" charset="-120"/>
              </a:rPr>
              <a:t>加入常態分佈中</a:t>
            </a:r>
            <a:r>
              <a:rPr lang="zh-TW" altLang="zh-TW" dirty="0" smtClean="0">
                <a:latin typeface="標楷體" panose="03000509000000000000" pitchFamily="65" charset="-120"/>
                <a:ea typeface="標楷體" panose="03000509000000000000" pitchFamily="65" charset="-120"/>
              </a:rPr>
              <a:t>運算</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在一定程度內對情境改變的適應能力</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47</a:t>
            </a:fld>
            <a:endParaRPr lang="zh-TW" altLang="en-US"/>
          </a:p>
        </p:txBody>
      </p:sp>
    </p:spTree>
    <p:extLst>
      <p:ext uri="{BB962C8B-B14F-4D97-AF65-F5344CB8AC3E}">
        <p14:creationId xmlns:p14="http://schemas.microsoft.com/office/powerpoint/2010/main" val="2913790732"/>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a:t>
            </a:r>
            <a:r>
              <a:rPr lang="zh-TW" altLang="zh-TW" dirty="0">
                <a:latin typeface="標楷體" panose="03000509000000000000" pitchFamily="65" charset="-120"/>
                <a:ea typeface="標楷體" panose="03000509000000000000" pitchFamily="65" charset="-120"/>
              </a:rPr>
              <a:t>歷史模型不同的資料</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演算法判斷異常的門檻在原始論文中的定義，是密度函式的比值顯著大於</a:t>
            </a:r>
            <a:r>
              <a:rPr lang="en-US" altLang="zh-TW" dirty="0" smtClean="0">
                <a:latin typeface="標楷體" panose="03000509000000000000" pitchFamily="65" charset="-120"/>
                <a:ea typeface="標楷體" panose="03000509000000000000" pitchFamily="65" charset="-120"/>
              </a:rPr>
              <a:t>1</a:t>
            </a:r>
            <a:endParaRPr lang="en-US" altLang="zh-TW" dirty="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如果</a:t>
            </a:r>
            <a:r>
              <a:rPr lang="zh-TW" altLang="zh-TW" dirty="0">
                <a:latin typeface="標楷體" panose="03000509000000000000" pitchFamily="65" charset="-120"/>
                <a:ea typeface="標楷體" panose="03000509000000000000" pitchFamily="65" charset="-120"/>
              </a:rPr>
              <a:t>應用能更接受小量的資料變動，那可以取大一點的</a:t>
            </a:r>
            <a:r>
              <a:rPr lang="zh-TW" altLang="zh-TW" dirty="0" smtClean="0">
                <a:latin typeface="標楷體" panose="03000509000000000000" pitchFamily="65" charset="-120"/>
                <a:ea typeface="標楷體" panose="03000509000000000000" pitchFamily="65" charset="-120"/>
              </a:rPr>
              <a:t>比值</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如果應用需要感測小量變動，就需要</a:t>
            </a:r>
            <a:r>
              <a:rPr lang="zh-TW" altLang="zh-TW" dirty="0" smtClean="0">
                <a:latin typeface="標楷體" panose="03000509000000000000" pitchFamily="65" charset="-120"/>
                <a:ea typeface="標楷體" panose="03000509000000000000" pitchFamily="65" charset="-120"/>
              </a:rPr>
              <a:t>使用</a:t>
            </a:r>
            <a:r>
              <a:rPr lang="zh-TW" altLang="en-US" dirty="0" smtClean="0">
                <a:latin typeface="標楷體" panose="03000509000000000000" pitchFamily="65" charset="-120"/>
                <a:ea typeface="標楷體" panose="03000509000000000000" pitchFamily="65" charset="-120"/>
              </a:rPr>
              <a:t>小一</a:t>
            </a:r>
            <a:r>
              <a:rPr lang="zh-TW" altLang="en-US" dirty="0">
                <a:latin typeface="標楷體" panose="03000509000000000000" pitchFamily="65" charset="-120"/>
                <a:ea typeface="標楷體" panose="03000509000000000000" pitchFamily="65" charset="-120"/>
              </a:rPr>
              <a:t>點</a:t>
            </a:r>
            <a:r>
              <a:rPr lang="zh-TW" altLang="zh-TW" dirty="0" smtClean="0">
                <a:latin typeface="標楷體" panose="03000509000000000000" pitchFamily="65" charset="-120"/>
                <a:ea typeface="標楷體" panose="03000509000000000000" pitchFamily="65" charset="-120"/>
              </a:rPr>
              <a:t>的</a:t>
            </a:r>
            <a:r>
              <a:rPr lang="zh-TW" altLang="zh-TW" dirty="0">
                <a:latin typeface="標楷體" panose="03000509000000000000" pitchFamily="65" charset="-120"/>
                <a:ea typeface="標楷體" panose="03000509000000000000" pitchFamily="65" charset="-120"/>
              </a:rPr>
              <a:t>比值</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48</a:t>
            </a:fld>
            <a:endParaRPr lang="zh-TW" altLang="en-US"/>
          </a:p>
        </p:txBody>
      </p:sp>
    </p:spTree>
    <p:extLst>
      <p:ext uri="{BB962C8B-B14F-4D97-AF65-F5344CB8AC3E}">
        <p14:creationId xmlns:p14="http://schemas.microsoft.com/office/powerpoint/2010/main" val="3159648423"/>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判斷與歷史</a:t>
            </a:r>
            <a:r>
              <a:rPr lang="zh-TW" altLang="en-US" dirty="0" smtClean="0">
                <a:latin typeface="標楷體" panose="03000509000000000000" pitchFamily="65" charset="-120"/>
                <a:ea typeface="標楷體" panose="03000509000000000000" pitchFamily="65" charset="-120"/>
              </a:rPr>
              <a:t>特</a:t>
            </a:r>
            <a:r>
              <a:rPr lang="zh-TW" altLang="en-US" dirty="0">
                <a:latin typeface="標楷體" panose="03000509000000000000" pitchFamily="65" charset="-120"/>
                <a:ea typeface="標楷體" panose="03000509000000000000" pitchFamily="65" charset="-120"/>
              </a:rPr>
              <a:t>性</a:t>
            </a:r>
            <a:r>
              <a:rPr lang="zh-TW" altLang="zh-TW" dirty="0" smtClean="0">
                <a:latin typeface="標楷體" panose="03000509000000000000" pitchFamily="65" charset="-120"/>
                <a:ea typeface="標楷體" panose="03000509000000000000" pitchFamily="65" charset="-120"/>
              </a:rPr>
              <a:t>不同的</a:t>
            </a:r>
            <a:r>
              <a:rPr lang="zh-TW" altLang="en-US" dirty="0" smtClean="0">
                <a:latin typeface="標楷體" panose="03000509000000000000" pitchFamily="65" charset="-120"/>
                <a:ea typeface="標楷體" panose="03000509000000000000" pitchFamily="65" charset="-120"/>
              </a:rPr>
              <a:t>區段</a:t>
            </a:r>
            <a:r>
              <a:rPr lang="zh-TW" altLang="zh-TW" dirty="0" smtClean="0">
                <a:latin typeface="標楷體" panose="03000509000000000000" pitchFamily="65" charset="-120"/>
                <a:ea typeface="標楷體" panose="03000509000000000000" pitchFamily="65" charset="-120"/>
              </a:rPr>
              <a:t>資料</a:t>
            </a:r>
            <a:r>
              <a:rPr lang="zh-TW" altLang="en-US" dirty="0" smtClean="0">
                <a:latin typeface="標楷體" panose="03000509000000000000" pitchFamily="65" charset="-120"/>
                <a:ea typeface="標楷體" panose="03000509000000000000" pitchFamily="65" charset="-120"/>
              </a:rPr>
              <a:t>特徵</a:t>
            </a:r>
            <a:endParaRPr lang="en-US" altLang="zh-TW" dirty="0" smtClean="0"/>
          </a:p>
          <a:p>
            <a:r>
              <a:rPr lang="zh-TW" altLang="zh-TW" dirty="0" smtClean="0">
                <a:latin typeface="標楷體" panose="03000509000000000000" pitchFamily="65" charset="-120"/>
                <a:ea typeface="標楷體" panose="03000509000000000000" pitchFamily="65" charset="-120"/>
              </a:rPr>
              <a:t>從</a:t>
            </a:r>
            <a:r>
              <a:rPr lang="zh-TW" altLang="zh-TW" dirty="0">
                <a:latin typeface="標楷體" panose="03000509000000000000" pitchFamily="65" charset="-120"/>
                <a:ea typeface="標楷體" panose="03000509000000000000" pitchFamily="65" charset="-120"/>
              </a:rPr>
              <a:t>實驗結果得知被誤判為異常的資料點，其比值分數皆為</a:t>
            </a:r>
            <a:r>
              <a:rPr lang="en-US" altLang="zh-TW" dirty="0">
                <a:latin typeface="標楷體" panose="03000509000000000000" pitchFamily="65" charset="-120"/>
                <a:ea typeface="標楷體" panose="03000509000000000000" pitchFamily="65" charset="-120"/>
              </a:rPr>
              <a:t>2</a:t>
            </a:r>
            <a:r>
              <a:rPr lang="zh-TW" altLang="zh-TW" dirty="0">
                <a:latin typeface="標楷體" panose="03000509000000000000" pitchFamily="65" charset="-120"/>
                <a:ea typeface="標楷體" panose="03000509000000000000" pitchFamily="65" charset="-120"/>
              </a:rPr>
              <a:t>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之間。所以在本實驗設定的情境下如果將異常門檻提高至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，就能有效減低誤判的機率。但於實際應用中仍需小心定義此比值的</a:t>
            </a:r>
            <a:r>
              <a:rPr lang="zh-TW" altLang="zh-TW" dirty="0" smtClean="0">
                <a:latin typeface="標楷體" panose="03000509000000000000" pitchFamily="65" charset="-120"/>
                <a:ea typeface="標楷體" panose="03000509000000000000" pitchFamily="65" charset="-120"/>
              </a:rPr>
              <a:t>大小</a:t>
            </a:r>
            <a:endParaRPr lang="zh-TW" altLang="zh-TW" dirty="0">
              <a:latin typeface="標楷體" panose="03000509000000000000" pitchFamily="65" charset="-120"/>
              <a:ea typeface="標楷體" panose="03000509000000000000" pitchFamily="65" charset="-120"/>
            </a:endParaRPr>
          </a:p>
          <a:p>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49</a:t>
            </a:fld>
            <a:endParaRPr lang="zh-TW" altLang="en-US"/>
          </a:p>
        </p:txBody>
      </p:sp>
    </p:spTree>
    <p:extLst>
      <p:ext uri="{BB962C8B-B14F-4D97-AF65-F5344CB8AC3E}">
        <p14:creationId xmlns:p14="http://schemas.microsoft.com/office/powerpoint/2010/main" val="328138943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20657</TotalTime>
  <Words>3163</Words>
  <Application>Microsoft Office PowerPoint</Application>
  <PresentationFormat>寬螢幕</PresentationFormat>
  <Paragraphs>432</Paragraphs>
  <Slides>49</Slides>
  <Notes>49</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49</vt:i4>
      </vt:variant>
    </vt:vector>
  </HeadingPairs>
  <TitlesOfParts>
    <vt:vector size="57" baseType="lpstr">
      <vt:lpstr>新細明體</vt:lpstr>
      <vt:lpstr>標楷體</vt:lpstr>
      <vt:lpstr>Arial</vt:lpstr>
      <vt:lpstr>Calibri</vt:lpstr>
      <vt:lpstr>Calibri Light</vt:lpstr>
      <vt:lpstr>Cambria Math</vt:lpstr>
      <vt:lpstr>Times New Roman</vt:lpstr>
      <vt:lpstr>Office 佈景主題</vt:lpstr>
      <vt:lpstr>IoT整合管理平台之異常檢測和事件警報系統</vt:lpstr>
      <vt:lpstr>Outline</vt:lpstr>
      <vt:lpstr>研究動機與目的</vt:lpstr>
      <vt:lpstr>資料共享</vt:lpstr>
      <vt:lpstr>資料分析</vt:lpstr>
      <vt:lpstr>相關議題</vt:lpstr>
      <vt:lpstr>何謂異常</vt:lpstr>
      <vt:lpstr>異常的種類</vt:lpstr>
      <vt:lpstr>單點異常</vt:lpstr>
      <vt:lpstr>集體異常</vt:lpstr>
      <vt:lpstr>條件式異常</vt:lpstr>
      <vt:lpstr>異常偵測的方法</vt:lpstr>
      <vt:lpstr>分類</vt:lpstr>
      <vt:lpstr>分群</vt:lpstr>
      <vt:lpstr>鄰近點</vt:lpstr>
      <vt:lpstr>統計為基礎的判斷方法</vt:lpstr>
      <vt:lpstr>研究方法</vt:lpstr>
      <vt:lpstr>一般常態分佈</vt:lpstr>
      <vt:lpstr>一般常態分佈</vt:lpstr>
      <vt:lpstr>CUSUM（Cumulative Sum）</vt:lpstr>
      <vt:lpstr>CUSUM（Cumulative Sum）</vt:lpstr>
      <vt:lpstr>LOF（Local Outlier Factor）</vt:lpstr>
      <vt:lpstr>實作的偵測方法</vt:lpstr>
      <vt:lpstr>實驗一</vt:lpstr>
      <vt:lpstr>訓練數據</vt:lpstr>
      <vt:lpstr>演算法參數設定</vt:lpstr>
      <vt:lpstr>實驗設計</vt:lpstr>
      <vt:lpstr>PowerPoint 簡報</vt:lpstr>
      <vt:lpstr>實驗(1)–一般常態分佈</vt:lpstr>
      <vt:lpstr>實驗(2)–資料片段平均值與常態分佈</vt:lpstr>
      <vt:lpstr>實驗(3)– CUSUM</vt:lpstr>
      <vt:lpstr>實驗(4)–資料片段數值與LOF</vt:lpstr>
      <vt:lpstr>實驗(5)–資料片段平均值、標準差與LOF</vt:lpstr>
      <vt:lpstr>實驗二</vt:lpstr>
      <vt:lpstr>訓練數據</vt:lpstr>
      <vt:lpstr>訓練數據</vt:lpstr>
      <vt:lpstr>實驗設計</vt:lpstr>
      <vt:lpstr>模擬週期</vt:lpstr>
      <vt:lpstr>真實資料週期</vt:lpstr>
      <vt:lpstr>演算法參數設定</vt:lpstr>
      <vt:lpstr>資料片段數值與LOF</vt:lpstr>
      <vt:lpstr>資料片段平均值、標準差與LOF</vt:lpstr>
      <vt:lpstr>結論</vt:lpstr>
      <vt:lpstr>門檻值</vt:lpstr>
      <vt:lpstr>一般常態分佈</vt:lpstr>
      <vt:lpstr>資料片段平均值與常態分佈</vt:lpstr>
      <vt:lpstr>CUSUM</vt:lpstr>
      <vt:lpstr>資料片段數值與LOF</vt:lpstr>
      <vt:lpstr>資料片段平均值、標準差與LOF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dc:title>
  <dc:creator>Rong</dc:creator>
  <cp:lastModifiedBy>Rong</cp:lastModifiedBy>
  <cp:revision>624</cp:revision>
  <cp:lastPrinted>2017-07-17T07:43:08Z</cp:lastPrinted>
  <dcterms:created xsi:type="dcterms:W3CDTF">2015-11-30T06:30:29Z</dcterms:created>
  <dcterms:modified xsi:type="dcterms:W3CDTF">2017-07-19T14:26:59Z</dcterms:modified>
</cp:coreProperties>
</file>