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handoutMasterIdLst>
    <p:handoutMasterId r:id="rId52"/>
  </p:handoutMasterIdLst>
  <p:sldIdLst>
    <p:sldId id="256" r:id="rId2"/>
    <p:sldId id="281" r:id="rId3"/>
    <p:sldId id="337" r:id="rId4"/>
    <p:sldId id="330" r:id="rId5"/>
    <p:sldId id="331" r:id="rId6"/>
    <p:sldId id="338" r:id="rId7"/>
    <p:sldId id="339" r:id="rId8"/>
    <p:sldId id="340" r:id="rId9"/>
    <p:sldId id="369" r:id="rId10"/>
    <p:sldId id="370" r:id="rId11"/>
    <p:sldId id="371" r:id="rId12"/>
    <p:sldId id="341" r:id="rId13"/>
    <p:sldId id="372" r:id="rId14"/>
    <p:sldId id="373" r:id="rId15"/>
    <p:sldId id="374" r:id="rId16"/>
    <p:sldId id="375" r:id="rId17"/>
    <p:sldId id="347" r:id="rId18"/>
    <p:sldId id="376" r:id="rId19"/>
    <p:sldId id="344" r:id="rId20"/>
    <p:sldId id="377" r:id="rId21"/>
    <p:sldId id="345" r:id="rId22"/>
    <p:sldId id="382" r:id="rId23"/>
    <p:sldId id="362" r:id="rId24"/>
    <p:sldId id="396" r:id="rId25"/>
    <p:sldId id="397" r:id="rId26"/>
    <p:sldId id="423" r:id="rId27"/>
    <p:sldId id="336" r:id="rId28"/>
    <p:sldId id="446" r:id="rId29"/>
    <p:sldId id="444" r:id="rId30"/>
    <p:sldId id="448" r:id="rId31"/>
    <p:sldId id="449" r:id="rId32"/>
    <p:sldId id="450" r:id="rId33"/>
    <p:sldId id="451" r:id="rId34"/>
    <p:sldId id="424" r:id="rId35"/>
    <p:sldId id="425" r:id="rId36"/>
    <p:sldId id="431" r:id="rId37"/>
    <p:sldId id="427" r:id="rId38"/>
    <p:sldId id="428" r:id="rId39"/>
    <p:sldId id="432" r:id="rId40"/>
    <p:sldId id="426" r:id="rId41"/>
    <p:sldId id="452" r:id="rId42"/>
    <p:sldId id="453" r:id="rId43"/>
    <p:sldId id="367" r:id="rId44"/>
    <p:sldId id="354" r:id="rId45"/>
    <p:sldId id="437" r:id="rId46"/>
    <p:sldId id="438" r:id="rId47"/>
    <p:sldId id="439" r:id="rId48"/>
    <p:sldId id="440" r:id="rId49"/>
    <p:sldId id="441" r:id="rId50"/>
  </p:sldIdLst>
  <p:sldSz cx="12192000" cy="6858000"/>
  <p:notesSz cx="10234613" cy="7104063"/>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ng" initials="R" lastIdx="1" clrIdx="0">
    <p:extLst>
      <p:ext uri="{19B8F6BF-5375-455C-9EA6-DF929625EA0E}">
        <p15:presenceInfo xmlns:p15="http://schemas.microsoft.com/office/powerpoint/2012/main" userId="Rong"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505E3EF-67EA-436B-97B2-0124C06EBD24}" styleName="中等深淺樣式 4 - 輔色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40" autoAdjust="0"/>
    <p:restoredTop sz="80372" autoAdjust="0"/>
  </p:normalViewPr>
  <p:slideViewPr>
    <p:cSldViewPr snapToGrid="0">
      <p:cViewPr varScale="1">
        <p:scale>
          <a:sx n="93" d="100"/>
          <a:sy n="93" d="100"/>
        </p:scale>
        <p:origin x="1212"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commentAuthors" Target="commentAuthor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1"/>
            <a:ext cx="4434999" cy="356437"/>
          </a:xfrm>
          <a:prstGeom prst="rect">
            <a:avLst/>
          </a:prstGeom>
        </p:spPr>
        <p:txBody>
          <a:bodyPr vert="horz" lIns="95088" tIns="47544" rIns="95088" bIns="47544" rtlCol="0"/>
          <a:lstStyle>
            <a:lvl1pPr algn="l">
              <a:defRPr sz="1200"/>
            </a:lvl1pPr>
          </a:lstStyle>
          <a:p>
            <a:endParaRPr lang="zh-TW" altLang="en-US"/>
          </a:p>
        </p:txBody>
      </p:sp>
      <p:sp>
        <p:nvSpPr>
          <p:cNvPr id="3" name="日期版面配置區 2"/>
          <p:cNvSpPr>
            <a:spLocks noGrp="1"/>
          </p:cNvSpPr>
          <p:nvPr>
            <p:ph type="dt" sz="quarter" idx="1"/>
          </p:nvPr>
        </p:nvSpPr>
        <p:spPr>
          <a:xfrm>
            <a:off x="5797245" y="1"/>
            <a:ext cx="4434999" cy="356437"/>
          </a:xfrm>
          <a:prstGeom prst="rect">
            <a:avLst/>
          </a:prstGeom>
        </p:spPr>
        <p:txBody>
          <a:bodyPr vert="horz" lIns="95088" tIns="47544" rIns="95088" bIns="47544" rtlCol="0"/>
          <a:lstStyle>
            <a:lvl1pPr algn="r">
              <a:defRPr sz="1200"/>
            </a:lvl1pPr>
          </a:lstStyle>
          <a:p>
            <a:fld id="{6977A58A-38D4-4745-B1BD-B36B6360EE10}" type="datetimeFigureOut">
              <a:rPr lang="zh-TW" altLang="en-US" smtClean="0"/>
              <a:t>2017/7/18</a:t>
            </a:fld>
            <a:endParaRPr lang="zh-TW" altLang="en-US"/>
          </a:p>
        </p:txBody>
      </p:sp>
      <p:sp>
        <p:nvSpPr>
          <p:cNvPr id="4" name="頁尾版面配置區 3"/>
          <p:cNvSpPr>
            <a:spLocks noGrp="1"/>
          </p:cNvSpPr>
          <p:nvPr>
            <p:ph type="ftr" sz="quarter" idx="2"/>
          </p:nvPr>
        </p:nvSpPr>
        <p:spPr>
          <a:xfrm>
            <a:off x="0" y="6747628"/>
            <a:ext cx="4434999" cy="356436"/>
          </a:xfrm>
          <a:prstGeom prst="rect">
            <a:avLst/>
          </a:prstGeom>
        </p:spPr>
        <p:txBody>
          <a:bodyPr vert="horz" lIns="95088" tIns="47544" rIns="95088" bIns="47544" rtlCol="0" anchor="b"/>
          <a:lstStyle>
            <a:lvl1pPr algn="l">
              <a:defRPr sz="1200"/>
            </a:lvl1pPr>
          </a:lstStyle>
          <a:p>
            <a:endParaRPr lang="zh-TW" altLang="en-US"/>
          </a:p>
        </p:txBody>
      </p:sp>
      <p:sp>
        <p:nvSpPr>
          <p:cNvPr id="5" name="投影片編號版面配置區 4"/>
          <p:cNvSpPr>
            <a:spLocks noGrp="1"/>
          </p:cNvSpPr>
          <p:nvPr>
            <p:ph type="sldNum" sz="quarter" idx="3"/>
          </p:nvPr>
        </p:nvSpPr>
        <p:spPr>
          <a:xfrm>
            <a:off x="5797245" y="6747628"/>
            <a:ext cx="4434999" cy="356436"/>
          </a:xfrm>
          <a:prstGeom prst="rect">
            <a:avLst/>
          </a:prstGeom>
        </p:spPr>
        <p:txBody>
          <a:bodyPr vert="horz" lIns="95088" tIns="47544" rIns="95088" bIns="47544" rtlCol="0" anchor="b"/>
          <a:lstStyle>
            <a:lvl1pPr algn="r">
              <a:defRPr sz="1200"/>
            </a:lvl1pPr>
          </a:lstStyle>
          <a:p>
            <a:fld id="{E82FCCD5-CA28-4F76-B616-5D5585D3C6C6}" type="slidenum">
              <a:rPr lang="zh-TW" altLang="en-US" smtClean="0"/>
              <a:t>‹#›</a:t>
            </a:fld>
            <a:endParaRPr lang="zh-TW" altLang="en-US"/>
          </a:p>
        </p:txBody>
      </p:sp>
    </p:spTree>
    <p:extLst>
      <p:ext uri="{BB962C8B-B14F-4D97-AF65-F5344CB8AC3E}">
        <p14:creationId xmlns:p14="http://schemas.microsoft.com/office/powerpoint/2010/main" val="14020659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1"/>
            <a:ext cx="4434999" cy="356437"/>
          </a:xfrm>
          <a:prstGeom prst="rect">
            <a:avLst/>
          </a:prstGeom>
        </p:spPr>
        <p:txBody>
          <a:bodyPr vert="horz" lIns="95088" tIns="47544" rIns="95088" bIns="47544" rtlCol="0"/>
          <a:lstStyle>
            <a:lvl1pPr algn="l">
              <a:defRPr sz="1200"/>
            </a:lvl1pPr>
          </a:lstStyle>
          <a:p>
            <a:endParaRPr lang="zh-TW" altLang="en-US"/>
          </a:p>
        </p:txBody>
      </p:sp>
      <p:sp>
        <p:nvSpPr>
          <p:cNvPr id="3" name="日期版面配置區 2"/>
          <p:cNvSpPr>
            <a:spLocks noGrp="1"/>
          </p:cNvSpPr>
          <p:nvPr>
            <p:ph type="dt" idx="1"/>
          </p:nvPr>
        </p:nvSpPr>
        <p:spPr>
          <a:xfrm>
            <a:off x="5797245" y="1"/>
            <a:ext cx="4434999" cy="356437"/>
          </a:xfrm>
          <a:prstGeom prst="rect">
            <a:avLst/>
          </a:prstGeom>
        </p:spPr>
        <p:txBody>
          <a:bodyPr vert="horz" lIns="95088" tIns="47544" rIns="95088" bIns="47544" rtlCol="0"/>
          <a:lstStyle>
            <a:lvl1pPr algn="r">
              <a:defRPr sz="1200"/>
            </a:lvl1pPr>
          </a:lstStyle>
          <a:p>
            <a:fld id="{24BD2BB7-AC21-4A01-8503-F1C775A6F59E}" type="datetimeFigureOut">
              <a:rPr lang="zh-TW" altLang="en-US" smtClean="0"/>
              <a:t>2017/7/18</a:t>
            </a:fld>
            <a:endParaRPr lang="zh-TW" altLang="en-US"/>
          </a:p>
        </p:txBody>
      </p:sp>
      <p:sp>
        <p:nvSpPr>
          <p:cNvPr id="4" name="投影片圖像版面配置區 3"/>
          <p:cNvSpPr>
            <a:spLocks noGrp="1" noRot="1" noChangeAspect="1"/>
          </p:cNvSpPr>
          <p:nvPr>
            <p:ph type="sldImg" idx="2"/>
          </p:nvPr>
        </p:nvSpPr>
        <p:spPr>
          <a:xfrm>
            <a:off x="2987675" y="887413"/>
            <a:ext cx="4260850" cy="2397125"/>
          </a:xfrm>
          <a:prstGeom prst="rect">
            <a:avLst/>
          </a:prstGeom>
          <a:noFill/>
          <a:ln w="12700">
            <a:solidFill>
              <a:prstClr val="black"/>
            </a:solidFill>
          </a:ln>
        </p:spPr>
        <p:txBody>
          <a:bodyPr vert="horz" lIns="95088" tIns="47544" rIns="95088" bIns="47544" rtlCol="0" anchor="ctr"/>
          <a:lstStyle/>
          <a:p>
            <a:endParaRPr lang="zh-TW" altLang="en-US"/>
          </a:p>
        </p:txBody>
      </p:sp>
      <p:sp>
        <p:nvSpPr>
          <p:cNvPr id="5" name="備忘稿版面配置區 4"/>
          <p:cNvSpPr>
            <a:spLocks noGrp="1"/>
          </p:cNvSpPr>
          <p:nvPr>
            <p:ph type="body" sz="quarter" idx="3"/>
          </p:nvPr>
        </p:nvSpPr>
        <p:spPr>
          <a:xfrm>
            <a:off x="1023462" y="3418831"/>
            <a:ext cx="8187690" cy="2797225"/>
          </a:xfrm>
          <a:prstGeom prst="rect">
            <a:avLst/>
          </a:prstGeom>
        </p:spPr>
        <p:txBody>
          <a:bodyPr vert="horz" lIns="95088" tIns="47544" rIns="95088" bIns="47544" rtlCol="0"/>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6" name="頁尾版面配置區 5"/>
          <p:cNvSpPr>
            <a:spLocks noGrp="1"/>
          </p:cNvSpPr>
          <p:nvPr>
            <p:ph type="ftr" sz="quarter" idx="4"/>
          </p:nvPr>
        </p:nvSpPr>
        <p:spPr>
          <a:xfrm>
            <a:off x="0" y="6747628"/>
            <a:ext cx="4434999" cy="356436"/>
          </a:xfrm>
          <a:prstGeom prst="rect">
            <a:avLst/>
          </a:prstGeom>
        </p:spPr>
        <p:txBody>
          <a:bodyPr vert="horz" lIns="95088" tIns="47544" rIns="95088" bIns="4754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5797245" y="6747628"/>
            <a:ext cx="4434999" cy="356436"/>
          </a:xfrm>
          <a:prstGeom prst="rect">
            <a:avLst/>
          </a:prstGeom>
        </p:spPr>
        <p:txBody>
          <a:bodyPr vert="horz" lIns="95088" tIns="47544" rIns="95088" bIns="47544" rtlCol="0" anchor="b"/>
          <a:lstStyle>
            <a:lvl1pPr algn="r">
              <a:defRPr sz="1200"/>
            </a:lvl1pPr>
          </a:lstStyle>
          <a:p>
            <a:fld id="{5E30E15B-F52A-4B5F-8267-50F0C60CEFA2}" type="slidenum">
              <a:rPr lang="zh-TW" altLang="en-US" smtClean="0"/>
              <a:t>‹#›</a:t>
            </a:fld>
            <a:endParaRPr lang="zh-TW" altLang="en-US"/>
          </a:p>
        </p:txBody>
      </p:sp>
    </p:spTree>
    <p:extLst>
      <p:ext uri="{BB962C8B-B14F-4D97-AF65-F5344CB8AC3E}">
        <p14:creationId xmlns:p14="http://schemas.microsoft.com/office/powerpoint/2010/main" val="12645351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a:t>
            </a:fld>
            <a:endParaRPr lang="zh-TW" altLang="en-US"/>
          </a:p>
        </p:txBody>
      </p:sp>
    </p:spTree>
    <p:extLst>
      <p:ext uri="{BB962C8B-B14F-4D97-AF65-F5344CB8AC3E}">
        <p14:creationId xmlns:p14="http://schemas.microsoft.com/office/powerpoint/2010/main" val="17073554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indent="0">
              <a:buNone/>
            </a:pPr>
            <a:r>
              <a:rPr lang="zh-TW" altLang="en-US" dirty="0" smtClean="0"/>
              <a:t>簡報流程分為六個部分</a:t>
            </a:r>
            <a:endParaRPr lang="en-US" altLang="zh-TW" dirty="0" smtClean="0"/>
          </a:p>
          <a:p>
            <a:pPr marL="228600" indent="-228600">
              <a:buAutoNum type="arabicPeriod"/>
            </a:pPr>
            <a:r>
              <a:rPr lang="zh-TW" altLang="en-US" dirty="0" smtClean="0"/>
              <a:t>簡略敘述為什麼做這個研究</a:t>
            </a:r>
            <a:endParaRPr lang="en-US" altLang="zh-TW" dirty="0" smtClean="0"/>
          </a:p>
          <a:p>
            <a:pPr marL="228600" indent="-228600">
              <a:buAutoNum type="arabicPeriod"/>
            </a:pPr>
            <a:r>
              <a:rPr lang="zh-TW" altLang="en-US" dirty="0" smtClean="0"/>
              <a:t>異常事件的種類、偵測方法的種類</a:t>
            </a:r>
            <a:endParaRPr lang="en-US" altLang="zh-TW" dirty="0" smtClean="0"/>
          </a:p>
          <a:p>
            <a:pPr marL="228600" indent="-228600">
              <a:buAutoNum type="arabicPeriod"/>
            </a:pPr>
            <a:r>
              <a:rPr lang="zh-TW" altLang="en-US" dirty="0" smtClean="0"/>
              <a:t>本論文實作偵測方法的理論依據</a:t>
            </a:r>
            <a:endParaRPr lang="en-US" altLang="zh-TW" dirty="0" smtClean="0"/>
          </a:p>
          <a:p>
            <a:pPr marL="228600" indent="-228600">
              <a:buAutoNum type="arabicPeriod"/>
            </a:pPr>
            <a:r>
              <a:rPr lang="zh-TW" altLang="en-US" dirty="0" smtClean="0"/>
              <a:t>展示不同異常事件，偵測方法產生的結果</a:t>
            </a:r>
            <a:endParaRPr lang="en-US" altLang="zh-TW" dirty="0" smtClean="0"/>
          </a:p>
          <a:p>
            <a:pPr marL="228600" indent="-228600">
              <a:buAutoNum type="arabicPeriod"/>
            </a:pPr>
            <a:r>
              <a:rPr lang="zh-TW" altLang="en-US" dirty="0" smtClean="0"/>
              <a:t>從觀察到的結果，描述不同方法的特性</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a:t>
            </a:fld>
            <a:endParaRPr lang="zh-TW" altLang="en-US"/>
          </a:p>
        </p:txBody>
      </p:sp>
    </p:spTree>
    <p:extLst>
      <p:ext uri="{BB962C8B-B14F-4D97-AF65-F5344CB8AC3E}">
        <p14:creationId xmlns:p14="http://schemas.microsoft.com/office/powerpoint/2010/main" val="39474934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a:t>
            </a:fld>
            <a:endParaRPr lang="zh-TW" altLang="en-US"/>
          </a:p>
        </p:txBody>
      </p:sp>
    </p:spTree>
    <p:extLst>
      <p:ext uri="{BB962C8B-B14F-4D97-AF65-F5344CB8AC3E}">
        <p14:creationId xmlns:p14="http://schemas.microsoft.com/office/powerpoint/2010/main" val="39117976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政府也有建置資料開放平台</a:t>
            </a:r>
            <a:endParaRPr lang="en-US" altLang="zh-TW" dirty="0" smtClean="0"/>
          </a:p>
          <a:p>
            <a:r>
              <a:rPr lang="zh-TW" altLang="en-US" dirty="0" smtClean="0"/>
              <a:t>不足的是</a:t>
            </a:r>
            <a:endParaRPr lang="en-US" altLang="zh-TW" dirty="0" smtClean="0"/>
          </a:p>
          <a:p>
            <a:r>
              <a:rPr lang="zh-TW" altLang="en-US" dirty="0" smtClean="0"/>
              <a:t>平台上分享的訊息大多是原始資料的型態</a:t>
            </a:r>
            <a:endParaRPr lang="en-US" altLang="zh-TW" dirty="0" smtClean="0"/>
          </a:p>
          <a:p>
            <a:r>
              <a:rPr lang="zh-TW" altLang="en-US" dirty="0" smtClean="0"/>
              <a:t>這些沒有整理過的資料對一般使用者的參考價值較低</a:t>
            </a:r>
            <a:endParaRPr lang="en-US" altLang="zh-TW" dirty="0" smtClean="0"/>
          </a:p>
          <a:p>
            <a:r>
              <a:rPr lang="zh-TW" altLang="en-US" dirty="0" smtClean="0"/>
              <a:t>平台也沒有提供便利的方式代管私人資料來源</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a:t>
            </a:fld>
            <a:endParaRPr lang="zh-TW" altLang="en-US"/>
          </a:p>
        </p:txBody>
      </p:sp>
    </p:spTree>
    <p:extLst>
      <p:ext uri="{BB962C8B-B14F-4D97-AF65-F5344CB8AC3E}">
        <p14:creationId xmlns:p14="http://schemas.microsoft.com/office/powerpoint/2010/main" val="37620270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5</a:t>
            </a:fld>
            <a:endParaRPr lang="zh-TW" altLang="en-US"/>
          </a:p>
        </p:txBody>
      </p:sp>
    </p:spTree>
    <p:extLst>
      <p:ext uri="{BB962C8B-B14F-4D97-AF65-F5344CB8AC3E}">
        <p14:creationId xmlns:p14="http://schemas.microsoft.com/office/powerpoint/2010/main" val="7273802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6</a:t>
            </a:fld>
            <a:endParaRPr lang="zh-TW" altLang="en-US"/>
          </a:p>
        </p:txBody>
      </p:sp>
    </p:spTree>
    <p:extLst>
      <p:ext uri="{BB962C8B-B14F-4D97-AF65-F5344CB8AC3E}">
        <p14:creationId xmlns:p14="http://schemas.microsoft.com/office/powerpoint/2010/main" val="2476567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簡單來說異常就是資料及裡面還沒被清楚定義的資料特徵</a:t>
            </a:r>
            <a:endParaRPr lang="en-US" altLang="zh-TW" dirty="0" smtClean="0"/>
          </a:p>
          <a:p>
            <a:r>
              <a:rPr lang="zh-TW" altLang="en-US" dirty="0" smtClean="0"/>
              <a:t>也就是和其他歷史資料比較，偏離群集的資料</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7</a:t>
            </a:fld>
            <a:endParaRPr lang="zh-TW" altLang="en-US"/>
          </a:p>
        </p:txBody>
      </p:sp>
    </p:spTree>
    <p:extLst>
      <p:ext uri="{BB962C8B-B14F-4D97-AF65-F5344CB8AC3E}">
        <p14:creationId xmlns:p14="http://schemas.microsoft.com/office/powerpoint/2010/main" val="30834713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異常可以依照特性大致分為</a:t>
            </a:r>
            <a:endParaRPr lang="en-US" altLang="zh-TW" dirty="0" smtClean="0"/>
          </a:p>
          <a:p>
            <a:r>
              <a:rPr lang="zh-TW" altLang="en-US" dirty="0" smtClean="0"/>
              <a:t>單點異常</a:t>
            </a:r>
            <a:endParaRPr lang="en-US" altLang="zh-TW" dirty="0" smtClean="0"/>
          </a:p>
          <a:p>
            <a:r>
              <a:rPr lang="zh-TW" altLang="en-US" dirty="0" smtClean="0"/>
              <a:t>集體異常</a:t>
            </a:r>
            <a:endParaRPr lang="en-US" altLang="zh-TW" dirty="0" smtClean="0"/>
          </a:p>
          <a:p>
            <a:r>
              <a:rPr lang="zh-TW" altLang="en-US" dirty="0" smtClean="0"/>
              <a:t>條件式異常</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8</a:t>
            </a:fld>
            <a:endParaRPr lang="zh-TW" altLang="en-US"/>
          </a:p>
        </p:txBody>
      </p:sp>
    </p:spTree>
    <p:extLst>
      <p:ext uri="{BB962C8B-B14F-4D97-AF65-F5344CB8AC3E}">
        <p14:creationId xmlns:p14="http://schemas.microsoft.com/office/powerpoint/2010/main" val="7015188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單點異常像範例上面</a:t>
            </a:r>
            <a:endParaRPr lang="en-US" altLang="zh-TW" dirty="0" smtClean="0"/>
          </a:p>
          <a:p>
            <a:r>
              <a:rPr lang="zh-TW" altLang="en-US" dirty="0" smtClean="0"/>
              <a:t>少數幾個資料點偏離群體的現象</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9</a:t>
            </a:fld>
            <a:endParaRPr lang="zh-TW" altLang="en-US"/>
          </a:p>
        </p:txBody>
      </p:sp>
    </p:spTree>
    <p:extLst>
      <p:ext uri="{BB962C8B-B14F-4D97-AF65-F5344CB8AC3E}">
        <p14:creationId xmlns:p14="http://schemas.microsoft.com/office/powerpoint/2010/main" val="2528656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集體異常表示有一小群資料片離主要狀態</a:t>
            </a:r>
            <a:endParaRPr lang="en-US" altLang="zh-TW" dirty="0" smtClean="0"/>
          </a:p>
          <a:p>
            <a:r>
              <a:rPr lang="zh-TW" altLang="en-US" dirty="0" smtClean="0"/>
              <a:t>而且這一小群內的資料彼此之間有相似的特性</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10</a:t>
            </a:fld>
            <a:endParaRPr lang="zh-TW" altLang="en-US"/>
          </a:p>
        </p:txBody>
      </p:sp>
    </p:spTree>
    <p:extLst>
      <p:ext uri="{BB962C8B-B14F-4D97-AF65-F5344CB8AC3E}">
        <p14:creationId xmlns:p14="http://schemas.microsoft.com/office/powerpoint/2010/main" val="4943192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條件異常</a:t>
            </a:r>
            <a:endParaRPr lang="en-US" altLang="zh-TW" dirty="0" smtClean="0"/>
          </a:p>
          <a:p>
            <a:r>
              <a:rPr lang="zh-TW" altLang="en-US" dirty="0" smtClean="0"/>
              <a:t>這邊用一個商業區用電量與時間的例子說明</a:t>
            </a:r>
            <a:endParaRPr lang="en-US" altLang="zh-TW" dirty="0" smtClean="0"/>
          </a:p>
          <a:p>
            <a:r>
              <a:rPr lang="zh-TW" altLang="en-US" dirty="0" smtClean="0"/>
              <a:t>在這個範例中的條件是時間</a:t>
            </a:r>
            <a:endParaRPr lang="en-US" altLang="zh-TW" dirty="0" smtClean="0"/>
          </a:p>
          <a:p>
            <a:r>
              <a:rPr lang="zh-TW" altLang="en-US" dirty="0" smtClean="0"/>
              <a:t>某些時間的現象可以視為合理的狀態</a:t>
            </a:r>
            <a:endParaRPr lang="en-US" altLang="zh-TW" dirty="0" smtClean="0"/>
          </a:p>
          <a:p>
            <a:r>
              <a:rPr lang="zh-TW" altLang="en-US" dirty="0" smtClean="0"/>
              <a:t>但同樣的現象移動到其他時段就會被視為異常事件</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11</a:t>
            </a:fld>
            <a:endParaRPr lang="zh-TW" altLang="en-US"/>
          </a:p>
        </p:txBody>
      </p:sp>
    </p:spTree>
    <p:extLst>
      <p:ext uri="{BB962C8B-B14F-4D97-AF65-F5344CB8AC3E}">
        <p14:creationId xmlns:p14="http://schemas.microsoft.com/office/powerpoint/2010/main" val="23823134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異常偵測的方法很多</a:t>
            </a:r>
            <a:endParaRPr lang="en-US" altLang="zh-TW" dirty="0" smtClean="0"/>
          </a:p>
          <a:p>
            <a:r>
              <a:rPr lang="zh-TW" altLang="en-US" dirty="0" smtClean="0"/>
              <a:t>可以依照基礎概念的不同分為</a:t>
            </a:r>
            <a:endParaRPr lang="en-US" altLang="zh-TW" dirty="0" smtClean="0"/>
          </a:p>
          <a:p>
            <a:r>
              <a:rPr lang="zh-TW" altLang="en-US" dirty="0" smtClean="0"/>
              <a:t>以分類、分群、鄰近點和統計為基礎的判斷方法</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12</a:t>
            </a:fld>
            <a:endParaRPr lang="zh-TW" altLang="en-US"/>
          </a:p>
        </p:txBody>
      </p:sp>
    </p:spTree>
    <p:extLst>
      <p:ext uri="{BB962C8B-B14F-4D97-AF65-F5344CB8AC3E}">
        <p14:creationId xmlns:p14="http://schemas.microsoft.com/office/powerpoint/2010/main" val="20088192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分類的方法是利用監督或半監督的方式</a:t>
            </a:r>
            <a:endParaRPr lang="en-US" altLang="zh-TW" dirty="0" smtClean="0"/>
          </a:p>
          <a:p>
            <a:r>
              <a:rPr lang="zh-TW" altLang="en-US" dirty="0" smtClean="0"/>
              <a:t>學習正常類型的資料特徵</a:t>
            </a:r>
            <a:endParaRPr lang="en-US" altLang="zh-TW" dirty="0" smtClean="0"/>
          </a:p>
          <a:p>
            <a:r>
              <a:rPr lang="zh-TW" altLang="en-US" dirty="0" smtClean="0"/>
              <a:t>之後再使用學習到的結果判斷是否滿足正常的條件</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13</a:t>
            </a:fld>
            <a:endParaRPr lang="zh-TW" altLang="en-US"/>
          </a:p>
        </p:txBody>
      </p:sp>
    </p:spTree>
    <p:extLst>
      <p:ext uri="{BB962C8B-B14F-4D97-AF65-F5344CB8AC3E}">
        <p14:creationId xmlns:p14="http://schemas.microsoft.com/office/powerpoint/2010/main" val="24874132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分群和分類有點相似</a:t>
            </a:r>
            <a:endParaRPr lang="en-US" altLang="zh-TW" dirty="0" smtClean="0"/>
          </a:p>
          <a:p>
            <a:r>
              <a:rPr lang="zh-TW" altLang="en-US" dirty="0" smtClean="0"/>
              <a:t>都是觀察資料分布的狀態當作判斷標準</a:t>
            </a:r>
            <a:endParaRPr lang="en-US" altLang="zh-TW" dirty="0" smtClean="0"/>
          </a:p>
          <a:p>
            <a:r>
              <a:rPr lang="zh-TW" altLang="en-US" dirty="0" smtClean="0"/>
              <a:t>不同的是分群過程不需要人為介入</a:t>
            </a:r>
            <a:endParaRPr lang="en-US" altLang="zh-TW" dirty="0" smtClean="0"/>
          </a:p>
          <a:p>
            <a:r>
              <a:rPr lang="zh-TW" altLang="en-US" dirty="0" smtClean="0"/>
              <a:t>使用分群演算法可以照到資料的分布狀態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14</a:t>
            </a:fld>
            <a:endParaRPr lang="zh-TW" altLang="en-US"/>
          </a:p>
        </p:txBody>
      </p:sp>
    </p:spTree>
    <p:extLst>
      <p:ext uri="{BB962C8B-B14F-4D97-AF65-F5344CB8AC3E}">
        <p14:creationId xmlns:p14="http://schemas.microsoft.com/office/powerpoint/2010/main" val="40562975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鄰近點的方法主要判斷的是資料與鄰近資料之間的距離</a:t>
            </a:r>
            <a:endParaRPr lang="en-US" altLang="zh-TW" dirty="0" smtClean="0"/>
          </a:p>
          <a:p>
            <a:r>
              <a:rPr lang="zh-TW" altLang="en-US" dirty="0" smtClean="0"/>
              <a:t>如果距離都很遠</a:t>
            </a:r>
            <a:endParaRPr lang="en-US" altLang="zh-TW" dirty="0" smtClean="0"/>
          </a:p>
          <a:p>
            <a:r>
              <a:rPr lang="zh-TW" altLang="en-US" dirty="0" smtClean="0"/>
              <a:t>就代表資料可能偏離了歷史群體</a:t>
            </a:r>
            <a:endParaRPr lang="en-US" altLang="zh-TW" dirty="0" smtClean="0"/>
          </a:p>
          <a:p>
            <a:r>
              <a:rPr lang="zh-TW" altLang="en-US" dirty="0" smtClean="0"/>
              <a:t>鄰近點的想法也常配合其他方法一起使用</a:t>
            </a:r>
            <a:endParaRPr lang="en-US" altLang="zh-TW" dirty="0" smtClean="0"/>
          </a:p>
          <a:p>
            <a:r>
              <a:rPr lang="zh-TW" altLang="en-US" dirty="0" smtClean="0"/>
              <a:t>例如本論文用到的</a:t>
            </a:r>
            <a:r>
              <a:rPr lang="en-US" altLang="zh-TW" dirty="0" smtClean="0"/>
              <a:t>LOF</a:t>
            </a:r>
            <a:r>
              <a:rPr lang="zh-TW" altLang="en-US" dirty="0" smtClean="0"/>
              <a:t>演算法</a:t>
            </a:r>
            <a:endParaRPr lang="en-US" altLang="zh-TW" dirty="0" smtClean="0"/>
          </a:p>
          <a:p>
            <a:r>
              <a:rPr lang="zh-TW" altLang="en-US" dirty="0" smtClean="0"/>
              <a:t>當中就是使用</a:t>
            </a:r>
            <a:r>
              <a:rPr lang="en-US" altLang="zh-TW" dirty="0" smtClean="0"/>
              <a:t>K</a:t>
            </a:r>
            <a:r>
              <a:rPr lang="zh-TW" altLang="en-US" dirty="0" smtClean="0"/>
              <a:t> </a:t>
            </a:r>
            <a:r>
              <a:rPr lang="en-US" altLang="zh-TW" dirty="0" smtClean="0"/>
              <a:t>Nearest</a:t>
            </a:r>
            <a:r>
              <a:rPr lang="zh-TW" altLang="en-US" dirty="0" smtClean="0"/>
              <a:t> </a:t>
            </a:r>
            <a:r>
              <a:rPr lang="en-US" altLang="zh-TW" dirty="0" smtClean="0"/>
              <a:t>Neighbor</a:t>
            </a:r>
            <a:r>
              <a:rPr lang="zh-TW" altLang="en-US" dirty="0" smtClean="0"/>
              <a:t>來決定計算密度的區域範圍</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15</a:t>
            </a:fld>
            <a:endParaRPr lang="zh-TW" altLang="en-US"/>
          </a:p>
        </p:txBody>
      </p:sp>
    </p:spTree>
    <p:extLst>
      <p:ext uri="{BB962C8B-B14F-4D97-AF65-F5344CB8AC3E}">
        <p14:creationId xmlns:p14="http://schemas.microsoft.com/office/powerpoint/2010/main" val="34131047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假設一般情形下</a:t>
            </a:r>
            <a:endParaRPr lang="en-US" altLang="zh-TW" dirty="0" smtClean="0"/>
          </a:p>
          <a:p>
            <a:r>
              <a:rPr lang="zh-TW" altLang="en-US" dirty="0" smtClean="0"/>
              <a:t>產生正常資料的機率應該會高於異常的機率</a:t>
            </a:r>
            <a:endParaRPr lang="en-US" altLang="zh-TW" dirty="0" smtClean="0"/>
          </a:p>
          <a:p>
            <a:r>
              <a:rPr lang="zh-TW" altLang="en-US" dirty="0" smtClean="0"/>
              <a:t>所以可以使用片段資料的特徵來預測未來可能的變動趨勢</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16</a:t>
            </a:fld>
            <a:endParaRPr lang="zh-TW" altLang="en-US"/>
          </a:p>
        </p:txBody>
      </p:sp>
    </p:spTree>
    <p:extLst>
      <p:ext uri="{BB962C8B-B14F-4D97-AF65-F5344CB8AC3E}">
        <p14:creationId xmlns:p14="http://schemas.microsoft.com/office/powerpoint/2010/main" val="22926007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17</a:t>
            </a:fld>
            <a:endParaRPr lang="zh-TW" altLang="en-US"/>
          </a:p>
        </p:txBody>
      </p:sp>
    </p:spTree>
    <p:extLst>
      <p:ext uri="{BB962C8B-B14F-4D97-AF65-F5344CB8AC3E}">
        <p14:creationId xmlns:p14="http://schemas.microsoft.com/office/powerpoint/2010/main" val="3717655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因此我們也假定感測器監控的環境指標在自然情形下</a:t>
            </a:r>
            <a:endParaRPr lang="en-US" altLang="zh-TW" dirty="0" smtClean="0"/>
          </a:p>
          <a:p>
            <a:r>
              <a:rPr lang="zh-TW" altLang="en-US" dirty="0" smtClean="0"/>
              <a:t>數值應該會滿足常態分佈下的機率密度函數</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18</a:t>
            </a:fld>
            <a:endParaRPr lang="zh-TW" altLang="en-US"/>
          </a:p>
        </p:txBody>
      </p:sp>
    </p:spTree>
    <p:extLst>
      <p:ext uri="{BB962C8B-B14F-4D97-AF65-F5344CB8AC3E}">
        <p14:creationId xmlns:p14="http://schemas.microsoft.com/office/powerpoint/2010/main" val="19855294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也就是</a:t>
            </a:r>
            <a:r>
              <a:rPr lang="en-US" altLang="zh-TW" dirty="0" smtClean="0"/>
              <a:t>68.2%</a:t>
            </a:r>
            <a:r>
              <a:rPr lang="zh-TW" altLang="en-US" dirty="0" smtClean="0"/>
              <a:t>的數值會落在平均值一倍標準差的範圍內</a:t>
            </a:r>
            <a:endParaRPr lang="en-US" altLang="zh-TW" dirty="0" smtClean="0"/>
          </a:p>
          <a:p>
            <a:r>
              <a:rPr lang="en-US" altLang="zh-TW" dirty="0" smtClean="0"/>
              <a:t>95.4%</a:t>
            </a:r>
            <a:r>
              <a:rPr lang="zh-TW" altLang="en-US" dirty="0" smtClean="0"/>
              <a:t>在兩倍標準差的範圍</a:t>
            </a:r>
            <a:endParaRPr lang="en-US" altLang="zh-TW" dirty="0" smtClean="0"/>
          </a:p>
          <a:p>
            <a:r>
              <a:rPr lang="en-US" altLang="zh-TW" dirty="0" smtClean="0"/>
              <a:t>99.7%</a:t>
            </a:r>
            <a:r>
              <a:rPr lang="zh-TW" altLang="en-US" dirty="0" smtClean="0"/>
              <a:t>在三倍標準差的範圍</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19</a:t>
            </a:fld>
            <a:endParaRPr lang="zh-TW" altLang="en-US"/>
          </a:p>
        </p:txBody>
      </p:sp>
    </p:spTree>
    <p:extLst>
      <p:ext uri="{BB962C8B-B14F-4D97-AF65-F5344CB8AC3E}">
        <p14:creationId xmlns:p14="http://schemas.microsoft.com/office/powerpoint/2010/main" val="38197368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20</a:t>
            </a:fld>
            <a:endParaRPr lang="zh-TW" altLang="en-US"/>
          </a:p>
        </p:txBody>
      </p:sp>
    </p:spTree>
    <p:extLst>
      <p:ext uri="{BB962C8B-B14F-4D97-AF65-F5344CB8AC3E}">
        <p14:creationId xmlns:p14="http://schemas.microsoft.com/office/powerpoint/2010/main" val="31983430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smtClean="0"/>
              <a:t>CUSUM</a:t>
            </a:r>
            <a:r>
              <a:rPr lang="zh-TW" altLang="en-US" dirty="0" smtClean="0"/>
              <a:t>的累加分為正向和負向</a:t>
            </a:r>
            <a:endParaRPr lang="en-US" altLang="zh-TW" dirty="0" smtClean="0"/>
          </a:p>
          <a:p>
            <a:r>
              <a:rPr lang="zh-TW" altLang="en-US" dirty="0" smtClean="0"/>
              <a:t>就是上面的</a:t>
            </a:r>
            <a:r>
              <a:rPr lang="en-US" altLang="zh-TW" dirty="0" smtClean="0"/>
              <a:t>SH</a:t>
            </a:r>
            <a:r>
              <a:rPr lang="zh-TW" altLang="en-US" dirty="0" smtClean="0"/>
              <a:t>和</a:t>
            </a:r>
            <a:r>
              <a:rPr lang="en-US" altLang="zh-TW" dirty="0" smtClean="0"/>
              <a:t>SL</a:t>
            </a:r>
          </a:p>
          <a:p>
            <a:r>
              <a:rPr lang="zh-TW" altLang="en-US" dirty="0" smtClean="0"/>
              <a:t>觀察公式的後半部可以看到</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21</a:t>
            </a:fld>
            <a:endParaRPr lang="zh-TW" altLang="en-US"/>
          </a:p>
        </p:txBody>
      </p:sp>
    </p:spTree>
    <p:extLst>
      <p:ext uri="{BB962C8B-B14F-4D97-AF65-F5344CB8AC3E}">
        <p14:creationId xmlns:p14="http://schemas.microsoft.com/office/powerpoint/2010/main" val="13865830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smtClean="0"/>
              <a:t>Local Outlier Factor</a:t>
            </a:r>
            <a:r>
              <a:rPr lang="zh-TW" altLang="en-US" dirty="0" smtClean="0"/>
              <a:t>翻譯成區域離群因子</a:t>
            </a:r>
            <a:endParaRPr lang="en-US" altLang="zh-TW" dirty="0" smtClean="0"/>
          </a:p>
          <a:p>
            <a:r>
              <a:rPr lang="zh-TW" altLang="en-US" dirty="0" smtClean="0"/>
              <a:t>範例中可以觀察到兩個群集</a:t>
            </a:r>
            <a:endParaRPr lang="en-US" altLang="zh-TW" dirty="0" smtClean="0"/>
          </a:p>
          <a:p>
            <a:r>
              <a:rPr lang="zh-TW" altLang="en-US" dirty="0" smtClean="0"/>
              <a:t>一個比較鬆散一個比較密集</a:t>
            </a:r>
            <a:endParaRPr lang="en-US" altLang="zh-TW" dirty="0" smtClean="0"/>
          </a:p>
          <a:p>
            <a:r>
              <a:rPr lang="en-US" altLang="zh-TW" dirty="0" smtClean="0"/>
              <a:t>LOF</a:t>
            </a:r>
            <a:r>
              <a:rPr lang="zh-TW" altLang="en-US" dirty="0" smtClean="0"/>
              <a:t>可以分別得到兩個不同的區域密度來分別描述兩個群集</a:t>
            </a:r>
            <a:endParaRPr lang="en-US" altLang="zh-TW" dirty="0" smtClean="0"/>
          </a:p>
          <a:p>
            <a:r>
              <a:rPr lang="zh-TW" altLang="en-US" dirty="0" smtClean="0"/>
              <a:t>而不是使用全局的觀察方式</a:t>
            </a:r>
            <a:endParaRPr lang="en-US" altLang="zh-TW" dirty="0" smtClean="0"/>
          </a:p>
          <a:p>
            <a:r>
              <a:rPr lang="zh-TW" altLang="en-US" dirty="0" smtClean="0"/>
              <a:t>所以可以得到更準確的判斷結果</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22</a:t>
            </a:fld>
            <a:endParaRPr lang="zh-TW" altLang="en-US"/>
          </a:p>
        </p:txBody>
      </p:sp>
    </p:spTree>
    <p:extLst>
      <p:ext uri="{BB962C8B-B14F-4D97-AF65-F5344CB8AC3E}">
        <p14:creationId xmlns:p14="http://schemas.microsoft.com/office/powerpoint/2010/main" val="150168194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本論文的主要貢獻</a:t>
            </a:r>
            <a:endParaRPr lang="en-US" altLang="zh-TW" dirty="0" smtClean="0"/>
          </a:p>
          <a:p>
            <a:r>
              <a:rPr lang="zh-TW" altLang="en-US" dirty="0" smtClean="0"/>
              <a:t>是延伸上面提到的想法</a:t>
            </a:r>
            <a:endParaRPr lang="en-US" altLang="zh-TW" dirty="0" smtClean="0"/>
          </a:p>
          <a:p>
            <a:r>
              <a:rPr lang="zh-TW" altLang="en-US" dirty="0" smtClean="0"/>
              <a:t>使用</a:t>
            </a:r>
            <a:r>
              <a:rPr lang="en-US" altLang="zh-TW" dirty="0" smtClean="0"/>
              <a:t>Spark</a:t>
            </a:r>
            <a:r>
              <a:rPr lang="zh-TW" altLang="en-US" dirty="0" smtClean="0"/>
              <a:t> </a:t>
            </a:r>
            <a:r>
              <a:rPr lang="en-US" altLang="zh-TW" dirty="0" smtClean="0"/>
              <a:t>Streaming</a:t>
            </a:r>
            <a:r>
              <a:rPr lang="zh-TW" altLang="en-US" dirty="0" smtClean="0"/>
              <a:t>工具實作了六種串流資料的異常偵測方法</a:t>
            </a:r>
            <a:endParaRPr lang="en-US" altLang="zh-TW" dirty="0" smtClean="0"/>
          </a:p>
          <a:p>
            <a:endParaRPr lang="en-US" altLang="zh-TW" dirty="0" smtClean="0"/>
          </a:p>
          <a:p>
            <a:pPr marL="228600" indent="-228600">
              <a:buAutoNum type="arabicPeriod"/>
            </a:pPr>
            <a:r>
              <a:rPr lang="zh-TW" altLang="en-US" dirty="0" smtClean="0"/>
              <a:t>門檻值是由使用者自行指定正常數值的範圍</a:t>
            </a:r>
            <a:endParaRPr lang="en-US" altLang="zh-TW" dirty="0" smtClean="0"/>
          </a:p>
          <a:p>
            <a:pPr marL="228600" indent="-228600">
              <a:buAutoNum type="arabicPeriod"/>
            </a:pPr>
            <a:r>
              <a:rPr lang="zh-TW" altLang="en-US" dirty="0" smtClean="0"/>
              <a:t>一般常態分佈是直接使用數值的平均值和標準差</a:t>
            </a:r>
            <a:endParaRPr lang="en-US" altLang="zh-TW" dirty="0" smtClean="0"/>
          </a:p>
          <a:p>
            <a:pPr marL="228600" indent="-228600">
              <a:buAutoNum type="arabicPeriod"/>
            </a:pPr>
            <a:r>
              <a:rPr lang="zh-TW" altLang="en-US" dirty="0" smtClean="0"/>
              <a:t>資料片段平均值與常態分佈，事先取得片段資料的群體平均之後，在配合常態分佈的想法</a:t>
            </a:r>
            <a:endParaRPr lang="en-US" altLang="zh-TW" dirty="0" smtClean="0"/>
          </a:p>
          <a:p>
            <a:pPr marL="228600" indent="-228600">
              <a:buAutoNum type="arabicPeriod"/>
            </a:pPr>
            <a:r>
              <a:rPr lang="en-US" altLang="zh-TW" dirty="0" smtClean="0"/>
              <a:t>CUSUM</a:t>
            </a:r>
            <a:r>
              <a:rPr lang="zh-TW" altLang="en-US" dirty="0" smtClean="0"/>
              <a:t>也是直接觀察資料的數值</a:t>
            </a:r>
            <a:endParaRPr lang="en-US" altLang="zh-TW" dirty="0" smtClean="0"/>
          </a:p>
          <a:p>
            <a:pPr marL="228600" indent="-228600">
              <a:buAutoNum type="arabicPeriod"/>
            </a:pPr>
            <a:r>
              <a:rPr lang="zh-TW" altLang="en-US" dirty="0" smtClean="0"/>
              <a:t>資料片段數值和</a:t>
            </a:r>
            <a:r>
              <a:rPr lang="en-US" altLang="zh-TW" dirty="0" smtClean="0"/>
              <a:t>LOF</a:t>
            </a:r>
            <a:r>
              <a:rPr lang="zh-TW" altLang="en-US" dirty="0" smtClean="0"/>
              <a:t>，是將片段內的每個數值都當作一個觀察特徵，配合</a:t>
            </a:r>
            <a:r>
              <a:rPr lang="en-US" altLang="zh-TW" dirty="0" smtClean="0"/>
              <a:t>LOF</a:t>
            </a:r>
            <a:r>
              <a:rPr lang="zh-TW" altLang="en-US" dirty="0" smtClean="0"/>
              <a:t>演算法產生一個多維度的資料分佈模型，每一片段資料在模型中都會轉換成一個資料點</a:t>
            </a:r>
            <a:endParaRPr lang="en-US" altLang="zh-TW" dirty="0" smtClean="0"/>
          </a:p>
          <a:p>
            <a:pPr marL="228600" indent="-228600">
              <a:buAutoNum type="arabicPeriod"/>
            </a:pPr>
            <a:r>
              <a:rPr lang="zh-TW" altLang="en-US" dirty="0" smtClean="0"/>
              <a:t>資料片段平均值和標準差配合</a:t>
            </a:r>
            <a:r>
              <a:rPr lang="en-US" altLang="zh-TW" dirty="0" smtClean="0"/>
              <a:t>LOF</a:t>
            </a:r>
            <a:r>
              <a:rPr lang="zh-TW" altLang="en-US" dirty="0" smtClean="0"/>
              <a:t>的方法，也是先取得片段資料的平均值和標準差之後，配合</a:t>
            </a:r>
            <a:r>
              <a:rPr lang="en-US" altLang="zh-TW" dirty="0" smtClean="0"/>
              <a:t>LOF</a:t>
            </a:r>
            <a:r>
              <a:rPr lang="zh-TW" altLang="en-US" dirty="0" smtClean="0"/>
              <a:t>產生一個平面的分佈模型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23</a:t>
            </a:fld>
            <a:endParaRPr lang="zh-TW" altLang="en-US"/>
          </a:p>
        </p:txBody>
      </p:sp>
    </p:spTree>
    <p:extLst>
      <p:ext uri="{BB962C8B-B14F-4D97-AF65-F5344CB8AC3E}">
        <p14:creationId xmlns:p14="http://schemas.microsoft.com/office/powerpoint/2010/main" val="1911675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24</a:t>
            </a:fld>
            <a:endParaRPr lang="zh-TW" altLang="en-US"/>
          </a:p>
        </p:txBody>
      </p:sp>
    </p:spTree>
    <p:extLst>
      <p:ext uri="{BB962C8B-B14F-4D97-AF65-F5344CB8AC3E}">
        <p14:creationId xmlns:p14="http://schemas.microsoft.com/office/powerpoint/2010/main" val="1059466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實驗一的訓練數據是</a:t>
            </a:r>
            <a:r>
              <a:rPr lang="en-US" altLang="zh-TW" dirty="0" smtClean="0"/>
              <a:t>128</a:t>
            </a:r>
            <a:r>
              <a:rPr lang="zh-TW" altLang="en-US" dirty="0" smtClean="0"/>
              <a:t>筆</a:t>
            </a:r>
            <a:r>
              <a:rPr lang="en-US" altLang="zh-TW" dirty="0" smtClean="0"/>
              <a:t>0</a:t>
            </a:r>
            <a:r>
              <a:rPr lang="zh-TW" altLang="en-US" dirty="0" smtClean="0"/>
              <a:t>到</a:t>
            </a:r>
            <a:r>
              <a:rPr lang="en-US" altLang="zh-TW" dirty="0" smtClean="0"/>
              <a:t>2</a:t>
            </a:r>
            <a:r>
              <a:rPr lang="zh-TW" altLang="en-US" dirty="0" smtClean="0"/>
              <a:t>之間隨機變動的數值</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25</a:t>
            </a:fld>
            <a:endParaRPr lang="zh-TW" altLang="en-US"/>
          </a:p>
        </p:txBody>
      </p:sp>
    </p:spTree>
    <p:extLst>
      <p:ext uri="{BB962C8B-B14F-4D97-AF65-F5344CB8AC3E}">
        <p14:creationId xmlns:p14="http://schemas.microsoft.com/office/powerpoint/2010/main" val="12736918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實驗中演算法的參數設定</a:t>
            </a:r>
            <a:endParaRPr lang="en-US" altLang="zh-TW" dirty="0" smtClean="0"/>
          </a:p>
          <a:p>
            <a:r>
              <a:rPr lang="zh-TW" altLang="en-US" dirty="0" smtClean="0"/>
              <a:t>一般常態分佈異常判斷使用三倍標準差</a:t>
            </a:r>
            <a:endParaRPr lang="en-US" altLang="zh-TW" dirty="0" smtClean="0"/>
          </a:p>
          <a:p>
            <a:r>
              <a:rPr lang="zh-TW" altLang="en-US" dirty="0" smtClean="0"/>
              <a:t>集體資料的平均值配合常態分佈，觀察視窗的大小為</a:t>
            </a:r>
            <a:r>
              <a:rPr lang="en-US" altLang="zh-TW" dirty="0" smtClean="0"/>
              <a:t>8</a:t>
            </a:r>
            <a:r>
              <a:rPr lang="zh-TW" altLang="en-US" dirty="0" smtClean="0"/>
              <a:t>筆資料，視窗滑動間隔為</a:t>
            </a:r>
            <a:r>
              <a:rPr lang="en-US" altLang="zh-TW" dirty="0" smtClean="0"/>
              <a:t>6</a:t>
            </a:r>
            <a:r>
              <a:rPr lang="zh-TW" altLang="en-US" dirty="0" smtClean="0"/>
              <a:t>筆資料，異常判斷的門檻因為計算平均之後的數值會造成更小的標準差，所以使用五倍標準差</a:t>
            </a:r>
            <a:endParaRPr lang="en-US" altLang="zh-TW" dirty="0" smtClean="0"/>
          </a:p>
          <a:p>
            <a:r>
              <a:rPr lang="en-US" altLang="zh-TW" dirty="0" smtClean="0"/>
              <a:t>CUSUM</a:t>
            </a:r>
            <a:r>
              <a:rPr lang="zh-TW" altLang="en-US" dirty="0" smtClean="0"/>
              <a:t>資料變動的容忍範圍是</a:t>
            </a:r>
            <a:r>
              <a:rPr lang="en-US" altLang="zh-TW" dirty="0" smtClean="0"/>
              <a:t>1/2</a:t>
            </a:r>
            <a:r>
              <a:rPr lang="zh-TW" altLang="en-US" dirty="0" smtClean="0"/>
              <a:t>標準差，累加值的異常門檻是</a:t>
            </a:r>
            <a:r>
              <a:rPr lang="en-US" altLang="zh-TW" dirty="0" smtClean="0"/>
              <a:t>4</a:t>
            </a:r>
            <a:r>
              <a:rPr lang="zh-TW" altLang="en-US" dirty="0" smtClean="0"/>
              <a:t>倍標準差</a:t>
            </a:r>
            <a:endParaRPr lang="en-US" altLang="zh-TW" dirty="0" smtClean="0"/>
          </a:p>
          <a:p>
            <a:r>
              <a:rPr lang="zh-TW" altLang="en-US" dirty="0" smtClean="0"/>
              <a:t>關於</a:t>
            </a:r>
            <a:r>
              <a:rPr lang="en-US" altLang="zh-TW" dirty="0" smtClean="0"/>
              <a:t>LOF</a:t>
            </a:r>
            <a:r>
              <a:rPr lang="zh-TW" altLang="en-US" dirty="0" smtClean="0"/>
              <a:t>的方法，觀察視窗都是</a:t>
            </a:r>
            <a:r>
              <a:rPr lang="en-US" altLang="zh-TW" dirty="0" smtClean="0"/>
              <a:t>8</a:t>
            </a:r>
            <a:r>
              <a:rPr lang="zh-TW" altLang="en-US" dirty="0" smtClean="0"/>
              <a:t>筆資料，滑動間隔是</a:t>
            </a:r>
            <a:r>
              <a:rPr lang="en-US" altLang="zh-TW" dirty="0" smtClean="0"/>
              <a:t>1</a:t>
            </a:r>
            <a:r>
              <a:rPr lang="zh-TW" altLang="en-US" dirty="0" smtClean="0"/>
              <a:t>筆資料，判斷區域的鄰近點個數是</a:t>
            </a:r>
            <a:r>
              <a:rPr lang="en-US" altLang="zh-TW" dirty="0" smtClean="0"/>
              <a:t>8</a:t>
            </a:r>
            <a:r>
              <a:rPr lang="zh-TW" altLang="en-US" dirty="0" smtClean="0"/>
              <a:t>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26</a:t>
            </a:fld>
            <a:endParaRPr lang="zh-TW" altLang="en-US"/>
          </a:p>
        </p:txBody>
      </p:sp>
    </p:spTree>
    <p:extLst>
      <p:ext uri="{BB962C8B-B14F-4D97-AF65-F5344CB8AC3E}">
        <p14:creationId xmlns:p14="http://schemas.microsoft.com/office/powerpoint/2010/main" val="38741647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模擬的異常事件有四個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27</a:t>
            </a:fld>
            <a:endParaRPr lang="zh-TW" altLang="en-US"/>
          </a:p>
        </p:txBody>
      </p:sp>
    </p:spTree>
    <p:extLst>
      <p:ext uri="{BB962C8B-B14F-4D97-AF65-F5344CB8AC3E}">
        <p14:creationId xmlns:p14="http://schemas.microsoft.com/office/powerpoint/2010/main" val="312277716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異常事件分別都是用</a:t>
            </a:r>
            <a:r>
              <a:rPr lang="en-US" altLang="zh-TW" dirty="0" smtClean="0"/>
              <a:t>32</a:t>
            </a:r>
            <a:r>
              <a:rPr lang="zh-TW" altLang="en-US" dirty="0" smtClean="0"/>
              <a:t>筆資料描述</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28</a:t>
            </a:fld>
            <a:endParaRPr lang="zh-TW" altLang="en-US"/>
          </a:p>
        </p:txBody>
      </p:sp>
    </p:spTree>
    <p:extLst>
      <p:ext uri="{BB962C8B-B14F-4D97-AF65-F5344CB8AC3E}">
        <p14:creationId xmlns:p14="http://schemas.microsoft.com/office/powerpoint/2010/main" val="113222568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訓練資料在</a:t>
            </a:r>
            <a:r>
              <a:rPr lang="en-US" altLang="zh-TW" dirty="0" smtClean="0"/>
              <a:t>0</a:t>
            </a:r>
            <a:r>
              <a:rPr lang="zh-TW" altLang="en-US" dirty="0" smtClean="0"/>
              <a:t>到</a:t>
            </a:r>
            <a:r>
              <a:rPr lang="en-US" altLang="zh-TW" dirty="0" smtClean="0"/>
              <a:t>2</a:t>
            </a:r>
            <a:r>
              <a:rPr lang="zh-TW" altLang="en-US" dirty="0" smtClean="0"/>
              <a:t>之間變動，得到的標準差很小</a:t>
            </a:r>
            <a:endParaRPr lang="en-US" altLang="zh-TW" dirty="0" smtClean="0"/>
          </a:p>
          <a:p>
            <a:r>
              <a:rPr lang="zh-TW" altLang="en-US" dirty="0" smtClean="0"/>
              <a:t>平均值加上三倍標準差的門檻還不到</a:t>
            </a:r>
            <a:r>
              <a:rPr lang="en-US" altLang="zh-TW" dirty="0" smtClean="0"/>
              <a:t>4</a:t>
            </a:r>
          </a:p>
          <a:p>
            <a:r>
              <a:rPr lang="zh-TW" altLang="en-US" dirty="0" smtClean="0"/>
              <a:t>而前三個事件上升的過程中都只有前三個數值小於</a:t>
            </a:r>
            <a:r>
              <a:rPr lang="en-US" altLang="zh-TW" dirty="0" smtClean="0"/>
              <a:t>3</a:t>
            </a:r>
          </a:p>
          <a:p>
            <a:endParaRPr lang="en-US" altLang="zh-TW" dirty="0" smtClean="0"/>
          </a:p>
          <a:p>
            <a:r>
              <a:rPr lang="zh-TW" altLang="en-US" dirty="0" smtClean="0"/>
              <a:t>最後一個緩慢上升的事件因為使用較多數值描述上升的過程</a:t>
            </a:r>
            <a:endParaRPr lang="en-US" altLang="zh-TW" dirty="0" smtClean="0"/>
          </a:p>
          <a:p>
            <a:r>
              <a:rPr lang="zh-TW" altLang="en-US" dirty="0" smtClean="0"/>
              <a:t>所以有比較多的正常回報</a:t>
            </a:r>
            <a:endParaRPr lang="en-US" altLang="zh-TW" dirty="0" smtClean="0"/>
          </a:p>
          <a:p>
            <a:endParaRPr lang="en-US" altLang="zh-TW" dirty="0" smtClean="0"/>
          </a:p>
          <a:p>
            <a:r>
              <a:rPr lang="zh-TW" altLang="en-US" dirty="0" smtClean="0"/>
              <a:t>另外如果上升的過程足夠緩慢，有可能造成觀察區段的平均值跟著緩慢提升，使事件無法被偵測</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29</a:t>
            </a:fld>
            <a:endParaRPr lang="zh-TW" altLang="en-US"/>
          </a:p>
        </p:txBody>
      </p:sp>
    </p:spTree>
    <p:extLst>
      <p:ext uri="{BB962C8B-B14F-4D97-AF65-F5344CB8AC3E}">
        <p14:creationId xmlns:p14="http://schemas.microsoft.com/office/powerpoint/2010/main" val="374683784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因為使用視窗的觀察方式，設定</a:t>
            </a:r>
            <a:r>
              <a:rPr lang="en-US" altLang="zh-TW" dirty="0" smtClean="0"/>
              <a:t>6</a:t>
            </a:r>
            <a:r>
              <a:rPr lang="zh-TW" altLang="en-US" dirty="0" smtClean="0"/>
              <a:t>筆資料視窗才會滑動一次</a:t>
            </a:r>
            <a:endParaRPr lang="en-US" altLang="zh-TW" dirty="0" smtClean="0"/>
          </a:p>
          <a:p>
            <a:r>
              <a:rPr lang="zh-TW" altLang="en-US" dirty="0" smtClean="0"/>
              <a:t>所以在</a:t>
            </a:r>
            <a:r>
              <a:rPr lang="en-US" altLang="zh-TW" dirty="0" smtClean="0"/>
              <a:t>32</a:t>
            </a:r>
            <a:r>
              <a:rPr lang="zh-TW" altLang="en-US" dirty="0" smtClean="0"/>
              <a:t>比數值的判斷過程中，只會產生</a:t>
            </a:r>
            <a:r>
              <a:rPr lang="en-US" altLang="zh-TW" dirty="0" smtClean="0"/>
              <a:t>5</a:t>
            </a:r>
            <a:r>
              <a:rPr lang="zh-TW" altLang="en-US" dirty="0" smtClean="0"/>
              <a:t>次處理結果</a:t>
            </a:r>
            <a:endParaRPr lang="en-US" altLang="zh-TW" dirty="0" smtClean="0"/>
          </a:p>
          <a:p>
            <a:r>
              <a:rPr lang="zh-TW" altLang="en-US" dirty="0" smtClean="0"/>
              <a:t>圖形中每</a:t>
            </a:r>
            <a:r>
              <a:rPr lang="en-US" altLang="zh-TW" dirty="0" smtClean="0"/>
              <a:t>6</a:t>
            </a:r>
            <a:r>
              <a:rPr lang="zh-TW" altLang="en-US" dirty="0" smtClean="0"/>
              <a:t>個點是一次視窗判斷的結果</a:t>
            </a:r>
            <a:endParaRPr lang="en-US" altLang="zh-TW" dirty="0" smtClean="0"/>
          </a:p>
          <a:p>
            <a:endParaRPr lang="en-US" altLang="zh-TW" dirty="0" smtClean="0"/>
          </a:p>
          <a:p>
            <a:r>
              <a:rPr lang="zh-TW" altLang="en-US" dirty="0" smtClean="0"/>
              <a:t>可以觀察到，視窗內如果包含上升數值，就會讓群體平均值變大，造成異常回報</a:t>
            </a:r>
            <a:endParaRPr lang="en-US" altLang="zh-TW" dirty="0" smtClean="0"/>
          </a:p>
          <a:p>
            <a:r>
              <a:rPr lang="zh-TW" altLang="en-US" dirty="0" smtClean="0"/>
              <a:t>快速變化的反應時間會比一般常態分佈慢</a:t>
            </a:r>
            <a:endParaRPr lang="en-US" altLang="zh-TW" dirty="0" smtClean="0"/>
          </a:p>
          <a:p>
            <a:r>
              <a:rPr lang="zh-TW" altLang="en-US" dirty="0" smtClean="0"/>
              <a:t>緩慢變化則差不多</a:t>
            </a:r>
            <a:endParaRPr lang="en-US" altLang="zh-TW" dirty="0" smtClean="0"/>
          </a:p>
          <a:p>
            <a:r>
              <a:rPr lang="zh-TW" altLang="en-US" dirty="0" smtClean="0"/>
              <a:t>因為視窗滑動的時間，和上升至超過標準差的時間相近</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30</a:t>
            </a:fld>
            <a:endParaRPr lang="zh-TW" altLang="en-US"/>
          </a:p>
        </p:txBody>
      </p:sp>
    </p:spTree>
    <p:extLst>
      <p:ext uri="{BB962C8B-B14F-4D97-AF65-F5344CB8AC3E}">
        <p14:creationId xmlns:p14="http://schemas.microsoft.com/office/powerpoint/2010/main" val="206443820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smtClean="0"/>
              <a:t>CUSUM</a:t>
            </a:r>
            <a:r>
              <a:rPr lang="zh-TW" altLang="en-US" dirty="0" smtClean="0"/>
              <a:t>的反應時間點也與一般常態分佈相近</a:t>
            </a:r>
            <a:endParaRPr lang="en-US" altLang="zh-TW" dirty="0" smtClean="0"/>
          </a:p>
          <a:p>
            <a:r>
              <a:rPr lang="zh-TW" altLang="en-US" dirty="0" smtClean="0"/>
              <a:t>在快速上升的事件上甚至還比常態分佈早了一個資料點</a:t>
            </a:r>
            <a:endParaRPr lang="en-US" altLang="zh-TW" dirty="0" smtClean="0"/>
          </a:p>
          <a:p>
            <a:r>
              <a:rPr lang="zh-TW" altLang="en-US" dirty="0" smtClean="0"/>
              <a:t>如果數值變化的幅度大於</a:t>
            </a:r>
            <a:r>
              <a:rPr lang="en-US" altLang="zh-TW" dirty="0" smtClean="0"/>
              <a:t>4</a:t>
            </a:r>
            <a:r>
              <a:rPr lang="zh-TW" altLang="en-US" dirty="0" smtClean="0"/>
              <a:t>倍標準差，此方法就會跳過累加的步驟，直接回報異常結果</a:t>
            </a:r>
            <a:endParaRPr lang="en-US" altLang="zh-TW" dirty="0" smtClean="0"/>
          </a:p>
          <a:p>
            <a:endParaRPr lang="en-US" altLang="zh-TW" dirty="0" smtClean="0"/>
          </a:p>
          <a:p>
            <a:r>
              <a:rPr lang="zh-TW" altLang="en-US" dirty="0" smtClean="0"/>
              <a:t>但如果一筆資料的變動量沒有超過門檻值，異常條件滿足之後，累加值會被歸零，這樣的行為造成異常事件回報的過程中夾帶一些正常的結果</a:t>
            </a:r>
            <a:endParaRPr lang="en-US" altLang="zh-TW" dirty="0" smtClean="0"/>
          </a:p>
          <a:p>
            <a:r>
              <a:rPr lang="zh-TW" altLang="en-US" dirty="0" smtClean="0"/>
              <a:t>這樣的特性可以將少量事件的資料也加入平均值的觀察內容</a:t>
            </a:r>
            <a:endParaRPr lang="en-US" altLang="zh-TW" dirty="0" smtClean="0"/>
          </a:p>
          <a:p>
            <a:r>
              <a:rPr lang="zh-TW" altLang="en-US" dirty="0" smtClean="0"/>
              <a:t>提高演算法適應情境改變的能力</a:t>
            </a:r>
            <a:endParaRPr lang="en-US" altLang="zh-TW" dirty="0" smtClean="0"/>
          </a:p>
          <a:p>
            <a:endParaRPr lang="en-US" altLang="zh-TW" dirty="0" smtClean="0"/>
          </a:p>
          <a:p>
            <a:r>
              <a:rPr lang="zh-TW" altLang="en-US" dirty="0" smtClean="0"/>
              <a:t>前面提到一般常態分佈可能無法正確辨識非常緩慢的事件偏移</a:t>
            </a:r>
            <a:endParaRPr lang="en-US" altLang="zh-TW" dirty="0" smtClean="0"/>
          </a:p>
          <a:p>
            <a:r>
              <a:rPr lang="zh-TW" altLang="en-US" dirty="0" smtClean="0"/>
              <a:t>如果使</a:t>
            </a:r>
            <a:r>
              <a:rPr lang="en-US" altLang="zh-TW" dirty="0" smtClean="0"/>
              <a:t>CUSUM</a:t>
            </a:r>
            <a:r>
              <a:rPr lang="zh-TW" altLang="en-US" dirty="0" smtClean="0"/>
              <a:t>就不會發生，因維連續的趨勢變化還是會造成累加值超過異常門檻</a:t>
            </a:r>
            <a:endParaRPr lang="en-US" altLang="zh-TW" dirty="0" smtClean="0"/>
          </a:p>
          <a:p>
            <a:r>
              <a:rPr lang="zh-TW" altLang="en-US" dirty="0" smtClean="0"/>
              <a:t>只是累加的過程可能會比較長，在異常訊息的中間可能夾帶更多比正常的資料</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31</a:t>
            </a:fld>
            <a:endParaRPr lang="zh-TW" altLang="en-US"/>
          </a:p>
        </p:txBody>
      </p:sp>
    </p:spTree>
    <p:extLst>
      <p:ext uri="{BB962C8B-B14F-4D97-AF65-F5344CB8AC3E}">
        <p14:creationId xmlns:p14="http://schemas.microsoft.com/office/powerpoint/2010/main" val="28507619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直接使用</a:t>
            </a:r>
            <a:r>
              <a:rPr lang="en-US" altLang="zh-TW" dirty="0" smtClean="0"/>
              <a:t>LOF</a:t>
            </a:r>
            <a:r>
              <a:rPr lang="zh-TW" altLang="en-US" dirty="0" smtClean="0"/>
              <a:t>觀察資料片段的數值，再和歷史資料點比較</a:t>
            </a:r>
            <a:endParaRPr lang="en-US" altLang="zh-TW" dirty="0" smtClean="0"/>
          </a:p>
          <a:p>
            <a:r>
              <a:rPr lang="zh-TW" altLang="en-US" dirty="0" smtClean="0"/>
              <a:t>發現同樣的改變狀態異常回到的時間點都比一般常態分佈要晚一點</a:t>
            </a:r>
            <a:endParaRPr lang="en-US" altLang="zh-TW" dirty="0" smtClean="0"/>
          </a:p>
          <a:p>
            <a:r>
              <a:rPr lang="zh-TW" altLang="en-US" dirty="0" smtClean="0"/>
              <a:t>這和視窗內每次只更新一筆數值有關</a:t>
            </a:r>
            <a:endParaRPr lang="en-US" altLang="zh-TW" dirty="0" smtClean="0"/>
          </a:p>
          <a:p>
            <a:r>
              <a:rPr lang="zh-TW" altLang="en-US" dirty="0" smtClean="0"/>
              <a:t>一項觀察特徵的變動量如果沒有非常顯著，在多維度空間中轉換成的資料點</a:t>
            </a:r>
            <a:endParaRPr lang="en-US" altLang="zh-TW" dirty="0" smtClean="0"/>
          </a:p>
          <a:p>
            <a:r>
              <a:rPr lang="zh-TW" altLang="en-US" dirty="0" smtClean="0"/>
              <a:t>可能還是會鄰近於歷史資料群集</a:t>
            </a:r>
            <a:endParaRPr lang="en-US" altLang="zh-TW" dirty="0" smtClean="0"/>
          </a:p>
          <a:p>
            <a:endParaRPr lang="en-US" altLang="zh-TW" dirty="0" smtClean="0"/>
          </a:p>
          <a:p>
            <a:r>
              <a:rPr lang="zh-TW" altLang="en-US" dirty="0" smtClean="0"/>
              <a:t>而隨著倍事件資料取代的數值越來越多，多個特徵值都偏離原本狀態時</a:t>
            </a:r>
            <a:endParaRPr lang="en-US" altLang="zh-TW" dirty="0" smtClean="0"/>
          </a:p>
          <a:p>
            <a:r>
              <a:rPr lang="zh-TW" altLang="en-US" dirty="0" smtClean="0"/>
              <a:t>才會分佈到資料集中的稀疏位置，造成密度比值升高</a:t>
            </a:r>
            <a:endParaRPr lang="en-US" altLang="zh-TW" dirty="0" smtClean="0"/>
          </a:p>
          <a:p>
            <a:endParaRPr lang="en-US" altLang="zh-TW" dirty="0" smtClean="0"/>
          </a:p>
          <a:p>
            <a:r>
              <a:rPr lang="zh-TW" altLang="en-US" dirty="0" smtClean="0"/>
              <a:t>異常回報會擴散到事件發生後的多筆資料</a:t>
            </a:r>
            <a:endParaRPr lang="en-US" altLang="zh-TW" dirty="0" smtClean="0"/>
          </a:p>
          <a:p>
            <a:r>
              <a:rPr lang="zh-TW" altLang="en-US" dirty="0" smtClean="0"/>
              <a:t>這也和觀察視窗每次只更新一筆內容有關</a:t>
            </a:r>
            <a:endParaRPr lang="en-US" altLang="zh-TW" dirty="0" smtClean="0"/>
          </a:p>
          <a:p>
            <a:r>
              <a:rPr lang="zh-TW" altLang="en-US" dirty="0" smtClean="0"/>
              <a:t>異常資料也會在視窗中保留，直到被新的數值取代</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32</a:t>
            </a:fld>
            <a:endParaRPr lang="zh-TW" altLang="en-US"/>
          </a:p>
        </p:txBody>
      </p:sp>
    </p:spTree>
    <p:extLst>
      <p:ext uri="{BB962C8B-B14F-4D97-AF65-F5344CB8AC3E}">
        <p14:creationId xmlns:p14="http://schemas.microsoft.com/office/powerpoint/2010/main" val="12709493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在四種事件類型中都比單純觀察資料型態的</a:t>
            </a:r>
            <a:r>
              <a:rPr lang="en-US" altLang="zh-TW" dirty="0" smtClean="0"/>
              <a:t>LOF</a:t>
            </a:r>
            <a:r>
              <a:rPr lang="zh-TW" altLang="en-US" dirty="0" smtClean="0"/>
              <a:t>方法快回報異常</a:t>
            </a:r>
            <a:endParaRPr lang="en-US" altLang="zh-TW" dirty="0" smtClean="0"/>
          </a:p>
          <a:p>
            <a:r>
              <a:rPr lang="zh-TW" altLang="en-US" dirty="0" smtClean="0"/>
              <a:t>原因是資料區段的平均值改變</a:t>
            </a:r>
            <a:endParaRPr lang="en-US" altLang="zh-TW" dirty="0" smtClean="0"/>
          </a:p>
          <a:p>
            <a:endParaRPr lang="en-US" altLang="zh-TW" dirty="0" smtClean="0"/>
          </a:p>
          <a:p>
            <a:r>
              <a:rPr lang="zh-TW" altLang="en-US" dirty="0" smtClean="0"/>
              <a:t>但值得注意的是事件本身前後兩段的銜接資料</a:t>
            </a:r>
            <a:endParaRPr lang="en-US" altLang="zh-TW" dirty="0" smtClean="0"/>
          </a:p>
          <a:p>
            <a:r>
              <a:rPr lang="zh-TW" altLang="en-US" dirty="0" smtClean="0"/>
              <a:t>在這個方法中產生許多誤判的情況</a:t>
            </a:r>
            <a:endParaRPr lang="en-US" altLang="zh-TW" dirty="0" smtClean="0"/>
          </a:p>
          <a:p>
            <a:endParaRPr lang="en-US" altLang="zh-TW" dirty="0" smtClean="0"/>
          </a:p>
          <a:p>
            <a:r>
              <a:rPr lang="zh-TW" altLang="en-US" dirty="0" smtClean="0"/>
              <a:t>於是我實際取得每個判斷結果的</a:t>
            </a:r>
            <a:r>
              <a:rPr lang="en-US" altLang="zh-TW" dirty="0" smtClean="0"/>
              <a:t>LOF</a:t>
            </a:r>
            <a:r>
              <a:rPr lang="zh-TW" altLang="en-US" dirty="0" smtClean="0"/>
              <a:t>分數</a:t>
            </a:r>
            <a:endParaRPr lang="en-US" altLang="zh-TW" dirty="0" smtClean="0"/>
          </a:p>
          <a:p>
            <a:r>
              <a:rPr lang="zh-TW" altLang="en-US" dirty="0" smtClean="0"/>
              <a:t>發現誤判的資料點，密度比值都非常接近</a:t>
            </a:r>
            <a:r>
              <a:rPr lang="en-US" altLang="zh-TW" dirty="0" smtClean="0"/>
              <a:t>2</a:t>
            </a:r>
            <a:r>
              <a:rPr lang="zh-TW" altLang="en-US" dirty="0" smtClean="0"/>
              <a:t>。事件異常的分數更大</a:t>
            </a:r>
            <a:r>
              <a:rPr lang="en-US" altLang="zh-TW" dirty="0" smtClean="0"/>
              <a:t>5,6</a:t>
            </a:r>
          </a:p>
          <a:p>
            <a:r>
              <a:rPr lang="zh-TW" altLang="en-US" dirty="0" smtClean="0"/>
              <a:t>因此我們只要把異常門檻稍微調高一點，就能夠消除這些誤判的結果</a:t>
            </a:r>
            <a:endParaRPr lang="en-US" altLang="zh-TW" dirty="0" smtClean="0"/>
          </a:p>
          <a:p>
            <a:r>
              <a:rPr lang="zh-TW" altLang="en-US" dirty="0" smtClean="0"/>
              <a:t>並且不影響異常事件的回報結果</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33</a:t>
            </a:fld>
            <a:endParaRPr lang="zh-TW" altLang="en-US"/>
          </a:p>
        </p:txBody>
      </p:sp>
    </p:spTree>
    <p:extLst>
      <p:ext uri="{BB962C8B-B14F-4D97-AF65-F5344CB8AC3E}">
        <p14:creationId xmlns:p14="http://schemas.microsoft.com/office/powerpoint/2010/main" val="58314140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34</a:t>
            </a:fld>
            <a:endParaRPr lang="zh-TW" altLang="en-US"/>
          </a:p>
        </p:txBody>
      </p:sp>
    </p:spTree>
    <p:extLst>
      <p:ext uri="{BB962C8B-B14F-4D97-AF65-F5344CB8AC3E}">
        <p14:creationId xmlns:p14="http://schemas.microsoft.com/office/powerpoint/2010/main" val="22392864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實驗二的第一種訓練資料</a:t>
            </a:r>
            <a:endParaRPr lang="en-US" altLang="zh-TW" dirty="0" smtClean="0"/>
          </a:p>
          <a:p>
            <a:r>
              <a:rPr lang="zh-TW" altLang="en-US" dirty="0" smtClean="0"/>
              <a:t>是</a:t>
            </a:r>
            <a:r>
              <a:rPr lang="en-US" altLang="zh-TW" dirty="0" smtClean="0"/>
              <a:t>128</a:t>
            </a:r>
            <a:r>
              <a:rPr lang="zh-TW" altLang="en-US" dirty="0" smtClean="0"/>
              <a:t>筆規律週期變動的數值</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35</a:t>
            </a:fld>
            <a:endParaRPr lang="zh-TW" altLang="en-US"/>
          </a:p>
        </p:txBody>
      </p:sp>
    </p:spTree>
    <p:extLst>
      <p:ext uri="{BB962C8B-B14F-4D97-AF65-F5344CB8AC3E}">
        <p14:creationId xmlns:p14="http://schemas.microsoft.com/office/powerpoint/2010/main" val="317302938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第二種是真實的氣溫資料</a:t>
            </a:r>
            <a:endParaRPr lang="en-US" altLang="zh-TW" dirty="0" smtClean="0"/>
          </a:p>
          <a:p>
            <a:r>
              <a:rPr lang="zh-TW" altLang="en-US" dirty="0" smtClean="0"/>
              <a:t>從中央氣象局歷史資料中取得五天多一點的資料量</a:t>
            </a:r>
            <a:r>
              <a:rPr lang="en-US" altLang="zh-TW" dirty="0" smtClean="0"/>
              <a:t>128</a:t>
            </a:r>
            <a:r>
              <a:rPr lang="zh-TW" altLang="en-US" dirty="0" smtClean="0"/>
              <a:t>筆</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36</a:t>
            </a:fld>
            <a:endParaRPr lang="zh-TW" altLang="en-US"/>
          </a:p>
        </p:txBody>
      </p:sp>
    </p:spTree>
    <p:extLst>
      <p:ext uri="{BB962C8B-B14F-4D97-AF65-F5344CB8AC3E}">
        <p14:creationId xmlns:p14="http://schemas.microsoft.com/office/powerpoint/2010/main" val="125940690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實驗二想模擬的異常事件</a:t>
            </a:r>
            <a:endParaRPr lang="en-US" altLang="zh-TW" dirty="0" smtClean="0"/>
          </a:p>
          <a:p>
            <a:r>
              <a:rPr lang="zh-TW" altLang="en-US" dirty="0" smtClean="0"/>
              <a:t>是存在於資料本身波動範圍內的改變</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37</a:t>
            </a:fld>
            <a:endParaRPr lang="zh-TW" altLang="en-US"/>
          </a:p>
        </p:txBody>
      </p:sp>
    </p:spTree>
    <p:extLst>
      <p:ext uri="{BB962C8B-B14F-4D97-AF65-F5344CB8AC3E}">
        <p14:creationId xmlns:p14="http://schemas.microsoft.com/office/powerpoint/2010/main" val="10785353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如圖中的紅圈處</a:t>
            </a:r>
            <a:endParaRPr lang="en-US" altLang="zh-TW" dirty="0" smtClean="0"/>
          </a:p>
          <a:p>
            <a:r>
              <a:rPr lang="zh-TW" altLang="en-US" dirty="0" smtClean="0"/>
              <a:t>我們可以假想這個規律波動的數值是經過電路轉換的交流電</a:t>
            </a:r>
            <a:endParaRPr lang="en-US" altLang="zh-TW" dirty="0" smtClean="0"/>
          </a:p>
          <a:p>
            <a:r>
              <a:rPr lang="zh-TW" altLang="en-US" dirty="0" smtClean="0"/>
              <a:t>輸出結果可能因為電路中元件損壞造成轉換結果不穩定</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38</a:t>
            </a:fld>
            <a:endParaRPr lang="zh-TW" altLang="en-US"/>
          </a:p>
        </p:txBody>
      </p:sp>
    </p:spTree>
    <p:extLst>
      <p:ext uri="{BB962C8B-B14F-4D97-AF65-F5344CB8AC3E}">
        <p14:creationId xmlns:p14="http://schemas.microsoft.com/office/powerpoint/2010/main" val="16000784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真實資料的部份我們也安排了一個幅度較大的單點偏離</a:t>
            </a:r>
            <a:endParaRPr lang="en-US" altLang="zh-TW" dirty="0" smtClean="0"/>
          </a:p>
          <a:p>
            <a:r>
              <a:rPr lang="zh-TW" altLang="en-US" dirty="0" smtClean="0"/>
              <a:t>和一個幅度小的單點偏離</a:t>
            </a:r>
            <a:endParaRPr lang="en-US" altLang="zh-TW" dirty="0" smtClean="0"/>
          </a:p>
          <a:p>
            <a:r>
              <a:rPr lang="zh-TW" altLang="en-US" dirty="0" smtClean="0"/>
              <a:t>以及後面一個群體狀態的改變</a:t>
            </a:r>
            <a:endParaRPr lang="en-US" altLang="zh-TW" dirty="0" smtClean="0"/>
          </a:p>
          <a:p>
            <a:endParaRPr lang="en-US" altLang="zh-TW" dirty="0" smtClean="0"/>
          </a:p>
          <a:p>
            <a:r>
              <a:rPr lang="zh-TW" altLang="en-US" dirty="0" smtClean="0"/>
              <a:t>希望測試</a:t>
            </a:r>
            <a:r>
              <a:rPr lang="en-US" altLang="zh-TW" dirty="0" smtClean="0"/>
              <a:t>LOF</a:t>
            </a:r>
            <a:r>
              <a:rPr lang="zh-TW" altLang="en-US" dirty="0" smtClean="0"/>
              <a:t>使用真實資料與歷史群集比對的能力</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39</a:t>
            </a:fld>
            <a:endParaRPr lang="zh-TW" altLang="en-US"/>
          </a:p>
        </p:txBody>
      </p:sp>
    </p:spTree>
    <p:extLst>
      <p:ext uri="{BB962C8B-B14F-4D97-AF65-F5344CB8AC3E}">
        <p14:creationId xmlns:p14="http://schemas.microsoft.com/office/powerpoint/2010/main" val="181779594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因為使用常態分佈為判斷基礎的方式</a:t>
            </a:r>
            <a:endParaRPr lang="en-US" altLang="zh-TW" dirty="0" smtClean="0"/>
          </a:p>
          <a:p>
            <a:r>
              <a:rPr lang="zh-TW" altLang="en-US" dirty="0" smtClean="0"/>
              <a:t>都無法正確回報資料週期變動內的事件異常</a:t>
            </a:r>
            <a:endParaRPr lang="en-US" altLang="zh-TW" dirty="0" smtClean="0"/>
          </a:p>
          <a:p>
            <a:endParaRPr lang="en-US" altLang="zh-TW" dirty="0" smtClean="0"/>
          </a:p>
          <a:p>
            <a:r>
              <a:rPr lang="zh-TW" altLang="en-US" dirty="0" smtClean="0"/>
              <a:t>原因是資料本身波動造成的標準差隱藏了波動範圍內的資料改變</a:t>
            </a:r>
            <a:endParaRPr lang="en-US" altLang="zh-TW" dirty="0" smtClean="0"/>
          </a:p>
          <a:p>
            <a:endParaRPr lang="en-US" altLang="zh-TW" dirty="0" smtClean="0"/>
          </a:p>
          <a:p>
            <a:r>
              <a:rPr lang="zh-TW" altLang="en-US" dirty="0" smtClean="0"/>
              <a:t>所以實驗二我們只展示</a:t>
            </a:r>
            <a:r>
              <a:rPr lang="en-US" altLang="zh-TW" dirty="0" smtClean="0"/>
              <a:t>LOF</a:t>
            </a:r>
            <a:r>
              <a:rPr lang="zh-TW" altLang="en-US" dirty="0" smtClean="0"/>
              <a:t>的感測結果</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40</a:t>
            </a:fld>
            <a:endParaRPr lang="zh-TW" altLang="en-US"/>
          </a:p>
        </p:txBody>
      </p:sp>
    </p:spTree>
    <p:extLst>
      <p:ext uri="{BB962C8B-B14F-4D97-AF65-F5344CB8AC3E}">
        <p14:creationId xmlns:p14="http://schemas.microsoft.com/office/powerpoint/2010/main" val="2603380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直接使用</a:t>
            </a:r>
            <a:r>
              <a:rPr lang="en-US" altLang="zh-TW" dirty="0" smtClean="0"/>
              <a:t>LOF</a:t>
            </a:r>
            <a:r>
              <a:rPr lang="zh-TW" altLang="en-US" dirty="0" smtClean="0"/>
              <a:t>演算法觀察資料型態</a:t>
            </a:r>
            <a:endParaRPr lang="en-US" altLang="zh-TW" dirty="0" smtClean="0"/>
          </a:p>
          <a:p>
            <a:r>
              <a:rPr lang="zh-TW" altLang="en-US" dirty="0" smtClean="0"/>
              <a:t>在規律週期改變中的異常都可以被精確的回報</a:t>
            </a:r>
            <a:endParaRPr lang="en-US" altLang="zh-TW" dirty="0" smtClean="0"/>
          </a:p>
          <a:p>
            <a:r>
              <a:rPr lang="zh-TW" altLang="en-US" dirty="0" smtClean="0"/>
              <a:t>事件回報後同樣因為視窗更新頻率的關係，會持續</a:t>
            </a:r>
            <a:r>
              <a:rPr lang="en-US" altLang="zh-TW" dirty="0" smtClean="0"/>
              <a:t>8</a:t>
            </a:r>
            <a:r>
              <a:rPr lang="zh-TW" altLang="en-US" dirty="0" smtClean="0"/>
              <a:t>筆資料，直到異常滑出視窗內容</a:t>
            </a:r>
            <a:endParaRPr lang="en-US" altLang="zh-TW" dirty="0" smtClean="0"/>
          </a:p>
          <a:p>
            <a:endParaRPr lang="en-US" altLang="zh-TW" dirty="0" smtClean="0"/>
          </a:p>
          <a:p>
            <a:r>
              <a:rPr lang="zh-TW" altLang="en-US" dirty="0" smtClean="0"/>
              <a:t>真實資料的部分因為資料變化的型態比較豐富</a:t>
            </a:r>
            <a:endParaRPr lang="en-US" altLang="zh-TW" dirty="0" smtClean="0"/>
          </a:p>
          <a:p>
            <a:r>
              <a:rPr lang="zh-TW" altLang="en-US" dirty="0" smtClean="0"/>
              <a:t>群體異常的部分沒辦法很即時的回報</a:t>
            </a:r>
            <a:endParaRPr lang="en-US" altLang="zh-TW" dirty="0" smtClean="0"/>
          </a:p>
          <a:p>
            <a:r>
              <a:rPr lang="zh-TW" altLang="en-US" dirty="0" smtClean="0"/>
              <a:t>較大偏移的單點異常造成的異常結果維持時間筆較小偏移的單點異常多</a:t>
            </a:r>
            <a:endParaRPr lang="en-US" altLang="zh-TW" dirty="0" smtClean="0"/>
          </a:p>
          <a:p>
            <a:endParaRPr lang="en-US" altLang="zh-TW" dirty="0" smtClean="0"/>
          </a:p>
          <a:p>
            <a:r>
              <a:rPr lang="zh-TW" altLang="en-US" dirty="0" smtClean="0"/>
              <a:t>如果要更精確地偵測群體異常可以嘗試降低運算區域密度時使用的鄰近點個數</a:t>
            </a:r>
            <a:endParaRPr lang="en-US" altLang="zh-TW" dirty="0" smtClean="0"/>
          </a:p>
          <a:p>
            <a:r>
              <a:rPr lang="zh-TW" altLang="en-US" dirty="0" smtClean="0"/>
              <a:t>因為豐富變化的資料型態在資料模型中形成更多的歷史群集</a:t>
            </a:r>
            <a:endParaRPr lang="en-US" altLang="zh-TW" dirty="0" smtClean="0"/>
          </a:p>
          <a:p>
            <a:r>
              <a:rPr lang="zh-TW" altLang="en-US" dirty="0" smtClean="0"/>
              <a:t>如果鄰近點取太多，可能會參考到其他群集的資料</a:t>
            </a:r>
            <a:endParaRPr lang="en-US" altLang="zh-TW" dirty="0" smtClean="0"/>
          </a:p>
          <a:p>
            <a:r>
              <a:rPr lang="zh-TW" altLang="en-US" dirty="0" smtClean="0"/>
              <a:t>因此降低鄰近點的使用個數可以改善此問題</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41</a:t>
            </a:fld>
            <a:endParaRPr lang="zh-TW" altLang="en-US"/>
          </a:p>
        </p:txBody>
      </p:sp>
    </p:spTree>
    <p:extLst>
      <p:ext uri="{BB962C8B-B14F-4D97-AF65-F5344CB8AC3E}">
        <p14:creationId xmlns:p14="http://schemas.microsoft.com/office/powerpoint/2010/main" val="144645521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資料片段的平均值和標準差配合</a:t>
            </a:r>
            <a:r>
              <a:rPr lang="en-US" altLang="zh-TW" dirty="0" smtClean="0"/>
              <a:t>LOF</a:t>
            </a:r>
            <a:r>
              <a:rPr lang="zh-TW" altLang="en-US" dirty="0" smtClean="0"/>
              <a:t>的方法</a:t>
            </a:r>
            <a:endParaRPr lang="en-US" altLang="zh-TW" dirty="0" smtClean="0"/>
          </a:p>
          <a:p>
            <a:r>
              <a:rPr lang="zh-TW" altLang="en-US" dirty="0" smtClean="0"/>
              <a:t>在規律週期的資料中可以正確回報異常事件</a:t>
            </a:r>
            <a:endParaRPr lang="en-US" altLang="zh-TW" dirty="0" smtClean="0"/>
          </a:p>
          <a:p>
            <a:endParaRPr lang="en-US" altLang="zh-TW" dirty="0" smtClean="0"/>
          </a:p>
          <a:p>
            <a:r>
              <a:rPr lang="zh-TW" altLang="en-US" dirty="0" smtClean="0"/>
              <a:t>單點事件的判斷條件是片段資料的標準差改變</a:t>
            </a:r>
            <a:endParaRPr lang="en-US" altLang="zh-TW" dirty="0" smtClean="0"/>
          </a:p>
          <a:p>
            <a:r>
              <a:rPr lang="zh-TW" altLang="en-US" dirty="0" smtClean="0"/>
              <a:t>而群體事件則是平均值的改變比較多，標準差改變比較少</a:t>
            </a:r>
            <a:endParaRPr lang="en-US" altLang="zh-TW" dirty="0" smtClean="0"/>
          </a:p>
          <a:p>
            <a:endParaRPr lang="en-US" altLang="zh-TW" dirty="0" smtClean="0"/>
          </a:p>
          <a:p>
            <a:r>
              <a:rPr lang="zh-TW" altLang="en-US" dirty="0" smtClean="0"/>
              <a:t>此方法用於特徵型態較豐富的資料類型就沒辦法正確判斷了</a:t>
            </a:r>
            <a:endParaRPr lang="en-US" altLang="zh-TW" dirty="0" smtClean="0"/>
          </a:p>
          <a:p>
            <a:r>
              <a:rPr lang="zh-TW" altLang="en-US" dirty="0" smtClean="0"/>
              <a:t>圖裡面顯示的異常點是誤判</a:t>
            </a:r>
            <a:endParaRPr lang="en-US" altLang="zh-TW" dirty="0" smtClean="0"/>
          </a:p>
          <a:p>
            <a:r>
              <a:rPr lang="zh-TW" altLang="en-US" dirty="0" smtClean="0"/>
              <a:t>因為豐富的資料特徵也產生更多種類的區段平均值和標準差</a:t>
            </a:r>
            <a:endParaRPr lang="en-US" altLang="zh-TW" dirty="0" smtClean="0"/>
          </a:p>
          <a:p>
            <a:endParaRPr lang="en-US" altLang="zh-TW" dirty="0" smtClean="0"/>
          </a:p>
          <a:p>
            <a:r>
              <a:rPr lang="zh-TW" altLang="en-US" dirty="0" smtClean="0"/>
              <a:t>包含真正事件數值的資料片段也會因此存在於某個歷史群集之內</a:t>
            </a:r>
            <a:endParaRPr lang="en-US" altLang="zh-TW" dirty="0" smtClean="0"/>
          </a:p>
          <a:p>
            <a:r>
              <a:rPr lang="zh-TW" altLang="en-US" dirty="0" smtClean="0"/>
              <a:t>無法被正確判斷</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42</a:t>
            </a:fld>
            <a:endParaRPr lang="zh-TW" altLang="en-US"/>
          </a:p>
        </p:txBody>
      </p:sp>
    </p:spTree>
    <p:extLst>
      <p:ext uri="{BB962C8B-B14F-4D97-AF65-F5344CB8AC3E}">
        <p14:creationId xmlns:p14="http://schemas.microsoft.com/office/powerpoint/2010/main" val="98889340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43</a:t>
            </a:fld>
            <a:endParaRPr lang="zh-TW" altLang="en-US"/>
          </a:p>
        </p:txBody>
      </p:sp>
    </p:spTree>
    <p:extLst>
      <p:ext uri="{BB962C8B-B14F-4D97-AF65-F5344CB8AC3E}">
        <p14:creationId xmlns:p14="http://schemas.microsoft.com/office/powerpoint/2010/main" val="31328720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44</a:t>
            </a:fld>
            <a:endParaRPr lang="zh-TW" altLang="en-US"/>
          </a:p>
        </p:txBody>
      </p:sp>
    </p:spTree>
    <p:extLst>
      <p:ext uri="{BB962C8B-B14F-4D97-AF65-F5344CB8AC3E}">
        <p14:creationId xmlns:p14="http://schemas.microsoft.com/office/powerpoint/2010/main" val="296775739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45</a:t>
            </a:fld>
            <a:endParaRPr lang="zh-TW" altLang="en-US"/>
          </a:p>
        </p:txBody>
      </p:sp>
    </p:spTree>
    <p:extLst>
      <p:ext uri="{BB962C8B-B14F-4D97-AF65-F5344CB8AC3E}">
        <p14:creationId xmlns:p14="http://schemas.microsoft.com/office/powerpoint/2010/main" val="301442888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46</a:t>
            </a:fld>
            <a:endParaRPr lang="zh-TW" altLang="en-US"/>
          </a:p>
        </p:txBody>
      </p:sp>
    </p:spTree>
    <p:extLst>
      <p:ext uri="{BB962C8B-B14F-4D97-AF65-F5344CB8AC3E}">
        <p14:creationId xmlns:p14="http://schemas.microsoft.com/office/powerpoint/2010/main" val="103756146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47</a:t>
            </a:fld>
            <a:endParaRPr lang="zh-TW" altLang="en-US"/>
          </a:p>
        </p:txBody>
      </p:sp>
    </p:spTree>
    <p:extLst>
      <p:ext uri="{BB962C8B-B14F-4D97-AF65-F5344CB8AC3E}">
        <p14:creationId xmlns:p14="http://schemas.microsoft.com/office/powerpoint/2010/main" val="284300620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48</a:t>
            </a:fld>
            <a:endParaRPr lang="zh-TW" altLang="en-US"/>
          </a:p>
        </p:txBody>
      </p:sp>
    </p:spTree>
    <p:extLst>
      <p:ext uri="{BB962C8B-B14F-4D97-AF65-F5344CB8AC3E}">
        <p14:creationId xmlns:p14="http://schemas.microsoft.com/office/powerpoint/2010/main" val="73548805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49</a:t>
            </a:fld>
            <a:endParaRPr lang="zh-TW" altLang="en-US"/>
          </a:p>
        </p:txBody>
      </p:sp>
    </p:spTree>
    <p:extLst>
      <p:ext uri="{BB962C8B-B14F-4D97-AF65-F5344CB8AC3E}">
        <p14:creationId xmlns:p14="http://schemas.microsoft.com/office/powerpoint/2010/main" val="24790605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122363"/>
            <a:ext cx="9144000" cy="2387600"/>
          </a:xfrm>
        </p:spPr>
        <p:txBody>
          <a:bodyPr anchor="b"/>
          <a:lstStyle>
            <a:lvl1pPr algn="ctr">
              <a:defRPr sz="6000"/>
            </a:lvl1pPr>
          </a:lstStyle>
          <a:p>
            <a:r>
              <a:rPr lang="zh-TW" altLang="en-US" smtClean="0"/>
              <a:t>按一下以編輯母片標題樣式</a:t>
            </a:r>
            <a:endParaRPr lang="zh-TW" altLang="en-US"/>
          </a:p>
        </p:txBody>
      </p:sp>
      <p:sp>
        <p:nvSpPr>
          <p:cNvPr id="3" name="副標題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smtClean="0"/>
              <a:t>按一下以編輯母片副標題樣式</a:t>
            </a:r>
            <a:endParaRPr lang="zh-TW" altLang="en-US"/>
          </a:p>
        </p:txBody>
      </p:sp>
      <p:sp>
        <p:nvSpPr>
          <p:cNvPr id="4" name="日期版面配置區 3"/>
          <p:cNvSpPr>
            <a:spLocks noGrp="1"/>
          </p:cNvSpPr>
          <p:nvPr>
            <p:ph type="dt" sz="half" idx="10"/>
          </p:nvPr>
        </p:nvSpPr>
        <p:spPr/>
        <p:txBody>
          <a:bodyPr/>
          <a:lstStyle/>
          <a:p>
            <a:fld id="{4153904B-E9F6-4A63-9321-8B53EF9082B8}" type="datetime1">
              <a:rPr lang="zh-TW" altLang="en-US" smtClean="0"/>
              <a:t>2017/7/18</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2406276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idx="1"/>
          </p:nvPr>
        </p:nvSpPr>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fld id="{B89927CF-A6F7-43B0-90D0-CDEC21A23250}" type="datetime1">
              <a:rPr lang="zh-TW" altLang="en-US" smtClean="0"/>
              <a:t>2017/7/18</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7203116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831850" y="1709738"/>
            <a:ext cx="10515600" cy="2852737"/>
          </a:xfrm>
        </p:spPr>
        <p:txBody>
          <a:bodyPr anchor="b"/>
          <a:lstStyle>
            <a:lvl1pPr>
              <a:defRPr sz="6000"/>
            </a:lvl1p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smtClean="0"/>
              <a:t>按一下以編輯母片文字樣式</a:t>
            </a:r>
          </a:p>
        </p:txBody>
      </p:sp>
      <p:sp>
        <p:nvSpPr>
          <p:cNvPr id="4" name="日期版面配置區 3"/>
          <p:cNvSpPr>
            <a:spLocks noGrp="1"/>
          </p:cNvSpPr>
          <p:nvPr>
            <p:ph type="dt" sz="half" idx="10"/>
          </p:nvPr>
        </p:nvSpPr>
        <p:spPr/>
        <p:txBody>
          <a:bodyPr/>
          <a:lstStyle/>
          <a:p>
            <a:fld id="{F8DFD6DD-473C-4721-8B5F-E6B98DD8F841}" type="datetime1">
              <a:rPr lang="zh-TW" altLang="en-US" smtClean="0"/>
              <a:t>2017/7/18</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557646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sz="half" idx="1"/>
          </p:nvPr>
        </p:nvSpPr>
        <p:spPr>
          <a:xfrm>
            <a:off x="838200" y="1825625"/>
            <a:ext cx="5181600" cy="435133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內容版面配置區 3"/>
          <p:cNvSpPr>
            <a:spLocks noGrp="1"/>
          </p:cNvSpPr>
          <p:nvPr>
            <p:ph sz="half" idx="2"/>
          </p:nvPr>
        </p:nvSpPr>
        <p:spPr>
          <a:xfrm>
            <a:off x="6172200" y="1825625"/>
            <a:ext cx="5181600" cy="435133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日期版面配置區 4"/>
          <p:cNvSpPr>
            <a:spLocks noGrp="1"/>
          </p:cNvSpPr>
          <p:nvPr>
            <p:ph type="dt" sz="half" idx="10"/>
          </p:nvPr>
        </p:nvSpPr>
        <p:spPr/>
        <p:txBody>
          <a:bodyPr/>
          <a:lstStyle/>
          <a:p>
            <a:fld id="{DF6461C6-5BEC-4AE5-90A4-B778A3A55AE2}" type="datetime1">
              <a:rPr lang="zh-TW" altLang="en-US" smtClean="0"/>
              <a:t>2017/7/18</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8474498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839788" y="365125"/>
            <a:ext cx="10515600" cy="1325563"/>
          </a:xfrm>
        </p:spPr>
        <p:txBody>
          <a:body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4" name="內容版面配置區 3"/>
          <p:cNvSpPr>
            <a:spLocks noGrp="1"/>
          </p:cNvSpPr>
          <p:nvPr>
            <p:ph sz="half" idx="2"/>
          </p:nvPr>
        </p:nvSpPr>
        <p:spPr>
          <a:xfrm>
            <a:off x="839788" y="2505075"/>
            <a:ext cx="5157787" cy="368458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文字版面配置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6" name="內容版面配置區 5"/>
          <p:cNvSpPr>
            <a:spLocks noGrp="1"/>
          </p:cNvSpPr>
          <p:nvPr>
            <p:ph sz="quarter" idx="4"/>
          </p:nvPr>
        </p:nvSpPr>
        <p:spPr>
          <a:xfrm>
            <a:off x="6172200" y="2505075"/>
            <a:ext cx="5183188" cy="368458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7" name="日期版面配置區 6"/>
          <p:cNvSpPr>
            <a:spLocks noGrp="1"/>
          </p:cNvSpPr>
          <p:nvPr>
            <p:ph type="dt" sz="half" idx="10"/>
          </p:nvPr>
        </p:nvSpPr>
        <p:spPr/>
        <p:txBody>
          <a:bodyPr/>
          <a:lstStyle/>
          <a:p>
            <a:fld id="{2FA54954-A9C2-4BCD-ADC6-F33B3A2DD421}" type="datetime1">
              <a:rPr lang="zh-TW" altLang="en-US" smtClean="0"/>
              <a:t>2017/7/18</a:t>
            </a:fld>
            <a:endParaRPr lang="zh-TW" altLang="en-US"/>
          </a:p>
        </p:txBody>
      </p:sp>
      <p:sp>
        <p:nvSpPr>
          <p:cNvPr id="8" name="頁尾版面配置區 7"/>
          <p:cNvSpPr>
            <a:spLocks noGrp="1"/>
          </p:cNvSpPr>
          <p:nvPr>
            <p:ph type="ftr" sz="quarter" idx="11"/>
          </p:nvPr>
        </p:nvSpPr>
        <p:spPr/>
        <p:txBody>
          <a:bodyPr/>
          <a:lstStyle/>
          <a:p>
            <a:endParaRPr lang="zh-TW" altLang="en-US"/>
          </a:p>
        </p:txBody>
      </p:sp>
      <p:sp>
        <p:nvSpPr>
          <p:cNvPr id="9" name="投影片編號版面配置區 8"/>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545426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日期版面配置區 2"/>
          <p:cNvSpPr>
            <a:spLocks noGrp="1"/>
          </p:cNvSpPr>
          <p:nvPr>
            <p:ph type="dt" sz="half" idx="10"/>
          </p:nvPr>
        </p:nvSpPr>
        <p:spPr/>
        <p:txBody>
          <a:bodyPr/>
          <a:lstStyle/>
          <a:p>
            <a:fld id="{A5D6EE24-E238-4020-B5A1-5E17B4DC8B80}" type="datetime1">
              <a:rPr lang="zh-TW" altLang="en-US" smtClean="0"/>
              <a:t>2017/7/18</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2927633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fld id="{8C06B0CF-45CC-4969-877E-2464855938BB}" type="datetime1">
              <a:rPr lang="zh-TW" altLang="en-US" smtClean="0"/>
              <a:t>2017/7/18</a:t>
            </a:fld>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7633113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smtClean="0"/>
              <a:t>按一下以編輯母片標題樣式</a:t>
            </a:r>
            <a:endParaRPr lang="zh-TW" altLang="en-US"/>
          </a:p>
        </p:txBody>
      </p:sp>
      <p:sp>
        <p:nvSpPr>
          <p:cNvPr id="3" name="內容版面配置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smtClean="0"/>
              <a:t>按一下以編輯母片文字樣式</a:t>
            </a:r>
          </a:p>
        </p:txBody>
      </p:sp>
      <p:sp>
        <p:nvSpPr>
          <p:cNvPr id="5" name="日期版面配置區 4"/>
          <p:cNvSpPr>
            <a:spLocks noGrp="1"/>
          </p:cNvSpPr>
          <p:nvPr>
            <p:ph type="dt" sz="half" idx="10"/>
          </p:nvPr>
        </p:nvSpPr>
        <p:spPr/>
        <p:txBody>
          <a:bodyPr/>
          <a:lstStyle/>
          <a:p>
            <a:fld id="{D2750318-5FC8-4C13-9F2A-558D72B9C5CD}" type="datetime1">
              <a:rPr lang="zh-TW" altLang="en-US" smtClean="0"/>
              <a:t>2017/7/18</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0666859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smtClean="0"/>
              <a:t>按一下以編輯母片標題樣式</a:t>
            </a:r>
            <a:endParaRPr lang="zh-TW" altLang="en-US"/>
          </a:p>
        </p:txBody>
      </p:sp>
      <p:sp>
        <p:nvSpPr>
          <p:cNvPr id="3" name="圖片版面配置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smtClean="0"/>
              <a:t>按一下以編輯母片文字樣式</a:t>
            </a:r>
          </a:p>
        </p:txBody>
      </p:sp>
      <p:sp>
        <p:nvSpPr>
          <p:cNvPr id="5" name="日期版面配置區 4"/>
          <p:cNvSpPr>
            <a:spLocks noGrp="1"/>
          </p:cNvSpPr>
          <p:nvPr>
            <p:ph type="dt" sz="half" idx="10"/>
          </p:nvPr>
        </p:nvSpPr>
        <p:spPr/>
        <p:txBody>
          <a:bodyPr/>
          <a:lstStyle/>
          <a:p>
            <a:fld id="{0E758968-8BB2-4DD1-A6CA-2F3ECF82673D}" type="datetime1">
              <a:rPr lang="zh-TW" altLang="en-US" smtClean="0"/>
              <a:t>2017/7/18</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9029795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fld id="{485F63C1-D7EF-47C8-A084-13F7B9E4BE01}" type="datetime1">
              <a:rPr lang="zh-TW" altLang="en-US" smtClean="0"/>
              <a:t>2017/7/18</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64014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8724900" y="365125"/>
            <a:ext cx="2628900" cy="5811838"/>
          </a:xfrm>
        </p:spPr>
        <p:txBody>
          <a:bodyPr vert="eaVert"/>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a:xfrm>
            <a:off x="838200" y="365125"/>
            <a:ext cx="7734300" cy="5811838"/>
          </a:xfrm>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fld id="{7F0FD99B-7AC8-416E-A0C6-BD02CB732637}" type="datetime1">
              <a:rPr lang="zh-TW" altLang="en-US" smtClean="0"/>
              <a:t>2017/7/18</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7032429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FC3F2BA-ED10-4604-83B4-04F9BD8F95E9}" type="datetime1">
              <a:rPr lang="zh-TW" altLang="en-US" smtClean="0"/>
              <a:t>2017/7/18</a:t>
            </a:fld>
            <a:endParaRPr lang="zh-TW" altLang="en-US"/>
          </a:p>
        </p:txBody>
      </p:sp>
      <p:sp>
        <p:nvSpPr>
          <p:cNvPr id="5" name="頁尾版面配置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36508941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9.png"/></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4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954364"/>
            <a:ext cx="9144000" cy="794009"/>
          </a:xfrm>
        </p:spPr>
        <p:txBody>
          <a:bodyPr>
            <a:noAutofit/>
          </a:bodyPr>
          <a:lstStyle/>
          <a:p>
            <a:pPr>
              <a:lnSpc>
                <a:spcPct val="150000"/>
              </a:lnSpc>
            </a:pPr>
            <a:r>
              <a:rPr lang="en-US" altLang="zh-TW" sz="3600" dirty="0" err="1" smtClean="0">
                <a:latin typeface="+mn-lt"/>
                <a:ea typeface="標楷體" panose="03000509000000000000" pitchFamily="65" charset="-120"/>
              </a:rPr>
              <a:t>IoT</a:t>
            </a:r>
            <a:r>
              <a:rPr lang="zh-TW" altLang="en-US" sz="3600" dirty="0" smtClean="0">
                <a:latin typeface="標楷體" panose="03000509000000000000" pitchFamily="65" charset="-120"/>
                <a:ea typeface="標楷體" panose="03000509000000000000" pitchFamily="65" charset="-120"/>
              </a:rPr>
              <a:t>整合管理平台之異常檢測和事件警報系統</a:t>
            </a:r>
            <a:endParaRPr lang="zh-TW" altLang="en-US" sz="3600" dirty="0">
              <a:latin typeface="標楷體" panose="03000509000000000000" pitchFamily="65" charset="-120"/>
              <a:ea typeface="標楷體" panose="03000509000000000000" pitchFamily="65" charset="-120"/>
            </a:endParaRPr>
          </a:p>
        </p:txBody>
      </p:sp>
      <p:sp>
        <p:nvSpPr>
          <p:cNvPr id="3" name="副標題 2"/>
          <p:cNvSpPr>
            <a:spLocks noGrp="1"/>
          </p:cNvSpPr>
          <p:nvPr>
            <p:ph type="subTitle" idx="1"/>
          </p:nvPr>
        </p:nvSpPr>
        <p:spPr>
          <a:xfrm>
            <a:off x="1524000" y="4720041"/>
            <a:ext cx="9144000" cy="1263601"/>
          </a:xfrm>
        </p:spPr>
        <p:txBody>
          <a:bodyPr>
            <a:normAutofit/>
          </a:bodyPr>
          <a:lstStyle/>
          <a:p>
            <a:r>
              <a:rPr lang="zh-TW" altLang="en-US" sz="2000" dirty="0" smtClean="0">
                <a:latin typeface="標楷體" panose="03000509000000000000" pitchFamily="65" charset="-120"/>
                <a:ea typeface="標楷體" panose="03000509000000000000" pitchFamily="65" charset="-120"/>
              </a:rPr>
              <a:t>榮騰翎</a:t>
            </a:r>
            <a:endParaRPr lang="en-US" altLang="zh-TW" sz="2000" dirty="0" smtClean="0">
              <a:latin typeface="標楷體" panose="03000509000000000000" pitchFamily="65" charset="-120"/>
              <a:ea typeface="標楷體" panose="03000509000000000000" pitchFamily="65" charset="-120"/>
            </a:endParaRPr>
          </a:p>
          <a:p>
            <a:r>
              <a:rPr lang="zh-TW" altLang="en-US" sz="2000" dirty="0" smtClean="0">
                <a:latin typeface="標楷體" panose="03000509000000000000" pitchFamily="65" charset="-120"/>
                <a:ea typeface="標楷體" panose="03000509000000000000" pitchFamily="65" charset="-120"/>
              </a:rPr>
              <a:t>指導教授：羅壽之</a:t>
            </a:r>
            <a:endParaRPr lang="en-US" altLang="zh-TW" sz="2000" dirty="0" smtClean="0">
              <a:latin typeface="標楷體" panose="03000509000000000000" pitchFamily="65" charset="-120"/>
              <a:ea typeface="標楷體" panose="03000509000000000000" pitchFamily="65" charset="-120"/>
            </a:endParaRPr>
          </a:p>
          <a:p>
            <a:r>
              <a:rPr lang="en-US" altLang="zh-TW" sz="2000" dirty="0" smtClean="0">
                <a:cs typeface="Times New Roman" panose="02020603050405020304" pitchFamily="18" charset="0"/>
              </a:rPr>
              <a:t>2017.07.20_wiseLab</a:t>
            </a:r>
            <a:endParaRPr lang="zh-TW" altLang="en-US" sz="2000" dirty="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標題 1"/>
          <p:cNvSpPr txBox="1">
            <a:spLocks/>
          </p:cNvSpPr>
          <p:nvPr/>
        </p:nvSpPr>
        <p:spPr>
          <a:xfrm>
            <a:off x="1524000" y="2748373"/>
            <a:ext cx="9144000" cy="117765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00000"/>
              </a:lnSpc>
            </a:pPr>
            <a:r>
              <a:rPr lang="en-US" altLang="zh-TW" sz="2800" dirty="0" smtClean="0">
                <a:latin typeface="+mn-lt"/>
                <a:cs typeface="Times New Roman" panose="02020603050405020304" pitchFamily="18" charset="0"/>
              </a:rPr>
              <a:t>Anomaly Detection and Event Alert System for </a:t>
            </a:r>
            <a:r>
              <a:rPr lang="en-US" altLang="zh-TW" sz="2800" dirty="0" err="1" smtClean="0">
                <a:latin typeface="+mn-lt"/>
                <a:cs typeface="Times New Roman" panose="02020603050405020304" pitchFamily="18" charset="0"/>
              </a:rPr>
              <a:t>IoT</a:t>
            </a:r>
            <a:r>
              <a:rPr lang="en-US" altLang="zh-TW" sz="2800" dirty="0" smtClean="0">
                <a:latin typeface="+mn-lt"/>
                <a:cs typeface="Times New Roman" panose="02020603050405020304" pitchFamily="18" charset="0"/>
              </a:rPr>
              <a:t> Integrated Management Platform</a:t>
            </a:r>
            <a:endParaRPr lang="zh-TW" altLang="en-US" sz="2800" dirty="0">
              <a:latin typeface="+mn-lt"/>
              <a:cs typeface="Times New Roman" panose="02020603050405020304" pitchFamily="18" charset="0"/>
            </a:endParaRPr>
          </a:p>
        </p:txBody>
      </p:sp>
      <p:sp>
        <p:nvSpPr>
          <p:cNvPr id="8" name="投影片編號版面配置區 7"/>
          <p:cNvSpPr>
            <a:spLocks noGrp="1"/>
          </p:cNvSpPr>
          <p:nvPr>
            <p:ph type="sldNum" sz="quarter" idx="12"/>
          </p:nvPr>
        </p:nvSpPr>
        <p:spPr/>
        <p:txBody>
          <a:bodyPr/>
          <a:lstStyle/>
          <a:p>
            <a:fld id="{914C6EE6-3FC0-42F2-A2AA-2F8392A95B97}" type="slidenum">
              <a:rPr lang="zh-TW" altLang="en-US" smtClean="0"/>
              <a:t>1</a:t>
            </a:fld>
            <a:endParaRPr lang="zh-TW" altLang="en-US" dirty="0"/>
          </a:p>
        </p:txBody>
      </p:sp>
    </p:spTree>
    <p:extLst>
      <p:ext uri="{BB962C8B-B14F-4D97-AF65-F5344CB8AC3E}">
        <p14:creationId xmlns:p14="http://schemas.microsoft.com/office/powerpoint/2010/main" val="239899889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t>Outline</a:t>
            </a:r>
            <a:endParaRPr lang="zh-TW" altLang="en-US" sz="3200" dirty="0"/>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kumimoji="1" lang="zh-TW" altLang="en-US" dirty="0" smtClean="0">
                <a:latin typeface="標楷體" charset="0"/>
                <a:ea typeface="標楷體" charset="0"/>
                <a:cs typeface="標楷體" charset="0"/>
              </a:rPr>
              <a:t>研究動機與目的</a:t>
            </a:r>
            <a:endParaRPr kumimoji="1" lang="en-US" altLang="zh-TW" dirty="0">
              <a:latin typeface="標楷體" charset="0"/>
              <a:ea typeface="標楷體" charset="0"/>
              <a:cs typeface="標楷體" charset="0"/>
            </a:endParaRPr>
          </a:p>
          <a:p>
            <a:r>
              <a:rPr kumimoji="1" lang="zh-TW" altLang="en-US" dirty="0" smtClean="0">
                <a:latin typeface="標楷體" charset="0"/>
                <a:ea typeface="標楷體" charset="0"/>
                <a:cs typeface="標楷體" charset="0"/>
              </a:rPr>
              <a:t>相關議題</a:t>
            </a:r>
            <a:endParaRPr kumimoji="1" lang="zh-TW" altLang="en-US" dirty="0">
              <a:latin typeface="標楷體" charset="0"/>
              <a:ea typeface="標楷體" charset="0"/>
              <a:cs typeface="標楷體" charset="0"/>
            </a:endParaRPr>
          </a:p>
          <a:p>
            <a:r>
              <a:rPr kumimoji="1" lang="zh-TW" altLang="en-US" dirty="0" smtClean="0">
                <a:latin typeface="標楷體" charset="0"/>
                <a:ea typeface="標楷體" charset="0"/>
                <a:cs typeface="標楷體" charset="0"/>
              </a:rPr>
              <a:t>研究方法</a:t>
            </a:r>
            <a:endParaRPr kumimoji="1" lang="en-US" altLang="zh-TW" dirty="0" smtClean="0">
              <a:latin typeface="標楷體" charset="0"/>
              <a:ea typeface="標楷體" charset="0"/>
              <a:cs typeface="標楷體" charset="0"/>
            </a:endParaRPr>
          </a:p>
          <a:p>
            <a:r>
              <a:rPr kumimoji="1" lang="zh-TW" altLang="en-US" dirty="0" smtClean="0">
                <a:latin typeface="標楷體" charset="0"/>
                <a:ea typeface="標楷體" charset="0"/>
                <a:cs typeface="標楷體" charset="0"/>
              </a:rPr>
              <a:t>實驗一</a:t>
            </a:r>
            <a:endParaRPr kumimoji="1" lang="en-US" altLang="zh-TW" dirty="0" smtClean="0">
              <a:latin typeface="標楷體" charset="0"/>
              <a:ea typeface="標楷體" charset="0"/>
              <a:cs typeface="標楷體" charset="0"/>
            </a:endParaRPr>
          </a:p>
          <a:p>
            <a:r>
              <a:rPr kumimoji="1" lang="zh-TW" altLang="en-US" dirty="0" smtClean="0">
                <a:latin typeface="標楷體" charset="0"/>
                <a:ea typeface="標楷體" charset="0"/>
                <a:cs typeface="標楷體" charset="0"/>
              </a:rPr>
              <a:t>實驗二</a:t>
            </a:r>
            <a:endParaRPr kumimoji="1" lang="en-US" altLang="zh-TW" dirty="0" smtClean="0">
              <a:latin typeface="標楷體" charset="0"/>
              <a:ea typeface="標楷體" charset="0"/>
              <a:cs typeface="標楷體" charset="0"/>
            </a:endParaRPr>
          </a:p>
          <a:p>
            <a:r>
              <a:rPr kumimoji="1" lang="zh-TW" altLang="en-US" dirty="0" smtClean="0">
                <a:latin typeface="標楷體" charset="0"/>
                <a:ea typeface="標楷體" charset="0"/>
                <a:cs typeface="標楷體" charset="0"/>
              </a:rPr>
              <a:t>結論</a:t>
            </a:r>
            <a:endParaRPr kumimoji="1" lang="zh-TW" altLang="en-US" dirty="0">
              <a:latin typeface="標楷體" charset="0"/>
              <a:ea typeface="標楷體" charset="0"/>
              <a:cs typeface="標楷體" charset="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2</a:t>
            </a:fld>
            <a:endParaRPr lang="zh-TW" altLang="en-US"/>
          </a:p>
        </p:txBody>
      </p:sp>
    </p:spTree>
    <p:extLst>
      <p:ext uri="{BB962C8B-B14F-4D97-AF65-F5344CB8AC3E}">
        <p14:creationId xmlns:p14="http://schemas.microsoft.com/office/powerpoint/2010/main" val="325124482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研究動機與目的</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3</a:t>
            </a:fld>
            <a:endParaRPr lang="zh-TW" altLang="en-US"/>
          </a:p>
        </p:txBody>
      </p:sp>
    </p:spTree>
    <p:extLst>
      <p:ext uri="{BB962C8B-B14F-4D97-AF65-F5344CB8AC3E}">
        <p14:creationId xmlns:p14="http://schemas.microsoft.com/office/powerpoint/2010/main" val="85982747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資料共享</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a:latin typeface="標楷體" panose="03000509000000000000" pitchFamily="65" charset="-120"/>
                <a:ea typeface="標楷體" panose="03000509000000000000" pitchFamily="65" charset="-120"/>
              </a:rPr>
              <a:t>政府資料開放平台</a:t>
            </a:r>
            <a:r>
              <a:rPr lang="zh-TW" altLang="en-US" dirty="0">
                <a:ea typeface="標楷體" panose="03000509000000000000" pitchFamily="65" charset="-120"/>
              </a:rPr>
              <a:t>（</a:t>
            </a:r>
            <a:r>
              <a:rPr lang="en-US" altLang="zh-TW" dirty="0">
                <a:ea typeface="標楷體" panose="03000509000000000000" pitchFamily="65" charset="-120"/>
              </a:rPr>
              <a:t>data.gov.tw</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endParaRPr lang="en-US" altLang="zh-TW" dirty="0">
              <a:latin typeface="標楷體" panose="03000509000000000000" pitchFamily="65" charset="-120"/>
              <a:ea typeface="標楷體" panose="03000509000000000000" pitchFamily="65" charset="-120"/>
            </a:endParaRPr>
          </a:p>
          <a:p>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原始資料對一般使用者參考價值較低</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無拖管私人資料來源的方式</a:t>
            </a:r>
            <a:endParaRPr lang="zh-TW" altLang="en-US" dirty="0">
              <a:latin typeface="標楷體" panose="03000509000000000000" pitchFamily="65" charset="-120"/>
              <a:ea typeface="標楷體" panose="03000509000000000000" pitchFamily="65" charset="-120"/>
            </a:endParaRPr>
          </a:p>
        </p:txBody>
      </p:sp>
      <p:pic>
        <p:nvPicPr>
          <p:cNvPr id="6" name="圖片 5"/>
          <p:cNvPicPr>
            <a:picLocks noChangeAspect="1"/>
          </p:cNvPicPr>
          <p:nvPr/>
        </p:nvPicPr>
        <p:blipFill>
          <a:blip r:embed="rId3"/>
          <a:stretch>
            <a:fillRect/>
          </a:stretch>
        </p:blipFill>
        <p:spPr>
          <a:xfrm>
            <a:off x="1204523" y="2457450"/>
            <a:ext cx="2505075" cy="647700"/>
          </a:xfrm>
          <a:prstGeom prst="rect">
            <a:avLst/>
          </a:prstGeom>
        </p:spPr>
      </p:pic>
      <p:sp>
        <p:nvSpPr>
          <p:cNvPr id="7" name="投影片編號版面配置區 6"/>
          <p:cNvSpPr>
            <a:spLocks noGrp="1"/>
          </p:cNvSpPr>
          <p:nvPr>
            <p:ph type="sldNum" sz="quarter" idx="12"/>
          </p:nvPr>
        </p:nvSpPr>
        <p:spPr/>
        <p:txBody>
          <a:bodyPr/>
          <a:lstStyle/>
          <a:p>
            <a:fld id="{914C6EE6-3FC0-42F2-A2AA-2F8392A95B97}" type="slidenum">
              <a:rPr lang="zh-TW" altLang="en-US" smtClean="0"/>
              <a:t>4</a:t>
            </a:fld>
            <a:endParaRPr lang="zh-TW" altLang="en-US"/>
          </a:p>
        </p:txBody>
      </p:sp>
    </p:spTree>
    <p:extLst>
      <p:ext uri="{BB962C8B-B14F-4D97-AF65-F5344CB8AC3E}">
        <p14:creationId xmlns:p14="http://schemas.microsoft.com/office/powerpoint/2010/main" val="371017762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資料分析</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環境狀態改變或情境事件發生通常</a:t>
            </a:r>
            <a:r>
              <a:rPr lang="zh-TW" altLang="en-US" dirty="0">
                <a:latin typeface="標楷體" panose="03000509000000000000" pitchFamily="65" charset="-120"/>
                <a:ea typeface="標楷體" panose="03000509000000000000" pitchFamily="65" charset="-120"/>
              </a:rPr>
              <a:t>會</a:t>
            </a:r>
            <a:r>
              <a:rPr lang="zh-TW" altLang="en-US" dirty="0" smtClean="0">
                <a:latin typeface="標楷體" panose="03000509000000000000" pitchFamily="65" charset="-120"/>
                <a:ea typeface="標楷體" panose="03000509000000000000" pitchFamily="65" charset="-120"/>
              </a:rPr>
              <a:t>造成環境監控數值的變化。</a:t>
            </a:r>
            <a:endParaRPr lang="en-US" altLang="zh-TW" dirty="0" smtClean="0">
              <a:latin typeface="標楷體" panose="03000509000000000000" pitchFamily="65" charset="-12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隨著事件發生後所經過的時間越長</a:t>
            </a:r>
            <a:r>
              <a:rPr lang="zh-TW" altLang="en-US" dirty="0" smtClean="0">
                <a:latin typeface="標楷體" panose="03000509000000000000" pitchFamily="65" charset="-120"/>
                <a:ea typeface="標楷體" panose="03000509000000000000" pitchFamily="65" charset="-120"/>
              </a:rPr>
              <a:t>，回報</a:t>
            </a:r>
            <a:r>
              <a:rPr lang="zh-TW" altLang="en-US" dirty="0">
                <a:latin typeface="標楷體" panose="03000509000000000000" pitchFamily="65" charset="-120"/>
                <a:ea typeface="標楷體" panose="03000509000000000000" pitchFamily="65" charset="-120"/>
              </a:rPr>
              <a:t>的訊息價值也越</a:t>
            </a:r>
            <a:r>
              <a:rPr lang="zh-TW" altLang="en-US" dirty="0" smtClean="0">
                <a:latin typeface="標楷體" panose="03000509000000000000" pitchFamily="65" charset="-120"/>
                <a:ea typeface="標楷體" panose="03000509000000000000" pitchFamily="65" charset="-120"/>
              </a:rPr>
              <a:t>低。</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即時串流的偵測演算法必須輕量有效。</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5</a:t>
            </a:fld>
            <a:endParaRPr lang="zh-TW" altLang="en-US"/>
          </a:p>
        </p:txBody>
      </p:sp>
    </p:spTree>
    <p:extLst>
      <p:ext uri="{BB962C8B-B14F-4D97-AF65-F5344CB8AC3E}">
        <p14:creationId xmlns:p14="http://schemas.microsoft.com/office/powerpoint/2010/main" val="185921716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相關議題</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6</a:t>
            </a:fld>
            <a:endParaRPr lang="zh-TW" altLang="en-US"/>
          </a:p>
        </p:txBody>
      </p:sp>
    </p:spTree>
    <p:extLst>
      <p:ext uri="{BB962C8B-B14F-4D97-AF65-F5344CB8AC3E}">
        <p14:creationId xmlns:p14="http://schemas.microsoft.com/office/powerpoint/2010/main" val="216802444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何謂異常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a:latin typeface="標楷體" panose="03000509000000000000" pitchFamily="65" charset="-120"/>
                <a:ea typeface="標楷體" panose="03000509000000000000" pitchFamily="65" charset="-120"/>
              </a:rPr>
              <a:t>在資料集中還未被</a:t>
            </a:r>
            <a:r>
              <a:rPr lang="zh-TW" altLang="en-US" dirty="0" smtClean="0">
                <a:latin typeface="標楷體" panose="03000509000000000000" pitchFamily="65" charset="-120"/>
                <a:ea typeface="標楷體" panose="03000509000000000000" pitchFamily="65" charset="-120"/>
              </a:rPr>
              <a:t>清楚</a:t>
            </a:r>
            <a:r>
              <a:rPr lang="zh-TW" altLang="en-US" dirty="0">
                <a:latin typeface="標楷體" panose="03000509000000000000" pitchFamily="65" charset="-120"/>
                <a:ea typeface="標楷體" panose="03000509000000000000" pitchFamily="65" charset="-120"/>
              </a:rPr>
              <a:t>定義的資料</a:t>
            </a:r>
            <a:r>
              <a:rPr lang="zh-TW" altLang="en-US" dirty="0" smtClean="0">
                <a:latin typeface="標楷體" panose="03000509000000000000" pitchFamily="65" charset="-120"/>
                <a:ea typeface="標楷體" panose="03000509000000000000" pitchFamily="65" charset="-120"/>
              </a:rPr>
              <a:t>特徵。</a:t>
            </a:r>
            <a:endParaRPr lang="en-US" altLang="zh-TW" dirty="0" smtClean="0">
              <a:latin typeface="標楷體" panose="03000509000000000000" pitchFamily="65" charset="-12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不同異常</a:t>
            </a:r>
            <a:r>
              <a:rPr lang="zh-TW" altLang="en-US" dirty="0" smtClean="0">
                <a:latin typeface="標楷體" panose="03000509000000000000" pitchFamily="65" charset="-120"/>
                <a:ea typeface="標楷體" panose="03000509000000000000" pitchFamily="65" charset="-120"/>
              </a:rPr>
              <a:t>事件會</a:t>
            </a:r>
            <a:r>
              <a:rPr lang="zh-TW" altLang="en-US" dirty="0">
                <a:latin typeface="標楷體" panose="03000509000000000000" pitchFamily="65" charset="-120"/>
                <a:ea typeface="標楷體" panose="03000509000000000000" pitchFamily="65" charset="-120"/>
              </a:rPr>
              <a:t>有不同的表現模式，混雜於大多數正常的狀態</a:t>
            </a:r>
            <a:r>
              <a:rPr lang="zh-TW" altLang="en-US" dirty="0" smtClean="0">
                <a:latin typeface="標楷體" panose="03000509000000000000" pitchFamily="65" charset="-120"/>
                <a:ea typeface="標楷體" panose="03000509000000000000" pitchFamily="65" charset="-120"/>
              </a:rPr>
              <a:t>中。</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7</a:t>
            </a:fld>
            <a:endParaRPr lang="zh-TW" altLang="en-US"/>
          </a:p>
        </p:txBody>
      </p:sp>
    </p:spTree>
    <p:extLst>
      <p:ext uri="{BB962C8B-B14F-4D97-AF65-F5344CB8AC3E}">
        <p14:creationId xmlns:p14="http://schemas.microsoft.com/office/powerpoint/2010/main" val="284855946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異常的種類</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單</a:t>
            </a:r>
            <a:r>
              <a:rPr lang="zh-TW" altLang="en-US" dirty="0">
                <a:latin typeface="標楷體" panose="03000509000000000000" pitchFamily="65" charset="-120"/>
                <a:ea typeface="標楷體" panose="03000509000000000000" pitchFamily="65" charset="-120"/>
              </a:rPr>
              <a:t>點異常</a:t>
            </a:r>
            <a:r>
              <a:rPr lang="zh-TW" altLang="en-US" dirty="0">
                <a:ea typeface="標楷體" panose="03000509000000000000" pitchFamily="65" charset="-120"/>
              </a:rPr>
              <a:t>（</a:t>
            </a:r>
            <a:r>
              <a:rPr lang="en-US" altLang="zh-TW" dirty="0">
                <a:ea typeface="標楷體" panose="03000509000000000000" pitchFamily="65" charset="-120"/>
              </a:rPr>
              <a:t>point anomaly</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集體</a:t>
            </a:r>
            <a:r>
              <a:rPr lang="zh-TW" altLang="en-US" dirty="0">
                <a:latin typeface="標楷體" panose="03000509000000000000" pitchFamily="65" charset="-120"/>
                <a:ea typeface="標楷體" panose="03000509000000000000" pitchFamily="65" charset="-120"/>
              </a:rPr>
              <a:t>異常</a:t>
            </a:r>
            <a:r>
              <a:rPr lang="zh-TW" altLang="en-US" dirty="0">
                <a:ea typeface="標楷體" panose="03000509000000000000" pitchFamily="65" charset="-120"/>
              </a:rPr>
              <a:t>（</a:t>
            </a:r>
            <a:r>
              <a:rPr lang="en-US" altLang="zh-TW" dirty="0">
                <a:ea typeface="標楷體" panose="03000509000000000000" pitchFamily="65" charset="-120"/>
              </a:rPr>
              <a:t>collective anomaly</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條件式異常</a:t>
            </a:r>
            <a:r>
              <a:rPr lang="zh-TW" altLang="en-US" dirty="0">
                <a:ea typeface="標楷體" panose="03000509000000000000" pitchFamily="65" charset="-120"/>
              </a:rPr>
              <a:t>（</a:t>
            </a:r>
            <a:r>
              <a:rPr lang="en-US" altLang="zh-TW" dirty="0">
                <a:ea typeface="標楷體" panose="03000509000000000000" pitchFamily="65" charset="-120"/>
              </a:rPr>
              <a:t>conditional or contextual anomaly</a:t>
            </a:r>
            <a:r>
              <a:rPr lang="zh-TW" altLang="en-US" dirty="0" smtClean="0">
                <a:ea typeface="標楷體" panose="03000509000000000000" pitchFamily="65" charset="-120"/>
              </a:rPr>
              <a:t>）</a:t>
            </a:r>
            <a:endParaRPr lang="en-US" altLang="zh-TW" dirty="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8</a:t>
            </a:fld>
            <a:endParaRPr lang="zh-TW" altLang="en-US"/>
          </a:p>
        </p:txBody>
      </p:sp>
    </p:spTree>
    <p:extLst>
      <p:ext uri="{BB962C8B-B14F-4D97-AF65-F5344CB8AC3E}">
        <p14:creationId xmlns:p14="http://schemas.microsoft.com/office/powerpoint/2010/main" val="355089682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單點異常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6" name="內容版面配置區 5"/>
          <p:cNvPicPr>
            <a:picLocks noGrp="1" noChangeAspect="1"/>
          </p:cNvPicPr>
          <p:nvPr>
            <p:ph idx="1"/>
          </p:nvPr>
        </p:nvPicPr>
        <p:blipFill>
          <a:blip r:embed="rId3"/>
          <a:stretch>
            <a:fillRect/>
          </a:stretch>
        </p:blipFill>
        <p:spPr>
          <a:xfrm>
            <a:off x="1906824" y="2008675"/>
            <a:ext cx="8378352" cy="4351338"/>
          </a:xfrm>
          <a:prstGeom prst="rect">
            <a:avLst/>
          </a:prstGeom>
        </p:spPr>
      </p:pic>
      <p:sp>
        <p:nvSpPr>
          <p:cNvPr id="7" name="橢圓 6"/>
          <p:cNvSpPr/>
          <p:nvPr/>
        </p:nvSpPr>
        <p:spPr>
          <a:xfrm>
            <a:off x="4273420" y="2202025"/>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橢圓 7"/>
          <p:cNvSpPr/>
          <p:nvPr/>
        </p:nvSpPr>
        <p:spPr>
          <a:xfrm>
            <a:off x="6117772" y="5862735"/>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橢圓 8"/>
          <p:cNvSpPr/>
          <p:nvPr/>
        </p:nvSpPr>
        <p:spPr>
          <a:xfrm>
            <a:off x="7971452" y="318485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橢圓 9"/>
          <p:cNvSpPr/>
          <p:nvPr/>
        </p:nvSpPr>
        <p:spPr>
          <a:xfrm>
            <a:off x="8130073" y="2574987"/>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9</a:t>
            </a:fld>
            <a:endParaRPr lang="zh-TW" altLang="en-US"/>
          </a:p>
        </p:txBody>
      </p:sp>
    </p:spTree>
    <p:extLst>
      <p:ext uri="{BB962C8B-B14F-4D97-AF65-F5344CB8AC3E}">
        <p14:creationId xmlns:p14="http://schemas.microsoft.com/office/powerpoint/2010/main" val="159226682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集體異常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noChangeAspect="1"/>
          </p:cNvPicPr>
          <p:nvPr>
            <p:ph idx="1"/>
          </p:nvPr>
        </p:nvPicPr>
        <p:blipFill>
          <a:blip r:embed="rId3"/>
          <a:stretch>
            <a:fillRect/>
          </a:stretch>
        </p:blipFill>
        <p:spPr>
          <a:xfrm>
            <a:off x="1893680" y="1875813"/>
            <a:ext cx="8404639" cy="4351338"/>
          </a:xfrm>
          <a:prstGeom prst="rect">
            <a:avLst/>
          </a:prstGeom>
        </p:spPr>
      </p:pic>
      <p:sp>
        <p:nvSpPr>
          <p:cNvPr id="8" name="橢圓 7"/>
          <p:cNvSpPr/>
          <p:nvPr/>
        </p:nvSpPr>
        <p:spPr>
          <a:xfrm>
            <a:off x="5548604" y="2074363"/>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橢圓 8"/>
          <p:cNvSpPr/>
          <p:nvPr/>
        </p:nvSpPr>
        <p:spPr>
          <a:xfrm>
            <a:off x="5699682" y="2472614"/>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橢圓 9"/>
          <p:cNvSpPr/>
          <p:nvPr/>
        </p:nvSpPr>
        <p:spPr>
          <a:xfrm>
            <a:off x="5856513" y="2119694"/>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橢圓 10"/>
          <p:cNvSpPr/>
          <p:nvPr/>
        </p:nvSpPr>
        <p:spPr>
          <a:xfrm>
            <a:off x="6005337" y="2295331"/>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p:nvSpPr>
        <p:spPr>
          <a:xfrm>
            <a:off x="6139077" y="2121482"/>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橢圓 12"/>
          <p:cNvSpPr/>
          <p:nvPr/>
        </p:nvSpPr>
        <p:spPr>
          <a:xfrm>
            <a:off x="6295053" y="241352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橢圓 13"/>
          <p:cNvSpPr/>
          <p:nvPr/>
        </p:nvSpPr>
        <p:spPr>
          <a:xfrm>
            <a:off x="6447452" y="221400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橢圓 14"/>
          <p:cNvSpPr/>
          <p:nvPr/>
        </p:nvSpPr>
        <p:spPr>
          <a:xfrm>
            <a:off x="6599852" y="2306449"/>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橢圓 15"/>
          <p:cNvSpPr/>
          <p:nvPr/>
        </p:nvSpPr>
        <p:spPr>
          <a:xfrm>
            <a:off x="6727838" y="2239348"/>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 name="橢圓 16"/>
          <p:cNvSpPr/>
          <p:nvPr/>
        </p:nvSpPr>
        <p:spPr>
          <a:xfrm>
            <a:off x="6882417" y="243086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10</a:t>
            </a:fld>
            <a:endParaRPr lang="zh-TW" altLang="en-US"/>
          </a:p>
        </p:txBody>
      </p:sp>
    </p:spTree>
    <p:extLst>
      <p:ext uri="{BB962C8B-B14F-4D97-AF65-F5344CB8AC3E}">
        <p14:creationId xmlns:p14="http://schemas.microsoft.com/office/powerpoint/2010/main" val="214254766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條件式異常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noChangeAspect="1"/>
          </p:cNvPicPr>
          <p:nvPr>
            <p:ph idx="1"/>
          </p:nvPr>
        </p:nvPicPr>
        <p:blipFill>
          <a:blip r:embed="rId3"/>
          <a:stretch>
            <a:fillRect/>
          </a:stretch>
        </p:blipFill>
        <p:spPr>
          <a:xfrm>
            <a:off x="1905208" y="1771945"/>
            <a:ext cx="8381584" cy="4351338"/>
          </a:xfrm>
          <a:prstGeom prst="rect">
            <a:avLst/>
          </a:prstGeom>
        </p:spPr>
      </p:pic>
      <p:sp>
        <p:nvSpPr>
          <p:cNvPr id="8" name="文字方塊 7"/>
          <p:cNvSpPr txBox="1"/>
          <p:nvPr/>
        </p:nvSpPr>
        <p:spPr>
          <a:xfrm>
            <a:off x="1905208" y="6123283"/>
            <a:ext cx="595035" cy="338554"/>
          </a:xfrm>
          <a:prstGeom prst="rect">
            <a:avLst/>
          </a:prstGeom>
          <a:noFill/>
        </p:spPr>
        <p:txBody>
          <a:bodyPr wrap="none" rtlCol="0">
            <a:spAutoFit/>
          </a:bodyPr>
          <a:lstStyle/>
          <a:p>
            <a:r>
              <a:rPr lang="zh-TW" altLang="en-US" sz="1600" dirty="0" smtClean="0">
                <a:latin typeface="標楷體" panose="03000509000000000000" pitchFamily="65" charset="-120"/>
                <a:ea typeface="標楷體" panose="03000509000000000000" pitchFamily="65" charset="-120"/>
              </a:rPr>
              <a:t>時間</a:t>
            </a:r>
            <a:endParaRPr lang="zh-TW" altLang="en-US" sz="1600" dirty="0">
              <a:latin typeface="標楷體" panose="03000509000000000000" pitchFamily="65" charset="-120"/>
              <a:ea typeface="標楷體" panose="03000509000000000000" pitchFamily="65" charset="-120"/>
            </a:endParaRPr>
          </a:p>
        </p:txBody>
      </p:sp>
      <p:sp>
        <p:nvSpPr>
          <p:cNvPr id="10" name="橢圓 9"/>
          <p:cNvSpPr/>
          <p:nvPr/>
        </p:nvSpPr>
        <p:spPr>
          <a:xfrm>
            <a:off x="9047583" y="491087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橢圓 10"/>
          <p:cNvSpPr/>
          <p:nvPr/>
        </p:nvSpPr>
        <p:spPr>
          <a:xfrm>
            <a:off x="9209313" y="3206477"/>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p:nvSpPr>
        <p:spPr>
          <a:xfrm>
            <a:off x="9371044" y="3622818"/>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橢圓 12"/>
          <p:cNvSpPr/>
          <p:nvPr/>
        </p:nvSpPr>
        <p:spPr>
          <a:xfrm>
            <a:off x="9542105" y="3215808"/>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橢圓 13"/>
          <p:cNvSpPr/>
          <p:nvPr/>
        </p:nvSpPr>
        <p:spPr>
          <a:xfrm>
            <a:off x="9694504" y="4475441"/>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文字方塊 14"/>
          <p:cNvSpPr txBox="1"/>
          <p:nvPr/>
        </p:nvSpPr>
        <p:spPr>
          <a:xfrm>
            <a:off x="3442997" y="5216468"/>
            <a:ext cx="1005403" cy="338554"/>
          </a:xfrm>
          <a:prstGeom prst="rect">
            <a:avLst/>
          </a:prstGeom>
          <a:noFill/>
        </p:spPr>
        <p:txBody>
          <a:bodyPr wrap="none" rtlCol="0">
            <a:spAutoFit/>
          </a:bodyPr>
          <a:lstStyle/>
          <a:p>
            <a:r>
              <a:rPr lang="zh-TW" altLang="en-US" sz="1600" dirty="0" smtClean="0">
                <a:latin typeface="標楷體" panose="03000509000000000000" pitchFamily="65" charset="-120"/>
                <a:ea typeface="標楷體" panose="03000509000000000000" pitchFamily="65" charset="-120"/>
              </a:rPr>
              <a:t>上班時段</a:t>
            </a:r>
            <a:endParaRPr lang="zh-TW" altLang="en-US" sz="1600" dirty="0">
              <a:latin typeface="標楷體" panose="03000509000000000000" pitchFamily="65" charset="-120"/>
              <a:ea typeface="標楷體" panose="03000509000000000000" pitchFamily="65" charset="-120"/>
            </a:endParaRPr>
          </a:p>
        </p:txBody>
      </p:sp>
      <p:sp>
        <p:nvSpPr>
          <p:cNvPr id="16" name="文字方塊 15"/>
          <p:cNvSpPr txBox="1"/>
          <p:nvPr/>
        </p:nvSpPr>
        <p:spPr>
          <a:xfrm>
            <a:off x="8923004" y="5216468"/>
            <a:ext cx="1005403" cy="338554"/>
          </a:xfrm>
          <a:prstGeom prst="rect">
            <a:avLst/>
          </a:prstGeom>
          <a:noFill/>
        </p:spPr>
        <p:txBody>
          <a:bodyPr wrap="none" rtlCol="0">
            <a:spAutoFit/>
          </a:bodyPr>
          <a:lstStyle/>
          <a:p>
            <a:r>
              <a:rPr lang="zh-TW" altLang="en-US" sz="1600" dirty="0" smtClean="0">
                <a:latin typeface="標楷體" panose="03000509000000000000" pitchFamily="65" charset="-120"/>
                <a:ea typeface="標楷體" panose="03000509000000000000" pitchFamily="65" charset="-120"/>
              </a:rPr>
              <a:t>深夜時段</a:t>
            </a:r>
            <a:endParaRPr lang="zh-TW" altLang="en-US" sz="1600" dirty="0">
              <a:latin typeface="標楷體" panose="03000509000000000000" pitchFamily="65" charset="-120"/>
              <a:ea typeface="標楷體" panose="03000509000000000000" pitchFamily="65" charset="-120"/>
            </a:endParaRPr>
          </a:p>
        </p:txBody>
      </p:sp>
      <p:sp>
        <p:nvSpPr>
          <p:cNvPr id="17" name="文字方塊 16"/>
          <p:cNvSpPr txBox="1"/>
          <p:nvPr/>
        </p:nvSpPr>
        <p:spPr>
          <a:xfrm>
            <a:off x="1228100" y="3206477"/>
            <a:ext cx="677108" cy="1323439"/>
          </a:xfrm>
          <a:prstGeom prst="rect">
            <a:avLst/>
          </a:prstGeom>
          <a:noFill/>
        </p:spPr>
        <p:txBody>
          <a:bodyPr vert="eaVert" wrap="none" rtlCol="0">
            <a:spAutoFit/>
          </a:bodyPr>
          <a:lstStyle/>
          <a:p>
            <a:r>
              <a:rPr lang="zh-TW" altLang="en-US" sz="1600" dirty="0">
                <a:latin typeface="標楷體" panose="03000509000000000000" pitchFamily="65" charset="-120"/>
                <a:ea typeface="標楷體" panose="03000509000000000000" pitchFamily="65" charset="-120"/>
              </a:rPr>
              <a:t>商業區用電量</a:t>
            </a:r>
          </a:p>
          <a:p>
            <a:endParaRPr lang="zh-TW" altLang="en-US" sz="1600" dirty="0"/>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11</a:t>
            </a:fld>
            <a:endParaRPr lang="zh-TW" altLang="en-US"/>
          </a:p>
        </p:txBody>
      </p:sp>
    </p:spTree>
    <p:extLst>
      <p:ext uri="{BB962C8B-B14F-4D97-AF65-F5344CB8AC3E}">
        <p14:creationId xmlns:p14="http://schemas.microsoft.com/office/powerpoint/2010/main" val="174502840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異常偵測的方法</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分類</a:t>
            </a:r>
            <a:r>
              <a:rPr lang="zh-TW" altLang="en-US" dirty="0">
                <a:ea typeface="標楷體" panose="03000509000000000000" pitchFamily="65" charset="-120"/>
              </a:rPr>
              <a:t>（</a:t>
            </a:r>
            <a:r>
              <a:rPr lang="en-US" altLang="zh-TW" dirty="0">
                <a:ea typeface="標楷體" panose="03000509000000000000" pitchFamily="65" charset="-120"/>
              </a:rPr>
              <a:t>Classification</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分</a:t>
            </a:r>
            <a:r>
              <a:rPr lang="zh-TW" altLang="en-US" dirty="0">
                <a:latin typeface="標楷體" panose="03000509000000000000" pitchFamily="65" charset="-120"/>
                <a:ea typeface="標楷體" panose="03000509000000000000" pitchFamily="65" charset="-120"/>
              </a:rPr>
              <a:t>群</a:t>
            </a:r>
            <a:r>
              <a:rPr lang="zh-TW" altLang="en-US" dirty="0">
                <a:ea typeface="標楷體" panose="03000509000000000000" pitchFamily="65" charset="-120"/>
              </a:rPr>
              <a:t>（</a:t>
            </a:r>
            <a:r>
              <a:rPr lang="en-US" altLang="zh-TW" dirty="0">
                <a:ea typeface="標楷體" panose="03000509000000000000" pitchFamily="65" charset="-120"/>
              </a:rPr>
              <a:t>Clustering</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鄰近</a:t>
            </a:r>
            <a:r>
              <a:rPr lang="zh-TW" altLang="en-US" dirty="0">
                <a:latin typeface="標楷體" panose="03000509000000000000" pitchFamily="65" charset="-120"/>
                <a:ea typeface="標楷體" panose="03000509000000000000" pitchFamily="65" charset="-120"/>
              </a:rPr>
              <a:t>點</a:t>
            </a:r>
            <a:r>
              <a:rPr lang="zh-TW" altLang="en-US" dirty="0">
                <a:ea typeface="標楷體" panose="03000509000000000000" pitchFamily="65" charset="-120"/>
              </a:rPr>
              <a:t>（</a:t>
            </a:r>
            <a:r>
              <a:rPr lang="en-US" altLang="zh-TW" dirty="0">
                <a:ea typeface="標楷體" panose="03000509000000000000" pitchFamily="65" charset="-120"/>
              </a:rPr>
              <a:t>Nearest Neighbor</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統計</a:t>
            </a:r>
            <a:r>
              <a:rPr lang="zh-TW" altLang="en-US" dirty="0">
                <a:latin typeface="標楷體" panose="03000509000000000000" pitchFamily="65" charset="-120"/>
                <a:ea typeface="標楷體" panose="03000509000000000000" pitchFamily="65" charset="-120"/>
              </a:rPr>
              <a:t>為基礎的判斷方法</a:t>
            </a: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12</a:t>
            </a:fld>
            <a:endParaRPr lang="zh-TW" altLang="en-US"/>
          </a:p>
        </p:txBody>
      </p:sp>
    </p:spTree>
    <p:extLst>
      <p:ext uri="{BB962C8B-B14F-4D97-AF65-F5344CB8AC3E}">
        <p14:creationId xmlns:p14="http://schemas.microsoft.com/office/powerpoint/2010/main" val="1615788325"/>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分類</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透過監督或半監督的方式學習正常類型的資料</a:t>
            </a:r>
            <a:endParaRPr lang="en-US" altLang="zh-TW" dirty="0" smtClean="0">
              <a:latin typeface="標楷體" panose="03000509000000000000" pitchFamily="65" charset="-120"/>
              <a:ea typeface="標楷體" panose="03000509000000000000" pitchFamily="65" charset="-120"/>
            </a:endParaRPr>
          </a:p>
        </p:txBody>
      </p:sp>
      <p:sp>
        <p:nvSpPr>
          <p:cNvPr id="8" name="矩形 7"/>
          <p:cNvSpPr/>
          <p:nvPr/>
        </p:nvSpPr>
        <p:spPr>
          <a:xfrm>
            <a:off x="8304414" y="2827482"/>
            <a:ext cx="3600000" cy="3600000"/>
          </a:xfrm>
          <a:prstGeom prst="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endParaRPr lang="zh-TW" altLang="en-US" dirty="0"/>
          </a:p>
        </p:txBody>
      </p:sp>
      <p:sp>
        <p:nvSpPr>
          <p:cNvPr id="123" name="文字方塊 122"/>
          <p:cNvSpPr txBox="1"/>
          <p:nvPr/>
        </p:nvSpPr>
        <p:spPr>
          <a:xfrm>
            <a:off x="11347170" y="2974927"/>
            <a:ext cx="595035" cy="338554"/>
          </a:xfrm>
          <a:prstGeom prst="rect">
            <a:avLst/>
          </a:prstGeom>
          <a:noFill/>
        </p:spPr>
        <p:txBody>
          <a:bodyPr wrap="none" rtlCol="0">
            <a:spAutoFit/>
          </a:bodyPr>
          <a:lstStyle/>
          <a:p>
            <a:r>
              <a:rPr lang="zh-TW" altLang="en-US" sz="1600" dirty="0" smtClean="0">
                <a:solidFill>
                  <a:srgbClr val="0070C0"/>
                </a:solidFill>
                <a:latin typeface="標楷體" panose="03000509000000000000" pitchFamily="65" charset="-120"/>
                <a:ea typeface="標楷體" panose="03000509000000000000" pitchFamily="65" charset="-120"/>
              </a:rPr>
              <a:t>正常</a:t>
            </a:r>
            <a:endParaRPr lang="zh-TW" altLang="en-US" sz="1600" dirty="0">
              <a:solidFill>
                <a:srgbClr val="0070C0"/>
              </a:solidFill>
              <a:latin typeface="標楷體" panose="03000509000000000000" pitchFamily="65" charset="-120"/>
              <a:ea typeface="標楷體" panose="03000509000000000000" pitchFamily="65" charset="-120"/>
            </a:endParaRPr>
          </a:p>
        </p:txBody>
      </p:sp>
      <p:sp>
        <p:nvSpPr>
          <p:cNvPr id="127" name="流程圖: 接點 126"/>
          <p:cNvSpPr/>
          <p:nvPr/>
        </p:nvSpPr>
        <p:spPr>
          <a:xfrm>
            <a:off x="10165458" y="2920389"/>
            <a:ext cx="1316180" cy="1249132"/>
          </a:xfrm>
          <a:prstGeom prst="flowChartConnector">
            <a:avLst/>
          </a:prstGeom>
          <a:ln w="28575">
            <a:solidFill>
              <a:srgbClr val="0070C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zh-TW" altLang="en-US"/>
          </a:p>
        </p:txBody>
      </p:sp>
      <p:sp>
        <p:nvSpPr>
          <p:cNvPr id="9" name="流程圖: 接點 8"/>
          <p:cNvSpPr/>
          <p:nvPr/>
        </p:nvSpPr>
        <p:spPr>
          <a:xfrm>
            <a:off x="10809630" y="34485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4" name="流程圖: 接點 63"/>
          <p:cNvSpPr/>
          <p:nvPr/>
        </p:nvSpPr>
        <p:spPr>
          <a:xfrm>
            <a:off x="10504510" y="32265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5" name="流程圖: 接點 64"/>
          <p:cNvSpPr/>
          <p:nvPr/>
        </p:nvSpPr>
        <p:spPr>
          <a:xfrm>
            <a:off x="11082892" y="32625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6" name="流程圖: 接點 65"/>
          <p:cNvSpPr/>
          <p:nvPr/>
        </p:nvSpPr>
        <p:spPr>
          <a:xfrm>
            <a:off x="11005537" y="361663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7" name="流程圖: 接點 66"/>
          <p:cNvSpPr/>
          <p:nvPr/>
        </p:nvSpPr>
        <p:spPr>
          <a:xfrm>
            <a:off x="10486716" y="36772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8" name="流程圖: 接點 67"/>
          <p:cNvSpPr/>
          <p:nvPr/>
        </p:nvSpPr>
        <p:spPr>
          <a:xfrm>
            <a:off x="10493426" y="308794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9" name="流程圖: 接點 68"/>
          <p:cNvSpPr/>
          <p:nvPr/>
        </p:nvSpPr>
        <p:spPr>
          <a:xfrm>
            <a:off x="10829107" y="374283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0" name="流程圖: 接點 69"/>
          <p:cNvSpPr/>
          <p:nvPr/>
        </p:nvSpPr>
        <p:spPr>
          <a:xfrm>
            <a:off x="9151848" y="3896048"/>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1" name="流程圖: 接點 70"/>
          <p:cNvSpPr/>
          <p:nvPr/>
        </p:nvSpPr>
        <p:spPr>
          <a:xfrm>
            <a:off x="11092853" y="35312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2" name="流程圖: 接點 71"/>
          <p:cNvSpPr/>
          <p:nvPr/>
        </p:nvSpPr>
        <p:spPr>
          <a:xfrm>
            <a:off x="10767702" y="36245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3" name="流程圖: 接點 72"/>
          <p:cNvSpPr/>
          <p:nvPr/>
        </p:nvSpPr>
        <p:spPr>
          <a:xfrm>
            <a:off x="10767702" y="331609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4" name="流程圖: 接點 73"/>
          <p:cNvSpPr/>
          <p:nvPr/>
        </p:nvSpPr>
        <p:spPr>
          <a:xfrm>
            <a:off x="10940519" y="38311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5" name="流程圖: 接點 74"/>
          <p:cNvSpPr/>
          <p:nvPr/>
        </p:nvSpPr>
        <p:spPr>
          <a:xfrm>
            <a:off x="11216196" y="38311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6" name="流程圖: 接點 75"/>
          <p:cNvSpPr/>
          <p:nvPr/>
        </p:nvSpPr>
        <p:spPr>
          <a:xfrm>
            <a:off x="11133504" y="308794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dirty="0"/>
          </a:p>
        </p:txBody>
      </p:sp>
      <p:sp>
        <p:nvSpPr>
          <p:cNvPr id="77" name="流程圖: 接點 76"/>
          <p:cNvSpPr/>
          <p:nvPr/>
        </p:nvSpPr>
        <p:spPr>
          <a:xfrm>
            <a:off x="11001491" y="348220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8" name="流程圖: 接點 77"/>
          <p:cNvSpPr/>
          <p:nvPr/>
        </p:nvSpPr>
        <p:spPr>
          <a:xfrm>
            <a:off x="11089145" y="37515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9" name="流程圖: 接點 78"/>
          <p:cNvSpPr/>
          <p:nvPr/>
        </p:nvSpPr>
        <p:spPr>
          <a:xfrm>
            <a:off x="10631211" y="3906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0" name="流程圖: 接點 79"/>
          <p:cNvSpPr/>
          <p:nvPr/>
        </p:nvSpPr>
        <p:spPr>
          <a:xfrm>
            <a:off x="11147359" y="336542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1" name="流程圖: 接點 80"/>
          <p:cNvSpPr/>
          <p:nvPr/>
        </p:nvSpPr>
        <p:spPr>
          <a:xfrm>
            <a:off x="11155497" y="367630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2" name="流程圖: 接點 81"/>
          <p:cNvSpPr/>
          <p:nvPr/>
        </p:nvSpPr>
        <p:spPr>
          <a:xfrm>
            <a:off x="11056853" y="38841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3" name="流程圖: 接點 82"/>
          <p:cNvSpPr/>
          <p:nvPr/>
        </p:nvSpPr>
        <p:spPr>
          <a:xfrm>
            <a:off x="10859164" y="35589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4" name="流程圖: 接點 83"/>
          <p:cNvSpPr/>
          <p:nvPr/>
        </p:nvSpPr>
        <p:spPr>
          <a:xfrm>
            <a:off x="10565513" y="35653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5" name="流程圖: 接點 84"/>
          <p:cNvSpPr/>
          <p:nvPr/>
        </p:nvSpPr>
        <p:spPr>
          <a:xfrm>
            <a:off x="10710402" y="357399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6" name="流程圖: 接點 85"/>
          <p:cNvSpPr/>
          <p:nvPr/>
        </p:nvSpPr>
        <p:spPr>
          <a:xfrm>
            <a:off x="10904519" y="34441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7" name="流程圖: 接點 86"/>
          <p:cNvSpPr/>
          <p:nvPr/>
        </p:nvSpPr>
        <p:spPr>
          <a:xfrm>
            <a:off x="10618069" y="37275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8" name="流程圖: 接點 87"/>
          <p:cNvSpPr/>
          <p:nvPr/>
        </p:nvSpPr>
        <p:spPr>
          <a:xfrm>
            <a:off x="10406887" y="3578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9" name="流程圖: 接點 88"/>
          <p:cNvSpPr/>
          <p:nvPr/>
        </p:nvSpPr>
        <p:spPr>
          <a:xfrm>
            <a:off x="10620932" y="381043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0" name="流程圖: 接點 89"/>
          <p:cNvSpPr/>
          <p:nvPr/>
        </p:nvSpPr>
        <p:spPr>
          <a:xfrm>
            <a:off x="10922867" y="373361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1" name="流程圖: 接點 90"/>
          <p:cNvSpPr/>
          <p:nvPr/>
        </p:nvSpPr>
        <p:spPr>
          <a:xfrm>
            <a:off x="10706830" y="34813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2" name="流程圖: 接點 91"/>
          <p:cNvSpPr/>
          <p:nvPr/>
        </p:nvSpPr>
        <p:spPr>
          <a:xfrm>
            <a:off x="10826155" y="31978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3" name="流程圖: 接點 92"/>
          <p:cNvSpPr/>
          <p:nvPr/>
        </p:nvSpPr>
        <p:spPr>
          <a:xfrm>
            <a:off x="9712032" y="3270828"/>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4" name="流程圖: 接點 93"/>
          <p:cNvSpPr/>
          <p:nvPr/>
        </p:nvSpPr>
        <p:spPr>
          <a:xfrm>
            <a:off x="9429399" y="3445396"/>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5" name="流程圖: 接點 94"/>
          <p:cNvSpPr/>
          <p:nvPr/>
        </p:nvSpPr>
        <p:spPr>
          <a:xfrm>
            <a:off x="11052744" y="365961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6" name="流程圖: 接點 95"/>
          <p:cNvSpPr/>
          <p:nvPr/>
        </p:nvSpPr>
        <p:spPr>
          <a:xfrm>
            <a:off x="10433874" y="339745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7" name="流程圖: 接點 96"/>
          <p:cNvSpPr/>
          <p:nvPr/>
        </p:nvSpPr>
        <p:spPr>
          <a:xfrm>
            <a:off x="10244045" y="32791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8" name="流程圖: 接點 97"/>
          <p:cNvSpPr/>
          <p:nvPr/>
        </p:nvSpPr>
        <p:spPr>
          <a:xfrm>
            <a:off x="11248111" y="35173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9" name="流程圖: 接點 98"/>
          <p:cNvSpPr/>
          <p:nvPr/>
        </p:nvSpPr>
        <p:spPr>
          <a:xfrm>
            <a:off x="11285906" y="36849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0" name="流程圖: 接點 99"/>
          <p:cNvSpPr/>
          <p:nvPr/>
        </p:nvSpPr>
        <p:spPr>
          <a:xfrm>
            <a:off x="10684822" y="36899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1" name="流程圖: 接點 100"/>
          <p:cNvSpPr/>
          <p:nvPr/>
        </p:nvSpPr>
        <p:spPr>
          <a:xfrm>
            <a:off x="10397874" y="39201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2" name="流程圖: 接點 101"/>
          <p:cNvSpPr/>
          <p:nvPr/>
        </p:nvSpPr>
        <p:spPr>
          <a:xfrm>
            <a:off x="10911568" y="36129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3" name="流程圖: 接點 102"/>
          <p:cNvSpPr/>
          <p:nvPr/>
        </p:nvSpPr>
        <p:spPr>
          <a:xfrm>
            <a:off x="10875568" y="398115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4" name="流程圖: 接點 103"/>
          <p:cNvSpPr/>
          <p:nvPr/>
        </p:nvSpPr>
        <p:spPr>
          <a:xfrm>
            <a:off x="11004617" y="321598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5" name="流程圖: 接點 104"/>
          <p:cNvSpPr/>
          <p:nvPr/>
        </p:nvSpPr>
        <p:spPr>
          <a:xfrm>
            <a:off x="10801019" y="3470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6" name="流程圖: 接點 105"/>
          <p:cNvSpPr/>
          <p:nvPr/>
        </p:nvSpPr>
        <p:spPr>
          <a:xfrm>
            <a:off x="10895164" y="332044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7" name="流程圖: 接點 106"/>
          <p:cNvSpPr/>
          <p:nvPr/>
        </p:nvSpPr>
        <p:spPr>
          <a:xfrm>
            <a:off x="10815847" y="38481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8" name="流程圖: 接點 107"/>
          <p:cNvSpPr/>
          <p:nvPr/>
        </p:nvSpPr>
        <p:spPr>
          <a:xfrm>
            <a:off x="10695702" y="332347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9" name="流程圖: 接點 108"/>
          <p:cNvSpPr/>
          <p:nvPr/>
        </p:nvSpPr>
        <p:spPr>
          <a:xfrm>
            <a:off x="9685311" y="3551029"/>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0" name="流程圖: 接點 109"/>
          <p:cNvSpPr/>
          <p:nvPr/>
        </p:nvSpPr>
        <p:spPr>
          <a:xfrm>
            <a:off x="8876910" y="3098530"/>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1" name="流程圖: 接點 110"/>
          <p:cNvSpPr/>
          <p:nvPr/>
        </p:nvSpPr>
        <p:spPr>
          <a:xfrm>
            <a:off x="10778830" y="300759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2" name="流程圖: 接點 111"/>
          <p:cNvSpPr/>
          <p:nvPr/>
        </p:nvSpPr>
        <p:spPr>
          <a:xfrm>
            <a:off x="9822869" y="3730798"/>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3" name="流程圖: 接點 112"/>
          <p:cNvSpPr/>
          <p:nvPr/>
        </p:nvSpPr>
        <p:spPr>
          <a:xfrm>
            <a:off x="10723529" y="3942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4" name="流程圖: 接點 113"/>
          <p:cNvSpPr/>
          <p:nvPr/>
        </p:nvSpPr>
        <p:spPr>
          <a:xfrm>
            <a:off x="10479572" y="3506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5" name="流程圖: 接點 114"/>
          <p:cNvSpPr/>
          <p:nvPr/>
        </p:nvSpPr>
        <p:spPr>
          <a:xfrm>
            <a:off x="10787548" y="37896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6" name="流程圖: 接點 115"/>
          <p:cNvSpPr/>
          <p:nvPr/>
        </p:nvSpPr>
        <p:spPr>
          <a:xfrm>
            <a:off x="10601513" y="3434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7" name="流程圖: 接點 116"/>
          <p:cNvSpPr/>
          <p:nvPr/>
        </p:nvSpPr>
        <p:spPr>
          <a:xfrm>
            <a:off x="10978334" y="33317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8" name="流程圖: 接點 117"/>
          <p:cNvSpPr/>
          <p:nvPr/>
        </p:nvSpPr>
        <p:spPr>
          <a:xfrm>
            <a:off x="11030717" y="401906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9" name="流程圖: 接點 118"/>
          <p:cNvSpPr/>
          <p:nvPr/>
        </p:nvSpPr>
        <p:spPr>
          <a:xfrm>
            <a:off x="10504510" y="379730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0" name="流程圖: 接點 119"/>
          <p:cNvSpPr/>
          <p:nvPr/>
        </p:nvSpPr>
        <p:spPr>
          <a:xfrm>
            <a:off x="11321852" y="337255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1" name="流程圖: 接點 120"/>
          <p:cNvSpPr/>
          <p:nvPr/>
        </p:nvSpPr>
        <p:spPr>
          <a:xfrm>
            <a:off x="10906334" y="313453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2" name="流程圖: 接點 121"/>
          <p:cNvSpPr/>
          <p:nvPr/>
        </p:nvSpPr>
        <p:spPr>
          <a:xfrm>
            <a:off x="11072588" y="340066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8" name="流程圖: 接點 127"/>
          <p:cNvSpPr/>
          <p:nvPr/>
        </p:nvSpPr>
        <p:spPr>
          <a:xfrm>
            <a:off x="11118892" y="5649273"/>
            <a:ext cx="710043" cy="655653"/>
          </a:xfrm>
          <a:prstGeom prst="flowChartConnector">
            <a:avLst/>
          </a:prstGeom>
          <a:ln w="28575">
            <a:solidFill>
              <a:srgbClr val="0070C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zh-TW" altLang="en-US"/>
          </a:p>
        </p:txBody>
      </p:sp>
      <p:sp>
        <p:nvSpPr>
          <p:cNvPr id="10" name="流程圖: 接點 9"/>
          <p:cNvSpPr/>
          <p:nvPr/>
        </p:nvSpPr>
        <p:spPr>
          <a:xfrm>
            <a:off x="11482639" y="58893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 name="流程圖: 接點 10"/>
          <p:cNvSpPr/>
          <p:nvPr/>
        </p:nvSpPr>
        <p:spPr>
          <a:xfrm>
            <a:off x="11477098" y="597523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 name="流程圖: 接點 11"/>
          <p:cNvSpPr/>
          <p:nvPr/>
        </p:nvSpPr>
        <p:spPr>
          <a:xfrm>
            <a:off x="11418909" y="59419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3" name="流程圖: 接點 12"/>
          <p:cNvSpPr/>
          <p:nvPr/>
        </p:nvSpPr>
        <p:spPr>
          <a:xfrm>
            <a:off x="11526974" y="59669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4" name="流程圖: 接點 13"/>
          <p:cNvSpPr/>
          <p:nvPr/>
        </p:nvSpPr>
        <p:spPr>
          <a:xfrm>
            <a:off x="11443847"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5" name="流程圖: 接點 14"/>
          <p:cNvSpPr/>
          <p:nvPr/>
        </p:nvSpPr>
        <p:spPr>
          <a:xfrm>
            <a:off x="11485412" y="602510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6" name="流程圖: 接點 15"/>
          <p:cNvSpPr/>
          <p:nvPr/>
        </p:nvSpPr>
        <p:spPr>
          <a:xfrm>
            <a:off x="11427222"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7" name="流程圖: 接點 16"/>
          <p:cNvSpPr/>
          <p:nvPr/>
        </p:nvSpPr>
        <p:spPr>
          <a:xfrm>
            <a:off x="11294217" y="59004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8" name="流程圖: 接點 17"/>
          <p:cNvSpPr/>
          <p:nvPr/>
        </p:nvSpPr>
        <p:spPr>
          <a:xfrm>
            <a:off x="11335781" y="60084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9" name="流程圖: 接點 18"/>
          <p:cNvSpPr/>
          <p:nvPr/>
        </p:nvSpPr>
        <p:spPr>
          <a:xfrm>
            <a:off x="11335781" y="58754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0" name="流程圖: 接點 19"/>
          <p:cNvSpPr/>
          <p:nvPr/>
        </p:nvSpPr>
        <p:spPr>
          <a:xfrm>
            <a:off x="11385658"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1" name="流程圖: 接點 20"/>
          <p:cNvSpPr/>
          <p:nvPr/>
        </p:nvSpPr>
        <p:spPr>
          <a:xfrm>
            <a:off x="11585162" y="58754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2" name="流程圖: 接點 21"/>
          <p:cNvSpPr/>
          <p:nvPr/>
        </p:nvSpPr>
        <p:spPr>
          <a:xfrm>
            <a:off x="11618413"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3" name="流程圖: 接點 22"/>
          <p:cNvSpPr/>
          <p:nvPr/>
        </p:nvSpPr>
        <p:spPr>
          <a:xfrm>
            <a:off x="11543599" y="58089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4" name="流程圖: 接點 23"/>
          <p:cNvSpPr/>
          <p:nvPr/>
        </p:nvSpPr>
        <p:spPr>
          <a:xfrm>
            <a:off x="11601787"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5" name="流程圖: 接點 24"/>
          <p:cNvSpPr/>
          <p:nvPr/>
        </p:nvSpPr>
        <p:spPr>
          <a:xfrm>
            <a:off x="11585162" y="5925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6" name="流程圖: 接點 25"/>
          <p:cNvSpPr/>
          <p:nvPr/>
        </p:nvSpPr>
        <p:spPr>
          <a:xfrm>
            <a:off x="11344094"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7" name="流程圖: 接點 26"/>
          <p:cNvSpPr/>
          <p:nvPr/>
        </p:nvSpPr>
        <p:spPr>
          <a:xfrm>
            <a:off x="11443847" y="609161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8" name="流程圖: 接點 27"/>
          <p:cNvSpPr/>
          <p:nvPr/>
        </p:nvSpPr>
        <p:spPr>
          <a:xfrm>
            <a:off x="11493723"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9" name="流程圖: 接點 28"/>
          <p:cNvSpPr/>
          <p:nvPr/>
        </p:nvSpPr>
        <p:spPr>
          <a:xfrm>
            <a:off x="11252654" y="599185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0" name="流程圖: 接點 29"/>
          <p:cNvSpPr/>
          <p:nvPr/>
        </p:nvSpPr>
        <p:spPr>
          <a:xfrm>
            <a:off x="11668291" y="5800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1" name="流程圖: 接點 30"/>
          <p:cNvSpPr/>
          <p:nvPr/>
        </p:nvSpPr>
        <p:spPr>
          <a:xfrm>
            <a:off x="11684916" y="592535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2" name="流程圖: 接點 31"/>
          <p:cNvSpPr/>
          <p:nvPr/>
        </p:nvSpPr>
        <p:spPr>
          <a:xfrm>
            <a:off x="11502036" y="591704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3" name="流程圖: 接點 32"/>
          <p:cNvSpPr/>
          <p:nvPr/>
        </p:nvSpPr>
        <p:spPr>
          <a:xfrm>
            <a:off x="11377345" y="587547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4" name="流程圖: 接點 33"/>
          <p:cNvSpPr/>
          <p:nvPr/>
        </p:nvSpPr>
        <p:spPr>
          <a:xfrm>
            <a:off x="11560224"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5" name="流程圖: 接點 34"/>
          <p:cNvSpPr/>
          <p:nvPr/>
        </p:nvSpPr>
        <p:spPr>
          <a:xfrm>
            <a:off x="11568536" y="58505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6" name="流程圖: 接點 35"/>
          <p:cNvSpPr/>
          <p:nvPr/>
        </p:nvSpPr>
        <p:spPr>
          <a:xfrm>
            <a:off x="11526973" y="58837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7" name="流程圖: 接點 36"/>
          <p:cNvSpPr/>
          <p:nvPr/>
        </p:nvSpPr>
        <p:spPr>
          <a:xfrm>
            <a:off x="11418908"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8" name="流程圖: 接點 37"/>
          <p:cNvSpPr/>
          <p:nvPr/>
        </p:nvSpPr>
        <p:spPr>
          <a:xfrm>
            <a:off x="11427221" y="601679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9" name="流程圖: 接點 38"/>
          <p:cNvSpPr/>
          <p:nvPr/>
        </p:nvSpPr>
        <p:spPr>
          <a:xfrm>
            <a:off x="11435535" y="588379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0" name="流程圖: 接點 39"/>
          <p:cNvSpPr/>
          <p:nvPr/>
        </p:nvSpPr>
        <p:spPr>
          <a:xfrm>
            <a:off x="11485409" y="5933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1" name="流程圖: 接點 40"/>
          <p:cNvSpPr/>
          <p:nvPr/>
        </p:nvSpPr>
        <p:spPr>
          <a:xfrm>
            <a:off x="11443848" y="593366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2" name="流程圖: 接點 41"/>
          <p:cNvSpPr/>
          <p:nvPr/>
        </p:nvSpPr>
        <p:spPr>
          <a:xfrm>
            <a:off x="11576849" y="595860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3" name="流程圖: 接點 42"/>
          <p:cNvSpPr/>
          <p:nvPr/>
        </p:nvSpPr>
        <p:spPr>
          <a:xfrm>
            <a:off x="11551910"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4" name="流程圖: 接點 43"/>
          <p:cNvSpPr/>
          <p:nvPr/>
        </p:nvSpPr>
        <p:spPr>
          <a:xfrm>
            <a:off x="11526974"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5" name="流程圖: 接點 44"/>
          <p:cNvSpPr/>
          <p:nvPr/>
        </p:nvSpPr>
        <p:spPr>
          <a:xfrm>
            <a:off x="11518662" y="600848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6" name="流程圖: 接點 45"/>
          <p:cNvSpPr/>
          <p:nvPr/>
        </p:nvSpPr>
        <p:spPr>
          <a:xfrm>
            <a:off x="11593475" y="579235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7" name="流程圖: 接點 46"/>
          <p:cNvSpPr/>
          <p:nvPr/>
        </p:nvSpPr>
        <p:spPr>
          <a:xfrm>
            <a:off x="11377342" y="59170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8" name="流程圖: 接點 47"/>
          <p:cNvSpPr/>
          <p:nvPr/>
        </p:nvSpPr>
        <p:spPr>
          <a:xfrm>
            <a:off x="11294217" y="610823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9" name="流程圖: 接點 48"/>
          <p:cNvSpPr/>
          <p:nvPr/>
        </p:nvSpPr>
        <p:spPr>
          <a:xfrm>
            <a:off x="11551912"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0" name="流程圖: 接點 49"/>
          <p:cNvSpPr/>
          <p:nvPr/>
        </p:nvSpPr>
        <p:spPr>
          <a:xfrm>
            <a:off x="11410596"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1" name="流程圖: 接點 50"/>
          <p:cNvSpPr/>
          <p:nvPr/>
        </p:nvSpPr>
        <p:spPr>
          <a:xfrm>
            <a:off x="11285906" y="597523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2" name="流程圖: 接點 51"/>
          <p:cNvSpPr/>
          <p:nvPr/>
        </p:nvSpPr>
        <p:spPr>
          <a:xfrm>
            <a:off x="11335781" y="59502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3" name="流程圖: 接點 52"/>
          <p:cNvSpPr/>
          <p:nvPr/>
        </p:nvSpPr>
        <p:spPr>
          <a:xfrm>
            <a:off x="11460471" y="62079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4" name="流程圖: 接點 53"/>
          <p:cNvSpPr/>
          <p:nvPr/>
        </p:nvSpPr>
        <p:spPr>
          <a:xfrm>
            <a:off x="11385656"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5" name="流程圖: 接點 54"/>
          <p:cNvSpPr/>
          <p:nvPr/>
        </p:nvSpPr>
        <p:spPr>
          <a:xfrm>
            <a:off x="11485405" y="58089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6" name="流程圖: 接點 55"/>
          <p:cNvSpPr/>
          <p:nvPr/>
        </p:nvSpPr>
        <p:spPr>
          <a:xfrm>
            <a:off x="11518659" y="58422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7" name="流程圖: 接點 56"/>
          <p:cNvSpPr/>
          <p:nvPr/>
        </p:nvSpPr>
        <p:spPr>
          <a:xfrm>
            <a:off x="11294217" y="58422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8" name="流程圖: 接點 57"/>
          <p:cNvSpPr/>
          <p:nvPr/>
        </p:nvSpPr>
        <p:spPr>
          <a:xfrm>
            <a:off x="11377345" y="580897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9" name="流程圖: 接點 58"/>
          <p:cNvSpPr/>
          <p:nvPr/>
        </p:nvSpPr>
        <p:spPr>
          <a:xfrm>
            <a:off x="11435533" y="58339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0" name="流程圖: 接點 59"/>
          <p:cNvSpPr/>
          <p:nvPr/>
        </p:nvSpPr>
        <p:spPr>
          <a:xfrm>
            <a:off x="11518658" y="57674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1" name="流程圖: 接點 60"/>
          <p:cNvSpPr/>
          <p:nvPr/>
        </p:nvSpPr>
        <p:spPr>
          <a:xfrm>
            <a:off x="11460472" y="5784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2" name="流程圖: 接點 61"/>
          <p:cNvSpPr/>
          <p:nvPr/>
        </p:nvSpPr>
        <p:spPr>
          <a:xfrm>
            <a:off x="10853643" y="5817289"/>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3" name="流程圖: 接點 62"/>
          <p:cNvSpPr/>
          <p:nvPr/>
        </p:nvSpPr>
        <p:spPr>
          <a:xfrm>
            <a:off x="9166162" y="6232926"/>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9" name="文字方塊 128"/>
          <p:cNvSpPr txBox="1"/>
          <p:nvPr/>
        </p:nvSpPr>
        <p:spPr>
          <a:xfrm>
            <a:off x="11356895" y="5311345"/>
            <a:ext cx="595035" cy="338554"/>
          </a:xfrm>
          <a:prstGeom prst="rect">
            <a:avLst/>
          </a:prstGeom>
          <a:noFill/>
        </p:spPr>
        <p:txBody>
          <a:bodyPr wrap="none" rtlCol="0">
            <a:spAutoFit/>
          </a:bodyPr>
          <a:lstStyle/>
          <a:p>
            <a:r>
              <a:rPr lang="zh-TW" altLang="en-US" sz="1600" dirty="0" smtClean="0">
                <a:solidFill>
                  <a:srgbClr val="0070C0"/>
                </a:solidFill>
                <a:latin typeface="標楷體" panose="03000509000000000000" pitchFamily="65" charset="-120"/>
                <a:ea typeface="標楷體" panose="03000509000000000000" pitchFamily="65" charset="-120"/>
              </a:rPr>
              <a:t>正常</a:t>
            </a:r>
            <a:endParaRPr lang="zh-TW" altLang="en-US" sz="1600" dirty="0">
              <a:solidFill>
                <a:srgbClr val="0070C0"/>
              </a:solidFill>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13</a:t>
            </a:fld>
            <a:endParaRPr lang="zh-TW" altLang="en-US"/>
          </a:p>
        </p:txBody>
      </p:sp>
    </p:spTree>
    <p:extLst>
      <p:ext uri="{BB962C8B-B14F-4D97-AF65-F5344CB8AC3E}">
        <p14:creationId xmlns:p14="http://schemas.microsoft.com/office/powerpoint/2010/main" val="1163723540"/>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分群</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分群演算法能自動判斷資料的分布狀態</a:t>
            </a:r>
            <a:endParaRPr lang="en-US" altLang="zh-TW" dirty="0" smtClean="0">
              <a:latin typeface="標楷體" panose="03000509000000000000" pitchFamily="65" charset="-120"/>
              <a:ea typeface="標楷體" panose="03000509000000000000" pitchFamily="65" charset="-120"/>
            </a:endParaRPr>
          </a:p>
          <a:p>
            <a:pPr lvl="1"/>
            <a:r>
              <a:rPr lang="en-US" altLang="zh-TW" dirty="0" smtClean="0">
                <a:ea typeface="標楷體" panose="03000509000000000000" pitchFamily="65" charset="-120"/>
                <a:cs typeface="Times New Roman" panose="02020603050405020304" pitchFamily="18" charset="0"/>
              </a:rPr>
              <a:t>K-means</a:t>
            </a:r>
          </a:p>
          <a:p>
            <a:pPr lvl="1"/>
            <a:r>
              <a:rPr lang="en-US" altLang="zh-TW" dirty="0" smtClean="0">
                <a:ea typeface="標楷體" panose="03000509000000000000" pitchFamily="65" charset="-120"/>
                <a:cs typeface="Times New Roman" panose="02020603050405020304" pitchFamily="18" charset="0"/>
              </a:rPr>
              <a:t>GMM (Gaussian mixture model)</a:t>
            </a:r>
          </a:p>
        </p:txBody>
      </p:sp>
      <p:sp>
        <p:nvSpPr>
          <p:cNvPr id="6" name="矩形 5"/>
          <p:cNvSpPr/>
          <p:nvPr/>
        </p:nvSpPr>
        <p:spPr>
          <a:xfrm>
            <a:off x="8071149" y="2827482"/>
            <a:ext cx="3600000" cy="3600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TW" altLang="en-US" dirty="0"/>
          </a:p>
        </p:txBody>
      </p:sp>
      <p:sp>
        <p:nvSpPr>
          <p:cNvPr id="7" name="流程圖: 接點 6"/>
          <p:cNvSpPr/>
          <p:nvPr/>
        </p:nvSpPr>
        <p:spPr>
          <a:xfrm>
            <a:off x="9514738" y="40462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 name="流程圖: 接點 7"/>
          <p:cNvSpPr/>
          <p:nvPr/>
        </p:nvSpPr>
        <p:spPr>
          <a:xfrm>
            <a:off x="11249374" y="58893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 name="流程圖: 接點 8"/>
          <p:cNvSpPr/>
          <p:nvPr/>
        </p:nvSpPr>
        <p:spPr>
          <a:xfrm>
            <a:off x="11243833" y="597523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 name="流程圖: 接點 9"/>
          <p:cNvSpPr/>
          <p:nvPr/>
        </p:nvSpPr>
        <p:spPr>
          <a:xfrm>
            <a:off x="11185644" y="59419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 name="流程圖: 接點 10"/>
          <p:cNvSpPr/>
          <p:nvPr/>
        </p:nvSpPr>
        <p:spPr>
          <a:xfrm>
            <a:off x="11293709" y="59669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 name="流程圖: 接點 11"/>
          <p:cNvSpPr/>
          <p:nvPr/>
        </p:nvSpPr>
        <p:spPr>
          <a:xfrm>
            <a:off x="11210582"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3" name="流程圖: 接點 12"/>
          <p:cNvSpPr/>
          <p:nvPr/>
        </p:nvSpPr>
        <p:spPr>
          <a:xfrm>
            <a:off x="11252147" y="602510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4" name="流程圖: 接點 13"/>
          <p:cNvSpPr/>
          <p:nvPr/>
        </p:nvSpPr>
        <p:spPr>
          <a:xfrm>
            <a:off x="11193957"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5" name="流程圖: 接點 14"/>
          <p:cNvSpPr/>
          <p:nvPr/>
        </p:nvSpPr>
        <p:spPr>
          <a:xfrm>
            <a:off x="11060952" y="59004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6" name="流程圖: 接點 15"/>
          <p:cNvSpPr/>
          <p:nvPr/>
        </p:nvSpPr>
        <p:spPr>
          <a:xfrm>
            <a:off x="11102516" y="60084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7" name="流程圖: 接點 16"/>
          <p:cNvSpPr/>
          <p:nvPr/>
        </p:nvSpPr>
        <p:spPr>
          <a:xfrm>
            <a:off x="11102516" y="58754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8" name="流程圖: 接點 17"/>
          <p:cNvSpPr/>
          <p:nvPr/>
        </p:nvSpPr>
        <p:spPr>
          <a:xfrm>
            <a:off x="11152393"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9" name="流程圖: 接點 18"/>
          <p:cNvSpPr/>
          <p:nvPr/>
        </p:nvSpPr>
        <p:spPr>
          <a:xfrm>
            <a:off x="11351897" y="58754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0" name="流程圖: 接點 19"/>
          <p:cNvSpPr/>
          <p:nvPr/>
        </p:nvSpPr>
        <p:spPr>
          <a:xfrm>
            <a:off x="11385148"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1" name="流程圖: 接點 20"/>
          <p:cNvSpPr/>
          <p:nvPr/>
        </p:nvSpPr>
        <p:spPr>
          <a:xfrm>
            <a:off x="11310334" y="58089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2" name="流程圖: 接點 21"/>
          <p:cNvSpPr/>
          <p:nvPr/>
        </p:nvSpPr>
        <p:spPr>
          <a:xfrm>
            <a:off x="11368522"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3" name="流程圖: 接點 22"/>
          <p:cNvSpPr/>
          <p:nvPr/>
        </p:nvSpPr>
        <p:spPr>
          <a:xfrm>
            <a:off x="11351897" y="5925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4" name="流程圖: 接點 23"/>
          <p:cNvSpPr/>
          <p:nvPr/>
        </p:nvSpPr>
        <p:spPr>
          <a:xfrm>
            <a:off x="11110829"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5" name="流程圖: 接點 24"/>
          <p:cNvSpPr/>
          <p:nvPr/>
        </p:nvSpPr>
        <p:spPr>
          <a:xfrm>
            <a:off x="11210582" y="609161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6" name="流程圖: 接點 25"/>
          <p:cNvSpPr/>
          <p:nvPr/>
        </p:nvSpPr>
        <p:spPr>
          <a:xfrm>
            <a:off x="11260458"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7" name="流程圖: 接點 26"/>
          <p:cNvSpPr/>
          <p:nvPr/>
        </p:nvSpPr>
        <p:spPr>
          <a:xfrm>
            <a:off x="11019389" y="599185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8" name="流程圖: 接點 27"/>
          <p:cNvSpPr/>
          <p:nvPr/>
        </p:nvSpPr>
        <p:spPr>
          <a:xfrm>
            <a:off x="11435026" y="5800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9" name="流程圖: 接點 28"/>
          <p:cNvSpPr/>
          <p:nvPr/>
        </p:nvSpPr>
        <p:spPr>
          <a:xfrm>
            <a:off x="11451651" y="592535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0" name="流程圖: 接點 29"/>
          <p:cNvSpPr/>
          <p:nvPr/>
        </p:nvSpPr>
        <p:spPr>
          <a:xfrm>
            <a:off x="11268771" y="591704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1" name="流程圖: 接點 30"/>
          <p:cNvSpPr/>
          <p:nvPr/>
        </p:nvSpPr>
        <p:spPr>
          <a:xfrm>
            <a:off x="11144080" y="587547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2" name="流程圖: 接點 31"/>
          <p:cNvSpPr/>
          <p:nvPr/>
        </p:nvSpPr>
        <p:spPr>
          <a:xfrm>
            <a:off x="11326959"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3" name="流程圖: 接點 32"/>
          <p:cNvSpPr/>
          <p:nvPr/>
        </p:nvSpPr>
        <p:spPr>
          <a:xfrm>
            <a:off x="11335271" y="58505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4" name="流程圖: 接點 33"/>
          <p:cNvSpPr/>
          <p:nvPr/>
        </p:nvSpPr>
        <p:spPr>
          <a:xfrm>
            <a:off x="11293708" y="58837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5" name="流程圖: 接點 34"/>
          <p:cNvSpPr/>
          <p:nvPr/>
        </p:nvSpPr>
        <p:spPr>
          <a:xfrm>
            <a:off x="11185643"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6" name="流程圖: 接點 35"/>
          <p:cNvSpPr/>
          <p:nvPr/>
        </p:nvSpPr>
        <p:spPr>
          <a:xfrm>
            <a:off x="11193956" y="601679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7" name="流程圖: 接點 36"/>
          <p:cNvSpPr/>
          <p:nvPr/>
        </p:nvSpPr>
        <p:spPr>
          <a:xfrm>
            <a:off x="11202270" y="588379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8" name="流程圖: 接點 37"/>
          <p:cNvSpPr/>
          <p:nvPr/>
        </p:nvSpPr>
        <p:spPr>
          <a:xfrm>
            <a:off x="11252144" y="5933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9" name="流程圖: 接點 38"/>
          <p:cNvSpPr/>
          <p:nvPr/>
        </p:nvSpPr>
        <p:spPr>
          <a:xfrm>
            <a:off x="11210583" y="593366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0" name="流程圖: 接點 39"/>
          <p:cNvSpPr/>
          <p:nvPr/>
        </p:nvSpPr>
        <p:spPr>
          <a:xfrm>
            <a:off x="11343584" y="595860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1" name="流程圖: 接點 40"/>
          <p:cNvSpPr/>
          <p:nvPr/>
        </p:nvSpPr>
        <p:spPr>
          <a:xfrm>
            <a:off x="11318645"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2" name="流程圖: 接點 41"/>
          <p:cNvSpPr/>
          <p:nvPr/>
        </p:nvSpPr>
        <p:spPr>
          <a:xfrm>
            <a:off x="11293709"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3" name="流程圖: 接點 42"/>
          <p:cNvSpPr/>
          <p:nvPr/>
        </p:nvSpPr>
        <p:spPr>
          <a:xfrm>
            <a:off x="11285397" y="600848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4" name="流程圖: 接點 43"/>
          <p:cNvSpPr/>
          <p:nvPr/>
        </p:nvSpPr>
        <p:spPr>
          <a:xfrm>
            <a:off x="11360210" y="579235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5" name="流程圖: 接點 44"/>
          <p:cNvSpPr/>
          <p:nvPr/>
        </p:nvSpPr>
        <p:spPr>
          <a:xfrm>
            <a:off x="11144077" y="59170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6" name="流程圖: 接點 45"/>
          <p:cNvSpPr/>
          <p:nvPr/>
        </p:nvSpPr>
        <p:spPr>
          <a:xfrm>
            <a:off x="11060952" y="610823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7" name="流程圖: 接點 46"/>
          <p:cNvSpPr/>
          <p:nvPr/>
        </p:nvSpPr>
        <p:spPr>
          <a:xfrm>
            <a:off x="11318647"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8" name="流程圖: 接點 47"/>
          <p:cNvSpPr/>
          <p:nvPr/>
        </p:nvSpPr>
        <p:spPr>
          <a:xfrm>
            <a:off x="11177331"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9" name="流程圖: 接點 48"/>
          <p:cNvSpPr/>
          <p:nvPr/>
        </p:nvSpPr>
        <p:spPr>
          <a:xfrm>
            <a:off x="11052641" y="597523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0" name="流程圖: 接點 49"/>
          <p:cNvSpPr/>
          <p:nvPr/>
        </p:nvSpPr>
        <p:spPr>
          <a:xfrm>
            <a:off x="11102516" y="59502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1" name="流程圖: 接點 50"/>
          <p:cNvSpPr/>
          <p:nvPr/>
        </p:nvSpPr>
        <p:spPr>
          <a:xfrm>
            <a:off x="11227206" y="62079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2" name="流程圖: 接點 51"/>
          <p:cNvSpPr/>
          <p:nvPr/>
        </p:nvSpPr>
        <p:spPr>
          <a:xfrm>
            <a:off x="11152391"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3" name="流程圖: 接點 52"/>
          <p:cNvSpPr/>
          <p:nvPr/>
        </p:nvSpPr>
        <p:spPr>
          <a:xfrm>
            <a:off x="11252140" y="58089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4" name="流程圖: 接點 53"/>
          <p:cNvSpPr/>
          <p:nvPr/>
        </p:nvSpPr>
        <p:spPr>
          <a:xfrm>
            <a:off x="11285394" y="58422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5" name="流程圖: 接點 54"/>
          <p:cNvSpPr/>
          <p:nvPr/>
        </p:nvSpPr>
        <p:spPr>
          <a:xfrm>
            <a:off x="11060952" y="58422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6" name="流程圖: 接點 55"/>
          <p:cNvSpPr/>
          <p:nvPr/>
        </p:nvSpPr>
        <p:spPr>
          <a:xfrm>
            <a:off x="11144080" y="580897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7" name="流程圖: 接點 56"/>
          <p:cNvSpPr/>
          <p:nvPr/>
        </p:nvSpPr>
        <p:spPr>
          <a:xfrm>
            <a:off x="11202268" y="58339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8" name="流程圖: 接點 57"/>
          <p:cNvSpPr/>
          <p:nvPr/>
        </p:nvSpPr>
        <p:spPr>
          <a:xfrm>
            <a:off x="11285393" y="57674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9" name="流程圖: 接點 58"/>
          <p:cNvSpPr/>
          <p:nvPr/>
        </p:nvSpPr>
        <p:spPr>
          <a:xfrm>
            <a:off x="11227207" y="5784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0" name="流程圖: 接點 59"/>
          <p:cNvSpPr/>
          <p:nvPr/>
        </p:nvSpPr>
        <p:spPr>
          <a:xfrm>
            <a:off x="10620378" y="58172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1" name="流程圖: 接點 60"/>
          <p:cNvSpPr/>
          <p:nvPr/>
        </p:nvSpPr>
        <p:spPr>
          <a:xfrm>
            <a:off x="8932897" y="62329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2" name="流程圖: 接點 61"/>
          <p:cNvSpPr/>
          <p:nvPr/>
        </p:nvSpPr>
        <p:spPr>
          <a:xfrm>
            <a:off x="9812033" y="412706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3" name="流程圖: 接點 62"/>
          <p:cNvSpPr/>
          <p:nvPr/>
        </p:nvSpPr>
        <p:spPr>
          <a:xfrm>
            <a:off x="9810774" y="41610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4" name="流程圖: 接點 63"/>
          <p:cNvSpPr/>
          <p:nvPr/>
        </p:nvSpPr>
        <p:spPr>
          <a:xfrm>
            <a:off x="9911653" y="4248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5" name="流程圖: 接點 64"/>
          <p:cNvSpPr/>
          <p:nvPr/>
        </p:nvSpPr>
        <p:spPr>
          <a:xfrm>
            <a:off x="9486938" y="4284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6" name="流程圖: 接點 65"/>
          <p:cNvSpPr/>
          <p:nvPr/>
        </p:nvSpPr>
        <p:spPr>
          <a:xfrm>
            <a:off x="10054025" y="40284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7" name="流程圖: 接點 66"/>
          <p:cNvSpPr/>
          <p:nvPr/>
        </p:nvSpPr>
        <p:spPr>
          <a:xfrm>
            <a:off x="9447151" y="434754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8" name="流程圖: 接點 67"/>
          <p:cNvSpPr/>
          <p:nvPr/>
        </p:nvSpPr>
        <p:spPr>
          <a:xfrm>
            <a:off x="9894402" y="38111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9" name="流程圖: 接點 68"/>
          <p:cNvSpPr/>
          <p:nvPr/>
        </p:nvSpPr>
        <p:spPr>
          <a:xfrm>
            <a:off x="9329137" y="4320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0" name="流程圖: 接點 69"/>
          <p:cNvSpPr/>
          <p:nvPr/>
        </p:nvSpPr>
        <p:spPr>
          <a:xfrm>
            <a:off x="9467705" y="467795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1" name="流程圖: 接點 70"/>
          <p:cNvSpPr/>
          <p:nvPr/>
        </p:nvSpPr>
        <p:spPr>
          <a:xfrm>
            <a:off x="9372611" y="44461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2" name="流程圖: 接點 71"/>
          <p:cNvSpPr/>
          <p:nvPr/>
        </p:nvSpPr>
        <p:spPr>
          <a:xfrm>
            <a:off x="10041151" y="432788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3" name="流程圖: 接點 72"/>
          <p:cNvSpPr/>
          <p:nvPr/>
        </p:nvSpPr>
        <p:spPr>
          <a:xfrm>
            <a:off x="9698476" y="421458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4" name="流程圖: 接點 73"/>
          <p:cNvSpPr/>
          <p:nvPr/>
        </p:nvSpPr>
        <p:spPr>
          <a:xfrm>
            <a:off x="9835149" y="44135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dirty="0"/>
          </a:p>
        </p:txBody>
      </p:sp>
      <p:sp>
        <p:nvSpPr>
          <p:cNvPr id="75" name="流程圖: 接點 74"/>
          <p:cNvSpPr/>
          <p:nvPr/>
        </p:nvSpPr>
        <p:spPr>
          <a:xfrm>
            <a:off x="9422230" y="423932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6" name="流程圖: 接點 75"/>
          <p:cNvSpPr/>
          <p:nvPr/>
        </p:nvSpPr>
        <p:spPr>
          <a:xfrm>
            <a:off x="9438439" y="416259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7" name="流程圖: 接點 76"/>
          <p:cNvSpPr/>
          <p:nvPr/>
        </p:nvSpPr>
        <p:spPr>
          <a:xfrm>
            <a:off x="10084361" y="42655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8" name="流程圖: 接點 77"/>
          <p:cNvSpPr/>
          <p:nvPr/>
        </p:nvSpPr>
        <p:spPr>
          <a:xfrm>
            <a:off x="9906991" y="402745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9" name="流程圖: 接點 78"/>
          <p:cNvSpPr/>
          <p:nvPr/>
        </p:nvSpPr>
        <p:spPr>
          <a:xfrm>
            <a:off x="9971949" y="41707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0" name="流程圖: 接點 79"/>
          <p:cNvSpPr/>
          <p:nvPr/>
        </p:nvSpPr>
        <p:spPr>
          <a:xfrm>
            <a:off x="9719835" y="42184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1" name="流程圖: 接點 80"/>
          <p:cNvSpPr/>
          <p:nvPr/>
        </p:nvSpPr>
        <p:spPr>
          <a:xfrm>
            <a:off x="9256141" y="454517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2" name="流程圖: 接點 81"/>
          <p:cNvSpPr/>
          <p:nvPr/>
        </p:nvSpPr>
        <p:spPr>
          <a:xfrm>
            <a:off x="9568280" y="40284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3" name="流程圖: 接點 82"/>
          <p:cNvSpPr/>
          <p:nvPr/>
        </p:nvSpPr>
        <p:spPr>
          <a:xfrm>
            <a:off x="9681865" y="409684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4" name="流程圖: 接點 83"/>
          <p:cNvSpPr/>
          <p:nvPr/>
        </p:nvSpPr>
        <p:spPr>
          <a:xfrm>
            <a:off x="9656113" y="44240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5" name="流程圖: 接點 84"/>
          <p:cNvSpPr/>
          <p:nvPr/>
        </p:nvSpPr>
        <p:spPr>
          <a:xfrm>
            <a:off x="9478738" y="44274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6" name="流程圖: 接點 85"/>
          <p:cNvSpPr/>
          <p:nvPr/>
        </p:nvSpPr>
        <p:spPr>
          <a:xfrm>
            <a:off x="9750478" y="42850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7" name="流程圖: 接點 86"/>
          <p:cNvSpPr/>
          <p:nvPr/>
        </p:nvSpPr>
        <p:spPr>
          <a:xfrm>
            <a:off x="9589581" y="43039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8" name="流程圖: 接點 87"/>
          <p:cNvSpPr/>
          <p:nvPr/>
        </p:nvSpPr>
        <p:spPr>
          <a:xfrm>
            <a:off x="9589581" y="456545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9" name="流程圖: 接點 88"/>
          <p:cNvSpPr/>
          <p:nvPr/>
        </p:nvSpPr>
        <p:spPr>
          <a:xfrm>
            <a:off x="9859709" y="45540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0" name="流程圖: 接點 89"/>
          <p:cNvSpPr/>
          <p:nvPr/>
        </p:nvSpPr>
        <p:spPr>
          <a:xfrm>
            <a:off x="9822402" y="405500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1" name="流程圖: 接點 90"/>
          <p:cNvSpPr/>
          <p:nvPr/>
        </p:nvSpPr>
        <p:spPr>
          <a:xfrm>
            <a:off x="9402439" y="407248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2" name="流程圖: 接點 91"/>
          <p:cNvSpPr/>
          <p:nvPr/>
        </p:nvSpPr>
        <p:spPr>
          <a:xfrm>
            <a:off x="9670969" y="434147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3" name="流程圖: 接點 92"/>
          <p:cNvSpPr/>
          <p:nvPr/>
        </p:nvSpPr>
        <p:spPr>
          <a:xfrm>
            <a:off x="9748539" y="40605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4" name="流程圖: 接點 93"/>
          <p:cNvSpPr/>
          <p:nvPr/>
        </p:nvSpPr>
        <p:spPr>
          <a:xfrm>
            <a:off x="9382463" y="41707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5" name="流程圖: 接點 94"/>
          <p:cNvSpPr/>
          <p:nvPr/>
        </p:nvSpPr>
        <p:spPr>
          <a:xfrm>
            <a:off x="9861743" y="416485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6" name="流程圖: 接點 95"/>
          <p:cNvSpPr/>
          <p:nvPr/>
        </p:nvSpPr>
        <p:spPr>
          <a:xfrm>
            <a:off x="9856601" y="392180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7" name="流程圖: 接點 96"/>
          <p:cNvSpPr/>
          <p:nvPr/>
        </p:nvSpPr>
        <p:spPr>
          <a:xfrm>
            <a:off x="9935949" y="44940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8" name="流程圖: 接點 97"/>
          <p:cNvSpPr/>
          <p:nvPr/>
        </p:nvSpPr>
        <p:spPr>
          <a:xfrm>
            <a:off x="9304438" y="424994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9" name="流程圖: 接點 98"/>
          <p:cNvSpPr/>
          <p:nvPr/>
        </p:nvSpPr>
        <p:spPr>
          <a:xfrm>
            <a:off x="9221073" y="436811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0" name="流程圖: 接點 99"/>
          <p:cNvSpPr/>
          <p:nvPr/>
        </p:nvSpPr>
        <p:spPr>
          <a:xfrm>
            <a:off x="9595833" y="413514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1" name="流程圖: 接點 100"/>
          <p:cNvSpPr/>
          <p:nvPr/>
        </p:nvSpPr>
        <p:spPr>
          <a:xfrm>
            <a:off x="9503705" y="4176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2" name="流程圖: 接點 101"/>
          <p:cNvSpPr/>
          <p:nvPr/>
        </p:nvSpPr>
        <p:spPr>
          <a:xfrm>
            <a:off x="9855401" y="431011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3" name="流程圖: 接點 102"/>
          <p:cNvSpPr/>
          <p:nvPr/>
        </p:nvSpPr>
        <p:spPr>
          <a:xfrm>
            <a:off x="9503705" y="389984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4" name="流程圖: 接點 103"/>
          <p:cNvSpPr/>
          <p:nvPr/>
        </p:nvSpPr>
        <p:spPr>
          <a:xfrm>
            <a:off x="9719640" y="43759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5" name="流程圖: 接點 104"/>
          <p:cNvSpPr/>
          <p:nvPr/>
        </p:nvSpPr>
        <p:spPr>
          <a:xfrm>
            <a:off x="9829129" y="471597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6" name="流程圖: 接點 105"/>
          <p:cNvSpPr/>
          <p:nvPr/>
        </p:nvSpPr>
        <p:spPr>
          <a:xfrm>
            <a:off x="9949663" y="409767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7" name="流程圖: 接點 106"/>
          <p:cNvSpPr/>
          <p:nvPr/>
        </p:nvSpPr>
        <p:spPr>
          <a:xfrm>
            <a:off x="9788661" y="45215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8" name="流程圖: 接點 107"/>
          <p:cNvSpPr/>
          <p:nvPr/>
        </p:nvSpPr>
        <p:spPr>
          <a:xfrm>
            <a:off x="9962939" y="396900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9" name="流程圖: 接點 108"/>
          <p:cNvSpPr/>
          <p:nvPr/>
        </p:nvSpPr>
        <p:spPr>
          <a:xfrm>
            <a:off x="10048361" y="41763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0" name="流程圖: 接點 109"/>
          <p:cNvSpPr/>
          <p:nvPr/>
        </p:nvSpPr>
        <p:spPr>
          <a:xfrm>
            <a:off x="9576789" y="384278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1" name="流程圖: 接點 110"/>
          <p:cNvSpPr/>
          <p:nvPr/>
        </p:nvSpPr>
        <p:spPr>
          <a:xfrm>
            <a:off x="9165652" y="405500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2" name="流程圖: 接點 111"/>
          <p:cNvSpPr/>
          <p:nvPr/>
        </p:nvSpPr>
        <p:spPr>
          <a:xfrm>
            <a:off x="9694894" y="44855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3" name="流程圖: 接點 112"/>
          <p:cNvSpPr/>
          <p:nvPr/>
        </p:nvSpPr>
        <p:spPr>
          <a:xfrm>
            <a:off x="9973137" y="468091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4" name="流程圖: 接點 113"/>
          <p:cNvSpPr/>
          <p:nvPr/>
        </p:nvSpPr>
        <p:spPr>
          <a:xfrm>
            <a:off x="9666417" y="467384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5" name="流程圖: 接點 114"/>
          <p:cNvSpPr/>
          <p:nvPr/>
        </p:nvSpPr>
        <p:spPr>
          <a:xfrm>
            <a:off x="9947653" y="437747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6" name="流程圖: 接點 115"/>
          <p:cNvSpPr/>
          <p:nvPr/>
        </p:nvSpPr>
        <p:spPr>
          <a:xfrm>
            <a:off x="9714293" y="39386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7" name="流程圖: 接點 116"/>
          <p:cNvSpPr/>
          <p:nvPr/>
        </p:nvSpPr>
        <p:spPr>
          <a:xfrm>
            <a:off x="9529901" y="452554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8" name="流程圖: 接點 117"/>
          <p:cNvSpPr/>
          <p:nvPr/>
        </p:nvSpPr>
        <p:spPr>
          <a:xfrm>
            <a:off x="10070298" y="448954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9" name="流程圖: 接點 118"/>
          <p:cNvSpPr/>
          <p:nvPr/>
        </p:nvSpPr>
        <p:spPr>
          <a:xfrm>
            <a:off x="9707989" y="459369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0" name="流程圖: 接點 119"/>
          <p:cNvSpPr/>
          <p:nvPr/>
        </p:nvSpPr>
        <p:spPr>
          <a:xfrm>
            <a:off x="9606348" y="420087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1" name="文字方塊 120"/>
          <p:cNvSpPr txBox="1"/>
          <p:nvPr/>
        </p:nvSpPr>
        <p:spPr>
          <a:xfrm>
            <a:off x="9779989" y="3460373"/>
            <a:ext cx="397866" cy="338554"/>
          </a:xfrm>
          <a:prstGeom prst="rect">
            <a:avLst/>
          </a:prstGeom>
          <a:noFill/>
        </p:spPr>
        <p:txBody>
          <a:bodyPr wrap="none" rtlCol="0">
            <a:spAutoFit/>
          </a:bodyPr>
          <a:lstStyle/>
          <a:p>
            <a:r>
              <a:rPr lang="en-US" altLang="zh-TW" sz="1600" dirty="0" smtClean="0"/>
              <a:t>C1</a:t>
            </a:r>
            <a:endParaRPr lang="zh-TW" altLang="en-US" sz="1600" dirty="0"/>
          </a:p>
        </p:txBody>
      </p:sp>
      <p:sp>
        <p:nvSpPr>
          <p:cNvPr id="122" name="文字方塊 121"/>
          <p:cNvSpPr txBox="1"/>
          <p:nvPr/>
        </p:nvSpPr>
        <p:spPr>
          <a:xfrm>
            <a:off x="11233198" y="5407802"/>
            <a:ext cx="397866" cy="338554"/>
          </a:xfrm>
          <a:prstGeom prst="rect">
            <a:avLst/>
          </a:prstGeom>
          <a:noFill/>
        </p:spPr>
        <p:txBody>
          <a:bodyPr wrap="none" rtlCol="0">
            <a:spAutoFit/>
          </a:bodyPr>
          <a:lstStyle/>
          <a:p>
            <a:r>
              <a:rPr lang="en-US" altLang="zh-TW" sz="1600" dirty="0" smtClean="0"/>
              <a:t>C2</a:t>
            </a:r>
            <a:endParaRPr lang="zh-TW" altLang="en-US" sz="1600" dirty="0"/>
          </a:p>
        </p:txBody>
      </p:sp>
      <p:sp>
        <p:nvSpPr>
          <p:cNvPr id="123" name="文字方塊 122"/>
          <p:cNvSpPr txBox="1"/>
          <p:nvPr/>
        </p:nvSpPr>
        <p:spPr>
          <a:xfrm>
            <a:off x="10459659" y="5473194"/>
            <a:ext cx="397866" cy="338554"/>
          </a:xfrm>
          <a:prstGeom prst="rect">
            <a:avLst/>
          </a:prstGeom>
          <a:noFill/>
        </p:spPr>
        <p:txBody>
          <a:bodyPr wrap="none" rtlCol="0">
            <a:spAutoFit/>
          </a:bodyPr>
          <a:lstStyle/>
          <a:p>
            <a:r>
              <a:rPr lang="en-US" altLang="zh-TW" sz="1600" dirty="0" smtClean="0"/>
              <a:t>o1</a:t>
            </a:r>
            <a:endParaRPr lang="zh-TW" altLang="en-US" sz="1600" dirty="0"/>
          </a:p>
        </p:txBody>
      </p:sp>
      <p:sp>
        <p:nvSpPr>
          <p:cNvPr id="124" name="文字方塊 123"/>
          <p:cNvSpPr txBox="1"/>
          <p:nvPr/>
        </p:nvSpPr>
        <p:spPr>
          <a:xfrm>
            <a:off x="8789923" y="5889289"/>
            <a:ext cx="397866" cy="338554"/>
          </a:xfrm>
          <a:prstGeom prst="rect">
            <a:avLst/>
          </a:prstGeom>
          <a:noFill/>
        </p:spPr>
        <p:txBody>
          <a:bodyPr wrap="none" rtlCol="0">
            <a:spAutoFit/>
          </a:bodyPr>
          <a:lstStyle/>
          <a:p>
            <a:r>
              <a:rPr lang="en-US" altLang="zh-TW" sz="1600" dirty="0"/>
              <a:t>o</a:t>
            </a:r>
            <a:r>
              <a:rPr lang="en-US" altLang="zh-TW" sz="1600" dirty="0" smtClean="0"/>
              <a:t>1</a:t>
            </a:r>
            <a:endParaRPr lang="zh-TW" altLang="en-US" sz="1600" dirty="0"/>
          </a:p>
        </p:txBody>
      </p:sp>
      <p:sp>
        <p:nvSpPr>
          <p:cNvPr id="125" name="投影片編號版面配置區 124"/>
          <p:cNvSpPr>
            <a:spLocks noGrp="1"/>
          </p:cNvSpPr>
          <p:nvPr>
            <p:ph type="sldNum" sz="quarter" idx="12"/>
          </p:nvPr>
        </p:nvSpPr>
        <p:spPr/>
        <p:txBody>
          <a:bodyPr/>
          <a:lstStyle/>
          <a:p>
            <a:fld id="{914C6EE6-3FC0-42F2-A2AA-2F8392A95B97}" type="slidenum">
              <a:rPr lang="zh-TW" altLang="en-US" smtClean="0"/>
              <a:t>14</a:t>
            </a:fld>
            <a:endParaRPr lang="zh-TW" altLang="en-US"/>
          </a:p>
        </p:txBody>
      </p:sp>
    </p:spTree>
    <p:extLst>
      <p:ext uri="{BB962C8B-B14F-4D97-AF65-F5344CB8AC3E}">
        <p14:creationId xmlns:p14="http://schemas.microsoft.com/office/powerpoint/2010/main" val="152571156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鄰近點</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觀察資料與鄰近資料之間的距離</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常搭配其他方法</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如：</a:t>
            </a:r>
            <a:r>
              <a:rPr lang="en-US" altLang="zh-TW" dirty="0" smtClean="0">
                <a:ea typeface="標楷體" panose="03000509000000000000" pitchFamily="65" charset="-120"/>
                <a:cs typeface="Times New Roman" panose="02020603050405020304" pitchFamily="18" charset="0"/>
              </a:rPr>
              <a:t>LOF(Local Outlier Factor)</a:t>
            </a:r>
            <a:r>
              <a:rPr lang="zh-TW" altLang="en-US" dirty="0" smtClean="0">
                <a:latin typeface="標楷體" panose="03000509000000000000" pitchFamily="65" charset="-120"/>
                <a:ea typeface="標楷體" panose="03000509000000000000" pitchFamily="65" charset="-120"/>
              </a:rPr>
              <a:t>中使用</a:t>
            </a:r>
            <a:r>
              <a:rPr lang="en-US" altLang="zh-TW" dirty="0" smtClean="0">
                <a:ea typeface="標楷體" panose="03000509000000000000" pitchFamily="65" charset="-120"/>
                <a:cs typeface="Times New Roman" panose="02020603050405020304" pitchFamily="18" charset="0"/>
              </a:rPr>
              <a:t>K Nearest Neighbor</a:t>
            </a:r>
            <a:r>
              <a:rPr lang="zh-TW" altLang="en-US" dirty="0" smtClean="0">
                <a:latin typeface="標楷體" panose="03000509000000000000" pitchFamily="65" charset="-120"/>
                <a:ea typeface="標楷體" panose="03000509000000000000" pitchFamily="65" charset="-120"/>
              </a:rPr>
              <a:t>決定計算密度的區域範圍。</a:t>
            </a:r>
            <a:endParaRPr lang="en-US" altLang="zh-TW" dirty="0" smtClean="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15</a:t>
            </a:fld>
            <a:endParaRPr lang="zh-TW" altLang="en-US"/>
          </a:p>
        </p:txBody>
      </p:sp>
    </p:spTree>
    <p:extLst>
      <p:ext uri="{BB962C8B-B14F-4D97-AF65-F5344CB8AC3E}">
        <p14:creationId xmlns:p14="http://schemas.microsoft.com/office/powerpoint/2010/main" val="246568014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統計為基礎的判斷方法</a:t>
            </a: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預想一般情況下，正常狀態資料發生的機率會高於異常的機率。</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取得區段資料的統計狀態</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預測可能的變動</a:t>
            </a:r>
            <a:r>
              <a:rPr lang="zh-TW" altLang="en-US" dirty="0">
                <a:latin typeface="標楷體" panose="03000509000000000000" pitchFamily="65" charset="-120"/>
                <a:ea typeface="標楷體" panose="03000509000000000000" pitchFamily="65" charset="-120"/>
              </a:rPr>
              <a:t>趨勢</a:t>
            </a: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16</a:t>
            </a:fld>
            <a:endParaRPr lang="zh-TW" altLang="en-US"/>
          </a:p>
        </p:txBody>
      </p:sp>
    </p:spTree>
    <p:extLst>
      <p:ext uri="{BB962C8B-B14F-4D97-AF65-F5344CB8AC3E}">
        <p14:creationId xmlns:p14="http://schemas.microsoft.com/office/powerpoint/2010/main" val="1116527360"/>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研究方</a:t>
            </a:r>
            <a:r>
              <a:rPr lang="zh-TW" altLang="en-US" sz="3200" dirty="0">
                <a:latin typeface="標楷體" panose="03000509000000000000" pitchFamily="65" charset="-120"/>
                <a:ea typeface="標楷體" panose="03000509000000000000" pitchFamily="65" charset="-120"/>
              </a:rPr>
              <a:t>法</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17</a:t>
            </a:fld>
            <a:endParaRPr lang="zh-TW" altLang="en-US"/>
          </a:p>
        </p:txBody>
      </p:sp>
    </p:spTree>
    <p:extLst>
      <p:ext uri="{BB962C8B-B14F-4D97-AF65-F5344CB8AC3E}">
        <p14:creationId xmlns:p14="http://schemas.microsoft.com/office/powerpoint/2010/main" val="3660156671"/>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ea typeface="標楷體" panose="03000509000000000000" pitchFamily="65" charset="-120"/>
                <a:cs typeface="Times New Roman" panose="02020603050405020304" pitchFamily="18" charset="0"/>
              </a:rPr>
              <a:t>一般常態分佈</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a:latin typeface="標楷體" panose="03000509000000000000" pitchFamily="65" charset="-120"/>
                <a:ea typeface="標楷體" panose="03000509000000000000" pitchFamily="65" charset="-120"/>
              </a:rPr>
              <a:t>常態分佈的自然特性也是機率統計學被廣泛使用的一種分佈</a:t>
            </a:r>
            <a:r>
              <a:rPr lang="zh-TW" altLang="en-US" dirty="0" smtClean="0">
                <a:latin typeface="標楷體" panose="03000509000000000000" pitchFamily="65" charset="-120"/>
                <a:ea typeface="標楷體" panose="03000509000000000000" pitchFamily="65" charset="-120"/>
              </a:rPr>
              <a:t>類型</a:t>
            </a:r>
            <a:endParaRPr lang="en-US" altLang="zh-TW" dirty="0" smtClean="0">
              <a:latin typeface="標楷體" panose="03000509000000000000" pitchFamily="65" charset="-12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各科學領域中也能觀察到許多資料特徵符合常態分佈的</a:t>
            </a:r>
            <a:r>
              <a:rPr lang="zh-TW" altLang="en-US" dirty="0" smtClean="0">
                <a:latin typeface="標楷體" panose="03000509000000000000" pitchFamily="65" charset="-120"/>
                <a:ea typeface="標楷體" panose="03000509000000000000" pitchFamily="65" charset="-120"/>
              </a:rPr>
              <a:t>條件</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因此假定感測器產生的環境指標在不受人為干擾的情況下，其感測數值所得之機率密度函數應該會符合常態分佈的行為模式</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18</a:t>
            </a:fld>
            <a:endParaRPr lang="zh-TW" altLang="en-US"/>
          </a:p>
        </p:txBody>
      </p:sp>
    </p:spTree>
    <p:extLst>
      <p:ext uri="{BB962C8B-B14F-4D97-AF65-F5344CB8AC3E}">
        <p14:creationId xmlns:p14="http://schemas.microsoft.com/office/powerpoint/2010/main" val="141528187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ea typeface="標楷體" panose="03000509000000000000" pitchFamily="65" charset="-120"/>
                <a:cs typeface="Times New Roman" panose="02020603050405020304" pitchFamily="18" charset="0"/>
              </a:rPr>
              <a:t>一般常態分佈</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6" name="內容版面配置區 5"/>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2496000" y="1875813"/>
            <a:ext cx="7200000" cy="5101200"/>
          </a:xfrm>
        </p:spPr>
      </p:pic>
      <p:sp>
        <p:nvSpPr>
          <p:cNvPr id="3" name="投影片編號版面配置區 2"/>
          <p:cNvSpPr>
            <a:spLocks noGrp="1"/>
          </p:cNvSpPr>
          <p:nvPr>
            <p:ph type="sldNum" sz="quarter" idx="12"/>
          </p:nvPr>
        </p:nvSpPr>
        <p:spPr/>
        <p:txBody>
          <a:bodyPr/>
          <a:lstStyle/>
          <a:p>
            <a:fld id="{914C6EE6-3FC0-42F2-A2AA-2F8392A95B97}" type="slidenum">
              <a:rPr lang="zh-TW" altLang="en-US" smtClean="0"/>
              <a:t>19</a:t>
            </a:fld>
            <a:endParaRPr lang="zh-TW" altLang="en-US"/>
          </a:p>
        </p:txBody>
      </p:sp>
    </p:spTree>
    <p:extLst>
      <p:ext uri="{BB962C8B-B14F-4D97-AF65-F5344CB8AC3E}">
        <p14:creationId xmlns:p14="http://schemas.microsoft.com/office/powerpoint/2010/main" val="318196595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ea typeface="標楷體" panose="03000509000000000000" pitchFamily="65" charset="-120"/>
                <a:cs typeface="Times New Roman" panose="02020603050405020304" pitchFamily="18" charset="0"/>
              </a:rPr>
              <a:t>CUSUM</a:t>
            </a:r>
            <a:r>
              <a:rPr lang="zh-TW" altLang="en-US" sz="3200" dirty="0" smtClean="0">
                <a:ea typeface="標楷體" panose="03000509000000000000" pitchFamily="65" charset="-120"/>
                <a:cs typeface="Times New Roman" panose="02020603050405020304" pitchFamily="18" charset="0"/>
              </a:rPr>
              <a:t>（</a:t>
            </a:r>
            <a:r>
              <a:rPr lang="en-US" altLang="zh-TW" sz="3200" dirty="0" smtClean="0">
                <a:ea typeface="標楷體" panose="03000509000000000000" pitchFamily="65" charset="-120"/>
                <a:cs typeface="Times New Roman" panose="02020603050405020304" pitchFamily="18" charset="0"/>
              </a:rPr>
              <a:t>Cumulative Sum</a:t>
            </a:r>
            <a:r>
              <a:rPr lang="zh-TW" altLang="en-US" sz="3200" dirty="0" smtClean="0">
                <a:ea typeface="標楷體" panose="03000509000000000000" pitchFamily="65" charset="-120"/>
                <a:cs typeface="Times New Roman" panose="02020603050405020304" pitchFamily="18" charset="0"/>
              </a:rPr>
              <a:t>）</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內容版面配置區 5"/>
          <p:cNvSpPr>
            <a:spLocks noGrp="1"/>
          </p:cNvSpPr>
          <p:nvPr>
            <p:ph idx="1"/>
          </p:nvPr>
        </p:nvSpPr>
        <p:spPr/>
        <p:txBody>
          <a:bodyPr/>
          <a:lstStyle/>
          <a:p>
            <a:r>
              <a:rPr lang="zh-TW" altLang="zh-TW" dirty="0" smtClean="0">
                <a:latin typeface="標楷體" panose="03000509000000000000" pitchFamily="65" charset="-120"/>
                <a:ea typeface="標楷體" panose="03000509000000000000" pitchFamily="65" charset="-120"/>
              </a:rPr>
              <a:t>主要</a:t>
            </a:r>
            <a:r>
              <a:rPr lang="zh-TW" altLang="zh-TW" dirty="0">
                <a:latin typeface="標楷體" panose="03000509000000000000" pitchFamily="65" charset="-120"/>
                <a:ea typeface="標楷體" panose="03000509000000000000" pitchFamily="65" charset="-120"/>
              </a:rPr>
              <a:t>概念是觀察資料變化</a:t>
            </a:r>
            <a:r>
              <a:rPr lang="zh-TW" altLang="zh-TW" dirty="0" smtClean="0">
                <a:latin typeface="標楷體" panose="03000509000000000000" pitchFamily="65" charset="-120"/>
                <a:ea typeface="標楷體" panose="03000509000000000000" pitchFamily="65" charset="-120"/>
              </a:rPr>
              <a:t>的趨勢</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資料的波動大於限制區間便會開始記錄變化幅度的大小，如果趨勢呈現持續增加或減少，變化量會在持續的過程中累加，而累加值到達定量後就會認定資料</a:t>
            </a:r>
            <a:r>
              <a:rPr lang="zh-TW" altLang="zh-TW" dirty="0" smtClean="0">
                <a:latin typeface="標楷體" panose="03000509000000000000" pitchFamily="65" charset="-120"/>
                <a:ea typeface="標楷體" panose="03000509000000000000" pitchFamily="65" charset="-120"/>
              </a:rPr>
              <a:t>變化</a:t>
            </a:r>
            <a:r>
              <a:rPr lang="zh-TW" altLang="en-US" dirty="0" smtClean="0">
                <a:latin typeface="標楷體" panose="03000509000000000000" pitchFamily="65" charset="-120"/>
                <a:ea typeface="標楷體" panose="03000509000000000000" pitchFamily="65" charset="-120"/>
              </a:rPr>
              <a:t>已經偏</a:t>
            </a:r>
            <a:r>
              <a:rPr lang="zh-TW" altLang="en-US" dirty="0">
                <a:latin typeface="標楷體" panose="03000509000000000000" pitchFamily="65" charset="-120"/>
                <a:ea typeface="標楷體" panose="03000509000000000000" pitchFamily="65" charset="-120"/>
              </a:rPr>
              <a:t>離</a:t>
            </a:r>
            <a:r>
              <a:rPr lang="zh-TW" altLang="zh-TW" dirty="0" smtClean="0">
                <a:latin typeface="標楷體" panose="03000509000000000000" pitchFamily="65" charset="-120"/>
                <a:ea typeface="標楷體" panose="03000509000000000000" pitchFamily="65" charset="-120"/>
              </a:rPr>
              <a:t>原本</a:t>
            </a:r>
            <a:r>
              <a:rPr lang="zh-TW" altLang="zh-TW" dirty="0">
                <a:latin typeface="標楷體" panose="03000509000000000000" pitchFamily="65" charset="-120"/>
                <a:ea typeface="標楷體" panose="03000509000000000000" pitchFamily="65" charset="-120"/>
              </a:rPr>
              <a:t>的狀態</a:t>
            </a:r>
            <a:r>
              <a:rPr lang="zh-TW" altLang="zh-TW" dirty="0" smtClean="0">
                <a:latin typeface="標楷體" panose="03000509000000000000" pitchFamily="65" charset="-120"/>
                <a:ea typeface="標楷體" panose="03000509000000000000" pitchFamily="65" charset="-120"/>
              </a:rPr>
              <a:t>。</a:t>
            </a:r>
            <a:endParaRPr lang="en-US" altLang="zh-TW" dirty="0" smtClean="0">
              <a:latin typeface="標楷體" panose="03000509000000000000" pitchFamily="65" charset="-120"/>
              <a:ea typeface="標楷體" panose="03000509000000000000" pitchFamily="65" charset="-120"/>
            </a:endParaRPr>
          </a:p>
          <a:p>
            <a:r>
              <a:rPr lang="zh-TW" altLang="zh-TW" dirty="0" smtClean="0">
                <a:latin typeface="標楷體" panose="03000509000000000000" pitchFamily="65" charset="-120"/>
                <a:ea typeface="標楷體" panose="03000509000000000000" pitchFamily="65" charset="-120"/>
              </a:rPr>
              <a:t>須定義</a:t>
            </a:r>
            <a:r>
              <a:rPr lang="zh-TW" altLang="zh-TW" dirty="0">
                <a:latin typeface="標楷體" panose="03000509000000000000" pitchFamily="65" charset="-120"/>
                <a:ea typeface="標楷體" panose="03000509000000000000" pitchFamily="65" charset="-120"/>
              </a:rPr>
              <a:t>兩個</a:t>
            </a:r>
            <a:r>
              <a:rPr lang="zh-TW" altLang="zh-TW" dirty="0" smtClean="0">
                <a:latin typeface="標楷體" panose="03000509000000000000" pitchFamily="65" charset="-120"/>
                <a:ea typeface="標楷體" panose="03000509000000000000" pitchFamily="65" charset="-120"/>
              </a:rPr>
              <a:t>參數</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可容忍的資料</a:t>
            </a:r>
            <a:r>
              <a:rPr lang="zh-TW" altLang="zh-TW" dirty="0" smtClean="0">
                <a:latin typeface="標楷體" panose="03000509000000000000" pitchFamily="65" charset="-120"/>
                <a:ea typeface="標楷體" panose="03000509000000000000" pitchFamily="65" charset="-120"/>
              </a:rPr>
              <a:t>波動範圍</a:t>
            </a:r>
            <a:r>
              <a:rPr lang="zh-TW" altLang="zh-TW" dirty="0">
                <a:latin typeface="標楷體" panose="03000509000000000000" pitchFamily="65" charset="-120"/>
                <a:ea typeface="標楷體" panose="03000509000000000000" pitchFamily="65" charset="-120"/>
              </a:rPr>
              <a:t>（常使用</a:t>
            </a:r>
            <a:r>
              <a:rPr lang="en-US" altLang="zh-TW" dirty="0">
                <a:latin typeface="標楷體" panose="03000509000000000000" pitchFamily="65" charset="-120"/>
                <a:ea typeface="標楷體" panose="03000509000000000000" pitchFamily="65" charset="-120"/>
              </a:rPr>
              <a:t>1/2</a:t>
            </a:r>
            <a:r>
              <a:rPr lang="zh-TW" altLang="zh-TW" dirty="0">
                <a:latin typeface="標楷體" panose="03000509000000000000" pitchFamily="65" charset="-120"/>
                <a:ea typeface="標楷體" panose="03000509000000000000" pitchFamily="65" charset="-120"/>
              </a:rPr>
              <a:t>或</a:t>
            </a:r>
            <a:r>
              <a:rPr lang="en-US" altLang="zh-TW" dirty="0">
                <a:latin typeface="標楷體" panose="03000509000000000000" pitchFamily="65" charset="-120"/>
                <a:ea typeface="標楷體" panose="03000509000000000000" pitchFamily="65" charset="-120"/>
              </a:rPr>
              <a:t>1</a:t>
            </a:r>
            <a:r>
              <a:rPr lang="zh-TW" altLang="zh-TW" dirty="0">
                <a:latin typeface="標楷體" panose="03000509000000000000" pitchFamily="65" charset="-120"/>
                <a:ea typeface="標楷體" panose="03000509000000000000" pitchFamily="65" charset="-120"/>
              </a:rPr>
              <a:t>倍標準</a:t>
            </a:r>
            <a:r>
              <a:rPr lang="zh-TW" altLang="zh-TW" dirty="0" smtClean="0">
                <a:latin typeface="標楷體" panose="03000509000000000000" pitchFamily="65" charset="-120"/>
                <a:ea typeface="標楷體" panose="03000509000000000000" pitchFamily="65" charset="-120"/>
              </a:rPr>
              <a:t>差）</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變化累積量的門檻</a:t>
            </a:r>
            <a:r>
              <a:rPr lang="zh-TW" altLang="zh-TW" dirty="0" smtClean="0">
                <a:latin typeface="標楷體" panose="03000509000000000000" pitchFamily="65" charset="-120"/>
                <a:ea typeface="標楷體" panose="03000509000000000000" pitchFamily="65" charset="-120"/>
              </a:rPr>
              <a:t>（</a:t>
            </a:r>
            <a:r>
              <a:rPr lang="zh-TW" altLang="en-US" dirty="0">
                <a:latin typeface="標楷體" panose="03000509000000000000" pitchFamily="65" charset="-120"/>
                <a:ea typeface="標楷體" panose="03000509000000000000" pitchFamily="65" charset="-120"/>
              </a:rPr>
              <a:t>常</a:t>
            </a:r>
            <a:r>
              <a:rPr lang="zh-TW" altLang="zh-TW" dirty="0" smtClean="0">
                <a:latin typeface="標楷體" panose="03000509000000000000" pitchFamily="65" charset="-120"/>
                <a:ea typeface="標楷體" panose="03000509000000000000" pitchFamily="65" charset="-120"/>
              </a:rPr>
              <a:t>使用</a:t>
            </a:r>
            <a:r>
              <a:rPr lang="zh-TW" altLang="zh-TW" dirty="0">
                <a:latin typeface="標楷體" panose="03000509000000000000" pitchFamily="65" charset="-120"/>
                <a:ea typeface="標楷體" panose="03000509000000000000" pitchFamily="65" charset="-120"/>
              </a:rPr>
              <a:t>四或五倍標準差）</a:t>
            </a:r>
            <a:endParaRPr lang="zh-TW" altLang="en-US" dirty="0">
              <a:latin typeface="標楷體" panose="03000509000000000000" pitchFamily="65" charset="-120"/>
              <a:ea typeface="標楷體" panose="03000509000000000000" pitchFamily="65" charset="-120"/>
            </a:endParaRPr>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20</a:t>
            </a:fld>
            <a:endParaRPr lang="zh-TW" altLang="en-US"/>
          </a:p>
        </p:txBody>
      </p:sp>
    </p:spTree>
    <p:extLst>
      <p:ext uri="{BB962C8B-B14F-4D97-AF65-F5344CB8AC3E}">
        <p14:creationId xmlns:p14="http://schemas.microsoft.com/office/powerpoint/2010/main" val="4234059994"/>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ea typeface="標楷體" panose="03000509000000000000" pitchFamily="65" charset="-120"/>
                <a:cs typeface="Times New Roman" panose="02020603050405020304" pitchFamily="18" charset="0"/>
              </a:rPr>
              <a:t>CUSUM</a:t>
            </a:r>
            <a:r>
              <a:rPr lang="zh-TW" altLang="en-US" sz="3200" dirty="0" smtClean="0">
                <a:ea typeface="標楷體" panose="03000509000000000000" pitchFamily="65" charset="-120"/>
                <a:cs typeface="Times New Roman" panose="02020603050405020304" pitchFamily="18" charset="0"/>
              </a:rPr>
              <a:t>（</a:t>
            </a:r>
            <a:r>
              <a:rPr lang="en-US" altLang="zh-TW" sz="3200" dirty="0" smtClean="0">
                <a:ea typeface="標楷體" panose="03000509000000000000" pitchFamily="65" charset="-120"/>
                <a:cs typeface="Times New Roman" panose="02020603050405020304" pitchFamily="18" charset="0"/>
              </a:rPr>
              <a:t>Cumulative Sum</a:t>
            </a:r>
            <a:r>
              <a:rPr lang="zh-TW" altLang="en-US" sz="3200" dirty="0" smtClean="0">
                <a:ea typeface="標楷體" panose="03000509000000000000" pitchFamily="65" charset="-120"/>
                <a:cs typeface="Times New Roman" panose="02020603050405020304" pitchFamily="18" charset="0"/>
              </a:rPr>
              <a:t>）</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 name="內容版面配置區 2"/>
              <p:cNvSpPr>
                <a:spLocks noGrp="1"/>
              </p:cNvSpPr>
              <p:nvPr>
                <p:ph idx="1"/>
              </p:nvPr>
            </p:nvSpPr>
            <p:spPr/>
            <p:txBody>
              <a:bodyPr/>
              <a:lstStyle/>
              <a:p>
                <a14:m>
                  <m:oMath xmlns:m="http://schemas.openxmlformats.org/officeDocument/2006/math">
                    <m:r>
                      <m:rPr>
                        <m:sty m:val="p"/>
                      </m:rPr>
                      <a:rPr lang="en-US" altLang="zh-TW">
                        <a:latin typeface="Cambria Math" panose="02040503050406030204" pitchFamily="18" charset="0"/>
                      </a:rPr>
                      <m:t>SH</m:t>
                    </m:r>
                    <m:d>
                      <m:dPr>
                        <m:ctrlPr>
                          <a:rPr lang="zh-TW" altLang="zh-TW" i="1">
                            <a:latin typeface="Cambria Math" panose="02040503050406030204" pitchFamily="18" charset="0"/>
                          </a:rPr>
                        </m:ctrlPr>
                      </m:dPr>
                      <m:e>
                        <m:r>
                          <a:rPr lang="en-US" altLang="zh-TW" i="1">
                            <a:latin typeface="Cambria Math" panose="02040503050406030204" pitchFamily="18" charset="0"/>
                          </a:rPr>
                          <m:t>𝑖</m:t>
                        </m:r>
                      </m:e>
                    </m:d>
                    <m:r>
                      <a:rPr lang="en-US" altLang="zh-TW" i="1">
                        <a:latin typeface="Cambria Math" panose="02040503050406030204" pitchFamily="18" charset="0"/>
                      </a:rPr>
                      <m:t>=</m:t>
                    </m:r>
                    <m:r>
                      <a:rPr lang="en-US" altLang="zh-TW" i="1">
                        <a:latin typeface="Cambria Math" panose="02040503050406030204" pitchFamily="18" charset="0"/>
                      </a:rPr>
                      <m:t>𝑀𝑎𝑥</m:t>
                    </m:r>
                    <m:d>
                      <m:dPr>
                        <m:begChr m:val="["/>
                        <m:endChr m:val="]"/>
                        <m:ctrlPr>
                          <a:rPr lang="zh-TW" altLang="zh-TW" i="1">
                            <a:latin typeface="Cambria Math" panose="02040503050406030204" pitchFamily="18" charset="0"/>
                          </a:rPr>
                        </m:ctrlPr>
                      </m:dPr>
                      <m:e>
                        <m:r>
                          <a:rPr lang="en-US" altLang="zh-TW" i="1">
                            <a:latin typeface="Cambria Math" panose="02040503050406030204" pitchFamily="18" charset="0"/>
                          </a:rPr>
                          <m:t>0,</m:t>
                        </m:r>
                        <m:r>
                          <a:rPr lang="en-US" altLang="zh-TW" i="1">
                            <a:latin typeface="Cambria Math" panose="02040503050406030204" pitchFamily="18" charset="0"/>
                          </a:rPr>
                          <m:t>𝑆𝐻</m:t>
                        </m:r>
                        <m:d>
                          <m:dPr>
                            <m:ctrlPr>
                              <a:rPr lang="zh-TW" altLang="zh-TW" i="1">
                                <a:latin typeface="Cambria Math" panose="02040503050406030204" pitchFamily="18" charset="0"/>
                              </a:rPr>
                            </m:ctrlPr>
                          </m:dPr>
                          <m:e>
                            <m:r>
                              <a:rPr lang="en-US" altLang="zh-TW" i="1">
                                <a:latin typeface="Cambria Math" panose="02040503050406030204" pitchFamily="18" charset="0"/>
                              </a:rPr>
                              <m:t>𝑖</m:t>
                            </m:r>
                            <m:r>
                              <a:rPr lang="en-US" altLang="zh-TW" i="1">
                                <a:latin typeface="Cambria Math" panose="02040503050406030204" pitchFamily="18" charset="0"/>
                              </a:rPr>
                              <m:t>−1</m:t>
                            </m:r>
                          </m:e>
                        </m:d>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zh-TW" altLang="zh-TW" dirty="0">
                  <a:latin typeface="+mj-lt"/>
                </a:endParaRPr>
              </a:p>
              <a:p>
                <a14:m>
                  <m:oMath xmlns:m="http://schemas.openxmlformats.org/officeDocument/2006/math">
                    <m:r>
                      <m:rPr>
                        <m:sty m:val="p"/>
                      </m:rPr>
                      <a:rPr lang="en-US" altLang="zh-TW">
                        <a:latin typeface="Cambria Math" panose="02040503050406030204" pitchFamily="18" charset="0"/>
                      </a:rPr>
                      <m:t>SL</m:t>
                    </m:r>
                    <m:d>
                      <m:dPr>
                        <m:ctrlPr>
                          <a:rPr lang="zh-TW" altLang="zh-TW" i="1">
                            <a:latin typeface="Cambria Math" panose="02040503050406030204" pitchFamily="18" charset="0"/>
                          </a:rPr>
                        </m:ctrlPr>
                      </m:dPr>
                      <m:e>
                        <m:r>
                          <a:rPr lang="en-US" altLang="zh-TW" i="1">
                            <a:latin typeface="Cambria Math" panose="02040503050406030204" pitchFamily="18" charset="0"/>
                          </a:rPr>
                          <m:t>𝑖</m:t>
                        </m:r>
                      </m:e>
                    </m:d>
                    <m:r>
                      <a:rPr lang="en-US" altLang="zh-TW" i="1">
                        <a:latin typeface="Cambria Math" panose="02040503050406030204" pitchFamily="18" charset="0"/>
                      </a:rPr>
                      <m:t>=</m:t>
                    </m:r>
                    <m:r>
                      <a:rPr lang="en-US" altLang="zh-TW" i="1">
                        <a:latin typeface="Cambria Math" panose="02040503050406030204" pitchFamily="18" charset="0"/>
                      </a:rPr>
                      <m:t>𝑀𝑖𝑛</m:t>
                    </m:r>
                    <m:d>
                      <m:dPr>
                        <m:begChr m:val="["/>
                        <m:endChr m:val="]"/>
                        <m:ctrlPr>
                          <a:rPr lang="zh-TW" altLang="zh-TW" i="1">
                            <a:latin typeface="Cambria Math" panose="02040503050406030204" pitchFamily="18" charset="0"/>
                          </a:rPr>
                        </m:ctrlPr>
                      </m:dPr>
                      <m:e>
                        <m:r>
                          <a:rPr lang="en-US" altLang="zh-TW" i="1">
                            <a:latin typeface="Cambria Math" panose="02040503050406030204" pitchFamily="18" charset="0"/>
                          </a:rPr>
                          <m:t>0,</m:t>
                        </m:r>
                        <m:r>
                          <a:rPr lang="en-US" altLang="zh-TW" i="1">
                            <a:latin typeface="Cambria Math" panose="02040503050406030204" pitchFamily="18" charset="0"/>
                          </a:rPr>
                          <m:t>𝑆𝐿</m:t>
                        </m:r>
                        <m:d>
                          <m:dPr>
                            <m:ctrlPr>
                              <a:rPr lang="zh-TW" altLang="zh-TW" i="1">
                                <a:latin typeface="Cambria Math" panose="02040503050406030204" pitchFamily="18" charset="0"/>
                              </a:rPr>
                            </m:ctrlPr>
                          </m:dPr>
                          <m:e>
                            <m:r>
                              <a:rPr lang="en-US" altLang="zh-TW" i="1">
                                <a:latin typeface="Cambria Math" panose="02040503050406030204" pitchFamily="18" charset="0"/>
                              </a:rPr>
                              <m:t>𝑖</m:t>
                            </m:r>
                            <m:r>
                              <a:rPr lang="en-US" altLang="zh-TW" i="1">
                                <a:latin typeface="Cambria Math" panose="02040503050406030204" pitchFamily="18" charset="0"/>
                              </a:rPr>
                              <m:t>−1</m:t>
                            </m:r>
                          </m:e>
                        </m:d>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en-US" altLang="zh-TW" dirty="0" smtClean="0">
                  <a:latin typeface="+mj-lt"/>
                </a:endParaRPr>
              </a:p>
              <a:p>
                <a:pPr lvl="1"/>
                <a14:m>
                  <m:oMath xmlns:m="http://schemas.openxmlformats.org/officeDocument/2006/math">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oMath>
                </a14:m>
                <a:r>
                  <a:rPr lang="en-US" altLang="zh-TW" dirty="0" smtClean="0">
                    <a:latin typeface="標楷體" panose="03000509000000000000" pitchFamily="65" charset="-120"/>
                    <a:ea typeface="標楷體" panose="03000509000000000000" pitchFamily="65" charset="-120"/>
                  </a:rPr>
                  <a:t> =</a:t>
                </a:r>
                <a:r>
                  <a:rPr lang="zh-TW" altLang="en-US" dirty="0" smtClean="0">
                    <a:latin typeface="標楷體" panose="03000509000000000000" pitchFamily="65" charset="-120"/>
                    <a:ea typeface="標楷體" panose="03000509000000000000" pitchFamily="65" charset="-120"/>
                  </a:rPr>
                  <a:t> 資料數值</a:t>
                </a:r>
                <a:endParaRPr lang="en-US" altLang="zh-TW" dirty="0" smtClean="0">
                  <a:latin typeface="標楷體" panose="03000509000000000000" pitchFamily="65" charset="-120"/>
                  <a:ea typeface="標楷體" panose="03000509000000000000" pitchFamily="65" charset="-120"/>
                </a:endParaRPr>
              </a:p>
              <a:p>
                <a:pPr lvl="1"/>
                <a14:m>
                  <m:oMath xmlns:m="http://schemas.openxmlformats.org/officeDocument/2006/math">
                    <m:r>
                      <a:rPr lang="en-US" altLang="zh-TW" i="1">
                        <a:latin typeface="Cambria Math" panose="02040503050406030204" pitchFamily="18" charset="0"/>
                      </a:rPr>
                      <m:t>𝐺𝑜𝑎𝑙</m:t>
                    </m:r>
                  </m:oMath>
                </a14:m>
                <a:r>
                  <a:rPr lang="en-US" altLang="zh-TW" dirty="0" smtClean="0"/>
                  <a:t> =</a:t>
                </a:r>
                <a:r>
                  <a:rPr lang="zh-TW" altLang="en-US" dirty="0" smtClean="0"/>
                  <a:t> </a:t>
                </a:r>
                <a:r>
                  <a:rPr lang="zh-TW" altLang="en-US" dirty="0" smtClean="0">
                    <a:latin typeface="標楷體" panose="03000509000000000000" pitchFamily="65" charset="-120"/>
                    <a:ea typeface="標楷體" panose="03000509000000000000" pitchFamily="65" charset="-120"/>
                  </a:rPr>
                  <a:t>平均值</a:t>
                </a:r>
                <a:endParaRPr lang="en-US" altLang="zh-TW" dirty="0" smtClean="0">
                  <a:latin typeface="標楷體" panose="03000509000000000000" pitchFamily="65" charset="-120"/>
                  <a:ea typeface="標楷體" panose="03000509000000000000" pitchFamily="65" charset="-120"/>
                </a:endParaRPr>
              </a:p>
              <a:p>
                <a:pPr lvl="1"/>
                <a14:m>
                  <m:oMath xmlns:m="http://schemas.openxmlformats.org/officeDocument/2006/math">
                    <m:r>
                      <a:rPr lang="en-US" altLang="zh-TW" i="1">
                        <a:latin typeface="Cambria Math" panose="02040503050406030204" pitchFamily="18" charset="0"/>
                      </a:rPr>
                      <m:t>𝑘</m:t>
                    </m:r>
                  </m:oMath>
                </a14:m>
                <a:r>
                  <a:rPr lang="zh-TW" altLang="en-US" dirty="0" smtClean="0"/>
                  <a:t> </a:t>
                </a:r>
                <a:r>
                  <a:rPr lang="en-US" altLang="zh-TW" dirty="0" smtClean="0"/>
                  <a:t>=</a:t>
                </a:r>
                <a:r>
                  <a:rPr lang="zh-TW" altLang="en-US" dirty="0" smtClean="0"/>
                  <a:t> </a:t>
                </a:r>
                <a:r>
                  <a:rPr lang="en-US" altLang="zh-TW" dirty="0" smtClean="0"/>
                  <a:t>½~1</a:t>
                </a:r>
                <a:r>
                  <a:rPr lang="zh-TW" altLang="en-US" dirty="0" smtClean="0">
                    <a:latin typeface="標楷體" panose="03000509000000000000" pitchFamily="65" charset="-120"/>
                    <a:ea typeface="標楷體" panose="03000509000000000000" pitchFamily="65" charset="-120"/>
                  </a:rPr>
                  <a:t>倍標準差</a:t>
                </a:r>
                <a:endParaRPr lang="en-US" altLang="zh-TW" dirty="0" smtClean="0">
                  <a:latin typeface="標楷體" panose="03000509000000000000" pitchFamily="65" charset="-120"/>
                  <a:ea typeface="標楷體" panose="03000509000000000000" pitchFamily="65" charset="-120"/>
                </a:endParaRPr>
              </a:p>
              <a:p>
                <a:r>
                  <a:rPr lang="zh-TW" altLang="zh-TW" dirty="0" smtClean="0">
                    <a:latin typeface="標楷體" panose="03000509000000000000" pitchFamily="65" charset="-120"/>
                    <a:ea typeface="標楷體" panose="03000509000000000000" pitchFamily="65" charset="-120"/>
                  </a:rPr>
                  <a:t>觀察</a:t>
                </a:r>
                <a:endParaRPr lang="en-US" altLang="zh-TW" dirty="0" smtClean="0">
                  <a:latin typeface="標楷體" panose="03000509000000000000" pitchFamily="65" charset="-120"/>
                  <a:ea typeface="標楷體" panose="03000509000000000000" pitchFamily="65" charset="-120"/>
                </a:endParaRPr>
              </a:p>
              <a:p>
                <a:pPr lvl="1"/>
                <a14:m>
                  <m:oMath xmlns:m="http://schemas.openxmlformats.org/officeDocument/2006/math">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d>
                      <m:dPr>
                        <m:ctrlPr>
                          <a:rPr lang="zh-TW" altLang="zh-TW" i="1">
                            <a:latin typeface="Cambria Math" panose="02040503050406030204" pitchFamily="18" charset="0"/>
                          </a:rPr>
                        </m:ctrlPr>
                      </m:dPr>
                      <m:e>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en-US" altLang="zh-TW" dirty="0" smtClean="0">
                  <a:ea typeface="標楷體" panose="03000509000000000000" pitchFamily="65" charset="-120"/>
                </a:endParaRPr>
              </a:p>
              <a:p>
                <a:pPr lvl="1"/>
                <a14:m>
                  <m:oMath xmlns:m="http://schemas.openxmlformats.org/officeDocument/2006/math">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d>
                      <m:dPr>
                        <m:ctrlPr>
                          <a:rPr lang="zh-TW" altLang="zh-TW" i="1">
                            <a:latin typeface="Cambria Math" panose="02040503050406030204" pitchFamily="18" charset="0"/>
                          </a:rPr>
                        </m:ctrlPr>
                      </m:dPr>
                      <m:e>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zh-TW" altLang="zh-TW" dirty="0">
                  <a:ea typeface="標楷體" panose="03000509000000000000" pitchFamily="65" charset="-120"/>
                </a:endParaRPr>
              </a:p>
              <a:p>
                <a:endParaRPr lang="zh-TW" altLang="en-US" dirty="0"/>
              </a:p>
            </p:txBody>
          </p:sp>
        </mc:Choice>
        <mc:Fallback xmlns="">
          <p:sp>
            <p:nvSpPr>
              <p:cNvPr id="3" name="內容版面配置區 2"/>
              <p:cNvSpPr>
                <a:spLocks noGrp="1" noRot="1" noChangeAspect="1" noMove="1" noResize="1" noEditPoints="1" noAdjustHandles="1" noChangeArrowheads="1" noChangeShapeType="1" noTextEdit="1"/>
              </p:cNvSpPr>
              <p:nvPr>
                <p:ph idx="1"/>
              </p:nvPr>
            </p:nvSpPr>
            <p:spPr>
              <a:blipFill>
                <a:blip r:embed="rId3"/>
                <a:stretch>
                  <a:fillRect l="-1043"/>
                </a:stretch>
              </a:blipFill>
            </p:spPr>
            <p:txBody>
              <a:bodyPr/>
              <a:lstStyle/>
              <a:p>
                <a:r>
                  <a:rPr lang="zh-TW" altLang="en-US">
                    <a:noFill/>
                  </a:rPr>
                  <a:t> </a:t>
                </a:r>
              </a:p>
            </p:txBody>
          </p:sp>
        </mc:Fallback>
      </mc:AlternateContent>
      <p:sp>
        <p:nvSpPr>
          <p:cNvPr id="6" name="投影片編號版面配置區 5"/>
          <p:cNvSpPr>
            <a:spLocks noGrp="1"/>
          </p:cNvSpPr>
          <p:nvPr>
            <p:ph type="sldNum" sz="quarter" idx="12"/>
          </p:nvPr>
        </p:nvSpPr>
        <p:spPr/>
        <p:txBody>
          <a:bodyPr/>
          <a:lstStyle/>
          <a:p>
            <a:fld id="{914C6EE6-3FC0-42F2-A2AA-2F8392A95B97}" type="slidenum">
              <a:rPr lang="zh-TW" altLang="en-US" smtClean="0"/>
              <a:t>21</a:t>
            </a:fld>
            <a:endParaRPr lang="zh-TW" altLang="en-US"/>
          </a:p>
        </p:txBody>
      </p:sp>
    </p:spTree>
    <p:extLst>
      <p:ext uri="{BB962C8B-B14F-4D97-AF65-F5344CB8AC3E}">
        <p14:creationId xmlns:p14="http://schemas.microsoft.com/office/powerpoint/2010/main" val="34519170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ea typeface="標楷體" panose="03000509000000000000" pitchFamily="65" charset="-120"/>
                <a:cs typeface="Times New Roman" panose="02020603050405020304" pitchFamily="18" charset="0"/>
              </a:rPr>
              <a:t>LOF</a:t>
            </a:r>
            <a:r>
              <a:rPr lang="zh-TW" altLang="en-US" sz="3200" dirty="0" smtClean="0">
                <a:ea typeface="標楷體" panose="03000509000000000000" pitchFamily="65" charset="-120"/>
                <a:cs typeface="Times New Roman" panose="02020603050405020304" pitchFamily="18" charset="0"/>
              </a:rPr>
              <a:t>（</a:t>
            </a:r>
            <a:r>
              <a:rPr lang="en-US" altLang="zh-TW" sz="3200" dirty="0" smtClean="0">
                <a:ea typeface="標楷體" panose="03000509000000000000" pitchFamily="65" charset="-120"/>
                <a:cs typeface="Times New Roman" panose="02020603050405020304" pitchFamily="18" charset="0"/>
              </a:rPr>
              <a:t>Local Outlier Factor</a:t>
            </a:r>
            <a:r>
              <a:rPr lang="zh-TW" altLang="en-US" sz="3200" dirty="0" smtClean="0">
                <a:ea typeface="標楷體" panose="03000509000000000000" pitchFamily="65" charset="-120"/>
                <a:cs typeface="Times New Roman" panose="02020603050405020304" pitchFamily="18" charset="0"/>
              </a:rPr>
              <a:t>）</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a:xfrm>
            <a:off x="838200" y="1690688"/>
            <a:ext cx="10515600" cy="4351338"/>
          </a:xfrm>
        </p:spPr>
        <p:txBody>
          <a:bodyPr/>
          <a:lstStyle/>
          <a:p>
            <a:r>
              <a:rPr lang="en-US" altLang="zh-TW" dirty="0"/>
              <a:t>LOF</a:t>
            </a:r>
            <a:r>
              <a:rPr lang="zh-TW" altLang="zh-TW" dirty="0">
                <a:latin typeface="標楷體" panose="03000509000000000000" pitchFamily="65" charset="-120"/>
                <a:ea typeface="標楷體" panose="03000509000000000000" pitchFamily="65" charset="-120"/>
              </a:rPr>
              <a:t>是參考資料點間距離與區域分布密度作為檢測標準的演算法</a:t>
            </a:r>
            <a:endParaRPr lang="zh-TW" altLang="en-US" dirty="0">
              <a:latin typeface="標楷體" panose="03000509000000000000" pitchFamily="65" charset="-120"/>
              <a:ea typeface="標楷體" panose="03000509000000000000" pitchFamily="65" charset="-120"/>
            </a:endParaRPr>
          </a:p>
        </p:txBody>
      </p:sp>
      <p:pic>
        <p:nvPicPr>
          <p:cNvPr id="8" name="內容版面配置區 6"/>
          <p:cNvPicPr>
            <a:picLocks/>
          </p:cNvPicPr>
          <p:nvPr/>
        </p:nvPicPr>
        <p:blipFill>
          <a:blip r:embed="rId3"/>
          <a:stretch>
            <a:fillRect/>
          </a:stretch>
        </p:blipFill>
        <p:spPr>
          <a:xfrm>
            <a:off x="4116000" y="2589831"/>
            <a:ext cx="3960000" cy="3960000"/>
          </a:xfrm>
          <a:prstGeom prst="rect">
            <a:avLst/>
          </a:prstGeom>
        </p:spPr>
      </p:pic>
      <p:sp>
        <p:nvSpPr>
          <p:cNvPr id="6" name="投影片編號版面配置區 5"/>
          <p:cNvSpPr>
            <a:spLocks noGrp="1"/>
          </p:cNvSpPr>
          <p:nvPr>
            <p:ph type="sldNum" sz="quarter" idx="12"/>
          </p:nvPr>
        </p:nvSpPr>
        <p:spPr/>
        <p:txBody>
          <a:bodyPr/>
          <a:lstStyle/>
          <a:p>
            <a:fld id="{914C6EE6-3FC0-42F2-A2AA-2F8392A95B97}" type="slidenum">
              <a:rPr lang="zh-TW" altLang="en-US" smtClean="0"/>
              <a:t>22</a:t>
            </a:fld>
            <a:endParaRPr lang="zh-TW" altLang="en-US"/>
          </a:p>
        </p:txBody>
      </p:sp>
    </p:spTree>
    <p:extLst>
      <p:ext uri="{BB962C8B-B14F-4D97-AF65-F5344CB8AC3E}">
        <p14:creationId xmlns:p14="http://schemas.microsoft.com/office/powerpoint/2010/main" val="2435409816"/>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Times New Roman" panose="02020603050405020304" pitchFamily="18" charset="0"/>
                <a:ea typeface="標楷體" panose="03000509000000000000" pitchFamily="65" charset="-120"/>
                <a:cs typeface="Times New Roman" panose="02020603050405020304" pitchFamily="18" charset="0"/>
              </a:rPr>
              <a:t>實</a:t>
            </a:r>
            <a:r>
              <a:rPr lang="zh-TW" altLang="en-US" sz="3200" dirty="0" smtClean="0">
                <a:latin typeface="Times New Roman" panose="02020603050405020304" pitchFamily="18" charset="0"/>
                <a:ea typeface="標楷體" panose="03000509000000000000" pitchFamily="65" charset="-120"/>
                <a:cs typeface="Times New Roman" panose="02020603050405020304" pitchFamily="18" charset="0"/>
              </a:rPr>
              <a:t>作的偵測方法</a:t>
            </a:r>
            <a:endParaRPr lang="en-US" altLang="zh-TW" sz="3200"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門檻值</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一般常態分佈</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資料片段平均值與常態分佈</a:t>
            </a:r>
            <a:endParaRPr lang="en-US" altLang="zh-TW" dirty="0" smtClean="0">
              <a:latin typeface="標楷體" panose="03000509000000000000" pitchFamily="65" charset="-120"/>
              <a:ea typeface="標楷體" panose="03000509000000000000" pitchFamily="65" charset="-120"/>
            </a:endParaRPr>
          </a:p>
          <a:p>
            <a:pPr lvl="0"/>
            <a:r>
              <a:rPr lang="en-US" altLang="zh-TW" dirty="0"/>
              <a:t>CUSUM</a:t>
            </a:r>
            <a:endParaRPr lang="zh-TW" altLang="zh-TW" dirty="0"/>
          </a:p>
          <a:p>
            <a:r>
              <a:rPr lang="zh-TW" altLang="en-US" dirty="0" smtClean="0">
                <a:latin typeface="標楷體" panose="03000509000000000000" pitchFamily="65" charset="-120"/>
                <a:ea typeface="標楷體" panose="03000509000000000000" pitchFamily="65" charset="-120"/>
              </a:rPr>
              <a:t>資料片段數值與</a:t>
            </a:r>
            <a:r>
              <a:rPr lang="en-US" altLang="zh-TW" dirty="0" smtClean="0"/>
              <a:t>LOF</a:t>
            </a:r>
          </a:p>
          <a:p>
            <a:r>
              <a:rPr lang="zh-TW" altLang="en-US" dirty="0" smtClean="0">
                <a:latin typeface="標楷體" panose="03000509000000000000" pitchFamily="65" charset="-120"/>
                <a:ea typeface="標楷體" panose="03000509000000000000" pitchFamily="65" charset="-120"/>
              </a:rPr>
              <a:t>資料片段平均值、標準差與</a:t>
            </a:r>
            <a:r>
              <a:rPr lang="en-US" altLang="zh-TW" dirty="0" smtClean="0"/>
              <a:t>LOF</a:t>
            </a: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23</a:t>
            </a:fld>
            <a:endParaRPr lang="zh-TW" altLang="en-US"/>
          </a:p>
        </p:txBody>
      </p:sp>
    </p:spTree>
    <p:extLst>
      <p:ext uri="{BB962C8B-B14F-4D97-AF65-F5344CB8AC3E}">
        <p14:creationId xmlns:p14="http://schemas.microsoft.com/office/powerpoint/2010/main" val="85766014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實驗一</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24</a:t>
            </a:fld>
            <a:endParaRPr lang="zh-TW" altLang="en-US"/>
          </a:p>
        </p:txBody>
      </p:sp>
    </p:spTree>
    <p:extLst>
      <p:ext uri="{BB962C8B-B14F-4D97-AF65-F5344CB8AC3E}">
        <p14:creationId xmlns:p14="http://schemas.microsoft.com/office/powerpoint/2010/main" val="208400020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訓練</a:t>
            </a:r>
            <a:r>
              <a:rPr lang="zh-TW" altLang="en-US" sz="3200" dirty="0">
                <a:latin typeface="標楷體" panose="03000509000000000000" pitchFamily="65" charset="-120"/>
                <a:ea typeface="標楷體" panose="03000509000000000000" pitchFamily="65" charset="-120"/>
              </a:rPr>
              <a:t>數據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6" name="內容版面配置區 5"/>
          <p:cNvPicPr>
            <a:picLocks noGrp="1"/>
          </p:cNvPicPr>
          <p:nvPr>
            <p:ph idx="1"/>
          </p:nvPr>
        </p:nvPicPr>
        <p:blipFill>
          <a:blip r:embed="rId3"/>
          <a:stretch>
            <a:fillRect/>
          </a:stretch>
        </p:blipFill>
        <p:spPr>
          <a:xfrm>
            <a:off x="2192834" y="1825625"/>
            <a:ext cx="7806332" cy="4351338"/>
          </a:xfrm>
          <a:prstGeom prst="rect">
            <a:avLst/>
          </a:prstGeom>
        </p:spPr>
      </p:pic>
      <p:sp>
        <p:nvSpPr>
          <p:cNvPr id="3" name="投影片編號版面配置區 2"/>
          <p:cNvSpPr>
            <a:spLocks noGrp="1"/>
          </p:cNvSpPr>
          <p:nvPr>
            <p:ph type="sldNum" sz="quarter" idx="12"/>
          </p:nvPr>
        </p:nvSpPr>
        <p:spPr/>
        <p:txBody>
          <a:bodyPr/>
          <a:lstStyle/>
          <a:p>
            <a:fld id="{914C6EE6-3FC0-42F2-A2AA-2F8392A95B97}" type="slidenum">
              <a:rPr lang="zh-TW" altLang="en-US" smtClean="0"/>
              <a:t>25</a:t>
            </a:fld>
            <a:endParaRPr lang="zh-TW" altLang="en-US"/>
          </a:p>
        </p:txBody>
      </p:sp>
    </p:spTree>
    <p:extLst>
      <p:ext uri="{BB962C8B-B14F-4D97-AF65-F5344CB8AC3E}">
        <p14:creationId xmlns:p14="http://schemas.microsoft.com/office/powerpoint/2010/main" val="35174350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演算法參數設</a:t>
            </a:r>
            <a:r>
              <a:rPr lang="zh-TW" altLang="en-US" sz="3200" dirty="0">
                <a:latin typeface="標楷體" panose="03000509000000000000" pitchFamily="65" charset="-120"/>
                <a:ea typeface="標楷體" panose="03000509000000000000" pitchFamily="65" charset="-120"/>
              </a:rPr>
              <a:t>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normAutofit fontScale="92500" lnSpcReduction="20000"/>
          </a:bodyPr>
          <a:lstStyle/>
          <a:p>
            <a:r>
              <a:rPr lang="zh-TW" altLang="zh-TW" dirty="0">
                <a:latin typeface="標楷體" panose="03000509000000000000" pitchFamily="65" charset="-120"/>
                <a:ea typeface="標楷體" panose="03000509000000000000" pitchFamily="65" charset="-120"/>
              </a:rPr>
              <a:t>一般常態</a:t>
            </a:r>
            <a:r>
              <a:rPr lang="zh-TW" altLang="zh-TW" dirty="0" smtClean="0">
                <a:latin typeface="標楷體" panose="03000509000000000000" pitchFamily="65" charset="-120"/>
                <a:ea typeface="標楷體" panose="03000509000000000000" pitchFamily="65" charset="-120"/>
              </a:rPr>
              <a:t>分佈</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三倍標準差</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集體資料的平均值常態</a:t>
            </a:r>
            <a:r>
              <a:rPr lang="zh-TW" altLang="zh-TW" dirty="0" smtClean="0">
                <a:latin typeface="標楷體" panose="03000509000000000000" pitchFamily="65" charset="-120"/>
                <a:ea typeface="標楷體" panose="03000509000000000000" pitchFamily="65" charset="-120"/>
              </a:rPr>
              <a:t>分佈</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視窗大小為</a:t>
            </a:r>
            <a:r>
              <a:rPr lang="en-US" altLang="zh-TW" dirty="0" smtClean="0">
                <a:ea typeface="標楷體" panose="03000509000000000000" pitchFamily="65" charset="-120"/>
              </a:rPr>
              <a:t>8</a:t>
            </a:r>
            <a:r>
              <a:rPr lang="zh-TW" altLang="en-US"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滑動間隔為</a:t>
            </a:r>
            <a:r>
              <a:rPr lang="en-US" altLang="zh-TW" dirty="0" smtClean="0">
                <a:ea typeface="標楷體" panose="03000509000000000000" pitchFamily="65" charset="-120"/>
              </a:rPr>
              <a:t>6</a:t>
            </a:r>
            <a:r>
              <a:rPr lang="zh-TW" altLang="en-US"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五倍標準差</a:t>
            </a:r>
            <a:endParaRPr lang="en-US" altLang="zh-TW" dirty="0" smtClean="0">
              <a:latin typeface="標楷體" panose="03000509000000000000" pitchFamily="65" charset="-120"/>
              <a:ea typeface="標楷體" panose="03000509000000000000" pitchFamily="65" charset="-120"/>
            </a:endParaRPr>
          </a:p>
          <a:p>
            <a:r>
              <a:rPr lang="en-US" altLang="zh-TW" dirty="0" smtClean="0"/>
              <a:t>CUSUM</a:t>
            </a:r>
          </a:p>
          <a:p>
            <a:pPr lvl="1"/>
            <a:r>
              <a:rPr lang="zh-TW" altLang="zh-TW" dirty="0">
                <a:latin typeface="標楷體" panose="03000509000000000000" pitchFamily="65" charset="-120"/>
                <a:ea typeface="標楷體" panose="03000509000000000000" pitchFamily="65" charset="-120"/>
              </a:rPr>
              <a:t>資料波動的容忍區間為</a:t>
            </a:r>
            <a:r>
              <a:rPr lang="en-US" altLang="zh-TW" dirty="0"/>
              <a:t>1/2</a:t>
            </a:r>
            <a:r>
              <a:rPr lang="zh-TW" altLang="zh-TW" dirty="0">
                <a:latin typeface="標楷體" panose="03000509000000000000" pitchFamily="65" charset="-120"/>
                <a:ea typeface="標楷體" panose="03000509000000000000" pitchFamily="65" charset="-120"/>
              </a:rPr>
              <a:t>標準</a:t>
            </a:r>
            <a:r>
              <a:rPr lang="zh-TW" altLang="zh-TW" dirty="0" smtClean="0">
                <a:latin typeface="標楷體" panose="03000509000000000000" pitchFamily="65" charset="-120"/>
                <a:ea typeface="標楷體" panose="03000509000000000000" pitchFamily="65" charset="-120"/>
              </a:rPr>
              <a:t>差</a:t>
            </a:r>
            <a:endParaRPr lang="en-US" altLang="zh-TW" dirty="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累加值異常門檻則是</a:t>
            </a:r>
            <a:r>
              <a:rPr lang="en-US" altLang="zh-TW" dirty="0"/>
              <a:t>4</a:t>
            </a:r>
            <a:r>
              <a:rPr lang="zh-TW" altLang="zh-TW" dirty="0">
                <a:latin typeface="標楷體" panose="03000509000000000000" pitchFamily="65" charset="-120"/>
                <a:ea typeface="標楷體" panose="03000509000000000000" pitchFamily="65" charset="-120"/>
              </a:rPr>
              <a:t>倍標準差</a:t>
            </a:r>
            <a:endParaRPr lang="en-US" altLang="zh-TW" dirty="0" smtClean="0">
              <a:latin typeface="標楷體" panose="03000509000000000000" pitchFamily="65" charset="-120"/>
              <a:ea typeface="標楷體" panose="03000509000000000000" pitchFamily="65" charset="-120"/>
            </a:endParaRPr>
          </a:p>
          <a:p>
            <a:r>
              <a:rPr lang="en-US" altLang="zh-TW" dirty="0" smtClean="0"/>
              <a:t>LOF</a:t>
            </a:r>
            <a:r>
              <a:rPr lang="zh-TW" altLang="zh-TW" dirty="0" smtClean="0">
                <a:latin typeface="標楷體" panose="03000509000000000000" pitchFamily="65" charset="-120"/>
                <a:ea typeface="標楷體" panose="03000509000000000000" pitchFamily="65" charset="-120"/>
              </a:rPr>
              <a:t>方法</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視窗大小為</a:t>
            </a:r>
            <a:r>
              <a:rPr lang="en-US" altLang="zh-TW" dirty="0"/>
              <a:t>8</a:t>
            </a:r>
            <a:r>
              <a:rPr lang="zh-TW" altLang="zh-TW" dirty="0">
                <a:latin typeface="標楷體" panose="03000509000000000000" pitchFamily="65" charset="-120"/>
                <a:ea typeface="標楷體" panose="03000509000000000000" pitchFamily="65" charset="-120"/>
              </a:rPr>
              <a:t>筆</a:t>
            </a:r>
            <a:r>
              <a:rPr lang="zh-TW" altLang="zh-TW" dirty="0" smtClean="0">
                <a:latin typeface="標楷體" panose="03000509000000000000" pitchFamily="65" charset="-120"/>
                <a:ea typeface="標楷體" panose="03000509000000000000" pitchFamily="65" charset="-120"/>
              </a:rPr>
              <a:t>資料</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滑動</a:t>
            </a:r>
            <a:r>
              <a:rPr lang="zh-TW" altLang="en-US" dirty="0">
                <a:latin typeface="標楷體" panose="03000509000000000000" pitchFamily="65" charset="-120"/>
                <a:ea typeface="標楷體" panose="03000509000000000000" pitchFamily="65" charset="-120"/>
              </a:rPr>
              <a:t>間隔</a:t>
            </a:r>
            <a:r>
              <a:rPr lang="zh-TW" altLang="zh-TW" dirty="0" smtClean="0">
                <a:latin typeface="標楷體" panose="03000509000000000000" pitchFamily="65" charset="-120"/>
                <a:ea typeface="標楷體" panose="03000509000000000000" pitchFamily="65" charset="-120"/>
              </a:rPr>
              <a:t>為</a:t>
            </a:r>
            <a:r>
              <a:rPr lang="en-US" altLang="zh-TW" dirty="0"/>
              <a:t>1</a:t>
            </a:r>
            <a:r>
              <a:rPr lang="zh-TW" altLang="zh-TW" dirty="0">
                <a:latin typeface="標楷體" panose="03000509000000000000" pitchFamily="65" charset="-120"/>
                <a:ea typeface="標楷體" panose="03000509000000000000" pitchFamily="65" charset="-120"/>
              </a:rPr>
              <a:t>筆</a:t>
            </a:r>
            <a:r>
              <a:rPr lang="zh-TW" altLang="zh-TW" dirty="0" smtClean="0">
                <a:latin typeface="標楷體" panose="03000509000000000000" pitchFamily="65" charset="-120"/>
                <a:ea typeface="標楷體" panose="03000509000000000000" pitchFamily="65" charset="-120"/>
              </a:rPr>
              <a:t>資料</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判斷區域的鄰近點個數為</a:t>
            </a:r>
            <a:r>
              <a:rPr lang="en-US" altLang="zh-TW" dirty="0" smtClean="0"/>
              <a:t>8</a:t>
            </a: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26</a:t>
            </a:fld>
            <a:endParaRPr lang="zh-TW" altLang="en-US"/>
          </a:p>
        </p:txBody>
      </p:sp>
    </p:spTree>
    <p:extLst>
      <p:ext uri="{BB962C8B-B14F-4D97-AF65-F5344CB8AC3E}">
        <p14:creationId xmlns:p14="http://schemas.microsoft.com/office/powerpoint/2010/main" val="116783464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實驗設計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模擬事件類型</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快速偏離並</a:t>
            </a:r>
            <a:r>
              <a:rPr lang="zh-TW" altLang="zh-TW" dirty="0" smtClean="0">
                <a:latin typeface="標楷體" panose="03000509000000000000" pitchFamily="65" charset="-120"/>
                <a:ea typeface="標楷體" panose="03000509000000000000" pitchFamily="65" charset="-120"/>
              </a:rPr>
              <a:t>回歸</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緩慢偏離並</a:t>
            </a:r>
            <a:r>
              <a:rPr lang="zh-TW" altLang="zh-TW" dirty="0" smtClean="0">
                <a:latin typeface="標楷體" panose="03000509000000000000" pitchFamily="65" charset="-120"/>
                <a:ea typeface="標楷體" panose="03000509000000000000" pitchFamily="65" charset="-120"/>
              </a:rPr>
              <a:t>回歸</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快速</a:t>
            </a:r>
            <a:r>
              <a:rPr lang="zh-TW" altLang="zh-TW" dirty="0" smtClean="0">
                <a:latin typeface="標楷體" panose="03000509000000000000" pitchFamily="65" charset="-120"/>
                <a:ea typeface="標楷體" panose="03000509000000000000" pitchFamily="65" charset="-120"/>
              </a:rPr>
              <a:t>偏離</a:t>
            </a:r>
            <a:endParaRPr lang="en-US" altLang="zh-TW" dirty="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緩慢</a:t>
            </a:r>
            <a:r>
              <a:rPr lang="zh-TW" altLang="zh-TW" dirty="0" smtClean="0">
                <a:latin typeface="標楷體" panose="03000509000000000000" pitchFamily="65" charset="-120"/>
                <a:ea typeface="標楷體" panose="03000509000000000000" pitchFamily="65" charset="-120"/>
              </a:rPr>
              <a:t>偏離</a:t>
            </a:r>
            <a:endParaRPr lang="en-US" altLang="zh-TW" dirty="0" smtClean="0">
              <a:latin typeface="標楷體" panose="03000509000000000000" pitchFamily="65" charset="-120"/>
              <a:ea typeface="標楷體" panose="03000509000000000000" pitchFamily="65" charset="-120"/>
            </a:endParaRPr>
          </a:p>
          <a:p>
            <a:pPr lvl="1"/>
            <a:endParaRPr lang="en-US" altLang="zh-TW" dirty="0" smtClean="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27</a:t>
            </a:fld>
            <a:endParaRPr lang="zh-TW" altLang="en-US"/>
          </a:p>
        </p:txBody>
      </p:sp>
    </p:spTree>
    <p:extLst>
      <p:ext uri="{BB962C8B-B14F-4D97-AF65-F5344CB8AC3E}">
        <p14:creationId xmlns:p14="http://schemas.microsoft.com/office/powerpoint/2010/main" val="162149776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2" name="圖片 11"/>
          <p:cNvPicPr/>
          <p:nvPr/>
        </p:nvPicPr>
        <p:blipFill>
          <a:blip r:embed="rId3"/>
          <a:stretch>
            <a:fillRect/>
          </a:stretch>
        </p:blipFill>
        <p:spPr>
          <a:xfrm>
            <a:off x="622852" y="456810"/>
            <a:ext cx="5148000" cy="2880000"/>
          </a:xfrm>
          <a:prstGeom prst="rect">
            <a:avLst/>
          </a:prstGeom>
        </p:spPr>
      </p:pic>
      <p:pic>
        <p:nvPicPr>
          <p:cNvPr id="13" name="圖片 12"/>
          <p:cNvPicPr/>
          <p:nvPr/>
        </p:nvPicPr>
        <p:blipFill>
          <a:blip r:embed="rId4"/>
          <a:stretch>
            <a:fillRect/>
          </a:stretch>
        </p:blipFill>
        <p:spPr>
          <a:xfrm>
            <a:off x="6286047" y="456810"/>
            <a:ext cx="5148000" cy="2880000"/>
          </a:xfrm>
          <a:prstGeom prst="rect">
            <a:avLst/>
          </a:prstGeom>
        </p:spPr>
      </p:pic>
      <p:pic>
        <p:nvPicPr>
          <p:cNvPr id="14" name="圖片 13"/>
          <p:cNvPicPr/>
          <p:nvPr/>
        </p:nvPicPr>
        <p:blipFill>
          <a:blip r:embed="rId5"/>
          <a:stretch>
            <a:fillRect/>
          </a:stretch>
        </p:blipFill>
        <p:spPr>
          <a:xfrm>
            <a:off x="622852" y="3567405"/>
            <a:ext cx="5148000" cy="2880000"/>
          </a:xfrm>
          <a:prstGeom prst="rect">
            <a:avLst/>
          </a:prstGeom>
        </p:spPr>
      </p:pic>
      <p:pic>
        <p:nvPicPr>
          <p:cNvPr id="15" name="圖片 14"/>
          <p:cNvPicPr/>
          <p:nvPr/>
        </p:nvPicPr>
        <p:blipFill>
          <a:blip r:embed="rId6"/>
          <a:stretch>
            <a:fillRect/>
          </a:stretch>
        </p:blipFill>
        <p:spPr>
          <a:xfrm>
            <a:off x="6286047" y="3567405"/>
            <a:ext cx="5148000" cy="2880000"/>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28</a:t>
            </a:fld>
            <a:endParaRPr lang="zh-TW" altLang="en-US"/>
          </a:p>
        </p:txBody>
      </p:sp>
    </p:spTree>
    <p:extLst>
      <p:ext uri="{BB962C8B-B14F-4D97-AF65-F5344CB8AC3E}">
        <p14:creationId xmlns:p14="http://schemas.microsoft.com/office/powerpoint/2010/main" val="382600664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圖片 6"/>
          <p:cNvPicPr/>
          <p:nvPr/>
        </p:nvPicPr>
        <p:blipFill>
          <a:blip r:embed="rId3"/>
          <a:stretch>
            <a:fillRect/>
          </a:stretch>
        </p:blipFill>
        <p:spPr>
          <a:xfrm>
            <a:off x="693139" y="918549"/>
            <a:ext cx="5148580" cy="2879725"/>
          </a:xfrm>
          <a:prstGeom prst="rect">
            <a:avLst/>
          </a:prstGeom>
        </p:spPr>
      </p:pic>
      <p:pic>
        <p:nvPicPr>
          <p:cNvPr id="8" name="圖片 7"/>
          <p:cNvPicPr/>
          <p:nvPr/>
        </p:nvPicPr>
        <p:blipFill>
          <a:blip r:embed="rId4"/>
          <a:stretch>
            <a:fillRect/>
          </a:stretch>
        </p:blipFill>
        <p:spPr>
          <a:xfrm>
            <a:off x="6282016" y="918548"/>
            <a:ext cx="5148000" cy="2879725"/>
          </a:xfrm>
          <a:prstGeom prst="rect">
            <a:avLst/>
          </a:prstGeom>
        </p:spPr>
      </p:pic>
      <p:pic>
        <p:nvPicPr>
          <p:cNvPr id="10" name="圖片 9"/>
          <p:cNvPicPr/>
          <p:nvPr/>
        </p:nvPicPr>
        <p:blipFill>
          <a:blip r:embed="rId5"/>
          <a:stretch>
            <a:fillRect/>
          </a:stretch>
        </p:blipFill>
        <p:spPr>
          <a:xfrm>
            <a:off x="693139" y="3798275"/>
            <a:ext cx="5148000" cy="2879725"/>
          </a:xfrm>
          <a:prstGeom prst="rect">
            <a:avLst/>
          </a:prstGeom>
        </p:spPr>
      </p:pic>
      <p:pic>
        <p:nvPicPr>
          <p:cNvPr id="11" name="圖片 10"/>
          <p:cNvPicPr/>
          <p:nvPr/>
        </p:nvPicPr>
        <p:blipFill>
          <a:blip r:embed="rId6"/>
          <a:stretch>
            <a:fillRect/>
          </a:stretch>
        </p:blipFill>
        <p:spPr>
          <a:xfrm>
            <a:off x="6282016" y="3798274"/>
            <a:ext cx="5148000" cy="2879725"/>
          </a:xfrm>
          <a:prstGeom prst="rect">
            <a:avLst/>
          </a:prstGeom>
        </p:spPr>
      </p:pic>
      <p:sp>
        <p:nvSpPr>
          <p:cNvPr id="12" name="標題 1"/>
          <p:cNvSpPr>
            <a:spLocks noGrp="1"/>
          </p:cNvSpPr>
          <p:nvPr>
            <p:ph type="title"/>
          </p:nvPr>
        </p:nvSpPr>
        <p:spPr>
          <a:xfrm>
            <a:off x="838200" y="266868"/>
            <a:ext cx="10515600" cy="564811"/>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實驗</a:t>
            </a:r>
            <a:r>
              <a:rPr lang="en-US" altLang="zh-TW" sz="3200" dirty="0" smtClean="0">
                <a:latin typeface="標楷體" panose="03000509000000000000" pitchFamily="65" charset="-120"/>
                <a:ea typeface="標楷體" panose="03000509000000000000" pitchFamily="65" charset="-120"/>
              </a:rPr>
              <a:t>(1)–</a:t>
            </a:r>
            <a:r>
              <a:rPr lang="zh-TW" altLang="en-US" sz="3200" dirty="0" smtClean="0">
                <a:latin typeface="標楷體" panose="03000509000000000000" pitchFamily="65" charset="-120"/>
                <a:ea typeface="標楷體" panose="03000509000000000000" pitchFamily="65" charset="-120"/>
              </a:rPr>
              <a:t>一般</a:t>
            </a:r>
            <a:r>
              <a:rPr lang="zh-TW" altLang="en-US" sz="3200" dirty="0">
                <a:latin typeface="標楷體" panose="03000509000000000000" pitchFamily="65" charset="-120"/>
                <a:ea typeface="標楷體" panose="03000509000000000000" pitchFamily="65" charset="-120"/>
              </a:rPr>
              <a:t>常態分佈</a:t>
            </a:r>
            <a:endParaRPr lang="en-US" altLang="zh-TW" sz="3200" dirty="0">
              <a:latin typeface="標楷體" panose="03000509000000000000" pitchFamily="65" charset="-120"/>
              <a:ea typeface="標楷體" panose="03000509000000000000" pitchFamily="65" charset="-120"/>
            </a:endParaRPr>
          </a:p>
        </p:txBody>
      </p:sp>
      <p:sp>
        <p:nvSpPr>
          <p:cNvPr id="2" name="投影片編號版面配置區 1"/>
          <p:cNvSpPr>
            <a:spLocks noGrp="1"/>
          </p:cNvSpPr>
          <p:nvPr>
            <p:ph type="sldNum" sz="quarter" idx="12"/>
          </p:nvPr>
        </p:nvSpPr>
        <p:spPr/>
        <p:txBody>
          <a:bodyPr/>
          <a:lstStyle/>
          <a:p>
            <a:fld id="{914C6EE6-3FC0-42F2-A2AA-2F8392A95B97}" type="slidenum">
              <a:rPr lang="zh-TW" altLang="en-US" smtClean="0"/>
              <a:t>29</a:t>
            </a:fld>
            <a:endParaRPr lang="zh-TW" altLang="en-US"/>
          </a:p>
        </p:txBody>
      </p:sp>
    </p:spTree>
    <p:extLst>
      <p:ext uri="{BB962C8B-B14F-4D97-AF65-F5344CB8AC3E}">
        <p14:creationId xmlns:p14="http://schemas.microsoft.com/office/powerpoint/2010/main" val="85212186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9" name="圖片 8"/>
          <p:cNvPicPr/>
          <p:nvPr/>
        </p:nvPicPr>
        <p:blipFill>
          <a:blip r:embed="rId3"/>
          <a:stretch>
            <a:fillRect/>
          </a:stretch>
        </p:blipFill>
        <p:spPr>
          <a:xfrm>
            <a:off x="595433" y="918549"/>
            <a:ext cx="5148000" cy="2879725"/>
          </a:xfrm>
          <a:prstGeom prst="rect">
            <a:avLst/>
          </a:prstGeom>
        </p:spPr>
      </p:pic>
      <p:pic>
        <p:nvPicPr>
          <p:cNvPr id="12" name="圖片 11"/>
          <p:cNvPicPr/>
          <p:nvPr/>
        </p:nvPicPr>
        <p:blipFill>
          <a:blip r:embed="rId4"/>
          <a:stretch>
            <a:fillRect/>
          </a:stretch>
        </p:blipFill>
        <p:spPr>
          <a:xfrm>
            <a:off x="6340825" y="918549"/>
            <a:ext cx="5146040" cy="2879725"/>
          </a:xfrm>
          <a:prstGeom prst="rect">
            <a:avLst/>
          </a:prstGeom>
        </p:spPr>
      </p:pic>
      <p:pic>
        <p:nvPicPr>
          <p:cNvPr id="14" name="圖片 13"/>
          <p:cNvPicPr/>
          <p:nvPr/>
        </p:nvPicPr>
        <p:blipFill>
          <a:blip r:embed="rId5"/>
          <a:stretch>
            <a:fillRect/>
          </a:stretch>
        </p:blipFill>
        <p:spPr>
          <a:xfrm>
            <a:off x="6338865" y="3798275"/>
            <a:ext cx="5148000" cy="2879725"/>
          </a:xfrm>
          <a:prstGeom prst="rect">
            <a:avLst/>
          </a:prstGeom>
        </p:spPr>
      </p:pic>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latin typeface="標楷體" panose="03000509000000000000" pitchFamily="65" charset="-120"/>
                <a:ea typeface="標楷體" panose="03000509000000000000" pitchFamily="65" charset="-120"/>
              </a:rPr>
              <a:t>實驗</a:t>
            </a:r>
            <a:r>
              <a:rPr lang="en-US" altLang="zh-TW" sz="3200" dirty="0" smtClean="0">
                <a:latin typeface="標楷體" panose="03000509000000000000" pitchFamily="65" charset="-120"/>
                <a:ea typeface="標楷體" panose="03000509000000000000" pitchFamily="65" charset="-120"/>
              </a:rPr>
              <a:t>(2)–</a:t>
            </a:r>
            <a:r>
              <a:rPr lang="zh-TW" altLang="en-US" sz="3200" dirty="0" smtClean="0">
                <a:latin typeface="標楷體" panose="03000509000000000000" pitchFamily="65" charset="-120"/>
                <a:ea typeface="標楷體" panose="03000509000000000000" pitchFamily="65" charset="-120"/>
              </a:rPr>
              <a:t>資料</a:t>
            </a:r>
            <a:r>
              <a:rPr lang="zh-TW" altLang="en-US" sz="3200" dirty="0">
                <a:latin typeface="標楷體" panose="03000509000000000000" pitchFamily="65" charset="-120"/>
                <a:ea typeface="標楷體" panose="03000509000000000000" pitchFamily="65" charset="-120"/>
              </a:rPr>
              <a:t>片段平均值與常態分佈</a:t>
            </a:r>
          </a:p>
        </p:txBody>
      </p:sp>
      <p:pic>
        <p:nvPicPr>
          <p:cNvPr id="10" name="圖片 9"/>
          <p:cNvPicPr>
            <a:picLocks noChangeAspect="1"/>
          </p:cNvPicPr>
          <p:nvPr/>
        </p:nvPicPr>
        <p:blipFill>
          <a:blip r:embed="rId6"/>
          <a:stretch>
            <a:fillRect/>
          </a:stretch>
        </p:blipFill>
        <p:spPr>
          <a:xfrm>
            <a:off x="595433" y="3798274"/>
            <a:ext cx="5148000" cy="2879571"/>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30</a:t>
            </a:fld>
            <a:endParaRPr lang="zh-TW" altLang="en-US"/>
          </a:p>
        </p:txBody>
      </p:sp>
    </p:spTree>
    <p:extLst>
      <p:ext uri="{BB962C8B-B14F-4D97-AF65-F5344CB8AC3E}">
        <p14:creationId xmlns:p14="http://schemas.microsoft.com/office/powerpoint/2010/main" val="1865134767"/>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latin typeface="標楷體" panose="03000509000000000000" pitchFamily="65" charset="-120"/>
                <a:ea typeface="標楷體" panose="03000509000000000000" pitchFamily="65" charset="-120"/>
              </a:rPr>
              <a:t>實驗</a:t>
            </a:r>
            <a:r>
              <a:rPr lang="en-US" altLang="zh-TW" sz="3200" dirty="0" smtClean="0">
                <a:latin typeface="標楷體" panose="03000509000000000000" pitchFamily="65" charset="-120"/>
                <a:ea typeface="標楷體" panose="03000509000000000000" pitchFamily="65" charset="-120"/>
              </a:rPr>
              <a:t>(3)– </a:t>
            </a:r>
            <a:r>
              <a:rPr lang="en-US" altLang="zh-TW" sz="3200" dirty="0" smtClean="0">
                <a:ea typeface="標楷體" panose="03000509000000000000" pitchFamily="65" charset="-120"/>
              </a:rPr>
              <a:t>CUSUM</a:t>
            </a:r>
            <a:endParaRPr lang="zh-TW" altLang="en-US" sz="3200" dirty="0">
              <a:ea typeface="標楷體" panose="03000509000000000000" pitchFamily="65" charset="-120"/>
            </a:endParaRPr>
          </a:p>
        </p:txBody>
      </p:sp>
      <p:pic>
        <p:nvPicPr>
          <p:cNvPr id="10" name="圖片 9"/>
          <p:cNvPicPr/>
          <p:nvPr/>
        </p:nvPicPr>
        <p:blipFill>
          <a:blip r:embed="rId3"/>
          <a:stretch>
            <a:fillRect/>
          </a:stretch>
        </p:blipFill>
        <p:spPr>
          <a:xfrm>
            <a:off x="757464" y="927164"/>
            <a:ext cx="5148000" cy="2879725"/>
          </a:xfrm>
          <a:prstGeom prst="rect">
            <a:avLst/>
          </a:prstGeom>
        </p:spPr>
      </p:pic>
      <p:pic>
        <p:nvPicPr>
          <p:cNvPr id="11" name="圖片 10"/>
          <p:cNvPicPr/>
          <p:nvPr/>
        </p:nvPicPr>
        <p:blipFill>
          <a:blip r:embed="rId4"/>
          <a:stretch>
            <a:fillRect/>
          </a:stretch>
        </p:blipFill>
        <p:spPr>
          <a:xfrm>
            <a:off x="6359702" y="927164"/>
            <a:ext cx="5146040" cy="2879725"/>
          </a:xfrm>
          <a:prstGeom prst="rect">
            <a:avLst/>
          </a:prstGeom>
        </p:spPr>
      </p:pic>
      <p:pic>
        <p:nvPicPr>
          <p:cNvPr id="16" name="圖片 15"/>
          <p:cNvPicPr/>
          <p:nvPr/>
        </p:nvPicPr>
        <p:blipFill>
          <a:blip r:embed="rId5"/>
          <a:stretch>
            <a:fillRect/>
          </a:stretch>
        </p:blipFill>
        <p:spPr>
          <a:xfrm>
            <a:off x="719901" y="3798275"/>
            <a:ext cx="5148000" cy="2879725"/>
          </a:xfrm>
          <a:prstGeom prst="rect">
            <a:avLst/>
          </a:prstGeom>
        </p:spPr>
      </p:pic>
      <p:pic>
        <p:nvPicPr>
          <p:cNvPr id="17" name="圖片 16"/>
          <p:cNvPicPr/>
          <p:nvPr/>
        </p:nvPicPr>
        <p:blipFill>
          <a:blip r:embed="rId6"/>
          <a:stretch>
            <a:fillRect/>
          </a:stretch>
        </p:blipFill>
        <p:spPr>
          <a:xfrm>
            <a:off x="6322139" y="3798274"/>
            <a:ext cx="5148000" cy="2879725"/>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31</a:t>
            </a:fld>
            <a:endParaRPr lang="zh-TW" altLang="en-US"/>
          </a:p>
        </p:txBody>
      </p:sp>
    </p:spTree>
    <p:extLst>
      <p:ext uri="{BB962C8B-B14F-4D97-AF65-F5344CB8AC3E}">
        <p14:creationId xmlns:p14="http://schemas.microsoft.com/office/powerpoint/2010/main" val="3931586440"/>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latin typeface="標楷體" panose="03000509000000000000" pitchFamily="65" charset="-120"/>
                <a:ea typeface="標楷體" panose="03000509000000000000" pitchFamily="65" charset="-120"/>
              </a:rPr>
              <a:t>實驗</a:t>
            </a:r>
            <a:r>
              <a:rPr lang="en-US" altLang="zh-TW" sz="3200" dirty="0" smtClean="0">
                <a:latin typeface="標楷體" panose="03000509000000000000" pitchFamily="65" charset="-120"/>
                <a:ea typeface="標楷體" panose="03000509000000000000" pitchFamily="65" charset="-120"/>
              </a:rPr>
              <a:t>(4)–</a:t>
            </a:r>
            <a:r>
              <a:rPr lang="zh-TW" altLang="en-US" sz="3200" dirty="0" smtClean="0">
                <a:ea typeface="標楷體" panose="03000509000000000000" pitchFamily="65" charset="-120"/>
              </a:rPr>
              <a:t>資料</a:t>
            </a:r>
            <a:r>
              <a:rPr lang="zh-TW" altLang="en-US" sz="3200" dirty="0">
                <a:ea typeface="標楷體" panose="03000509000000000000" pitchFamily="65" charset="-120"/>
              </a:rPr>
              <a:t>片段數值與</a:t>
            </a:r>
            <a:r>
              <a:rPr lang="en-US" altLang="zh-TW" sz="3200" dirty="0">
                <a:ea typeface="標楷體" panose="03000509000000000000" pitchFamily="65" charset="-120"/>
              </a:rPr>
              <a:t>LOF</a:t>
            </a:r>
          </a:p>
        </p:txBody>
      </p:sp>
      <p:pic>
        <p:nvPicPr>
          <p:cNvPr id="9" name="圖片 8"/>
          <p:cNvPicPr/>
          <p:nvPr/>
        </p:nvPicPr>
        <p:blipFill>
          <a:blip r:embed="rId3"/>
          <a:stretch>
            <a:fillRect/>
          </a:stretch>
        </p:blipFill>
        <p:spPr>
          <a:xfrm>
            <a:off x="745484" y="918549"/>
            <a:ext cx="5148000" cy="2879725"/>
          </a:xfrm>
          <a:prstGeom prst="rect">
            <a:avLst/>
          </a:prstGeom>
        </p:spPr>
      </p:pic>
      <p:pic>
        <p:nvPicPr>
          <p:cNvPr id="12" name="圖片 11"/>
          <p:cNvPicPr/>
          <p:nvPr/>
        </p:nvPicPr>
        <p:blipFill>
          <a:blip r:embed="rId4"/>
          <a:stretch>
            <a:fillRect/>
          </a:stretch>
        </p:blipFill>
        <p:spPr>
          <a:xfrm>
            <a:off x="6468742" y="918549"/>
            <a:ext cx="5148000" cy="2879725"/>
          </a:xfrm>
          <a:prstGeom prst="rect">
            <a:avLst/>
          </a:prstGeom>
        </p:spPr>
      </p:pic>
      <p:pic>
        <p:nvPicPr>
          <p:cNvPr id="13" name="圖片 12"/>
          <p:cNvPicPr/>
          <p:nvPr/>
        </p:nvPicPr>
        <p:blipFill>
          <a:blip r:embed="rId5"/>
          <a:stretch>
            <a:fillRect/>
          </a:stretch>
        </p:blipFill>
        <p:spPr>
          <a:xfrm>
            <a:off x="745484" y="3796413"/>
            <a:ext cx="5148000" cy="2879725"/>
          </a:xfrm>
          <a:prstGeom prst="rect">
            <a:avLst/>
          </a:prstGeom>
        </p:spPr>
      </p:pic>
      <p:pic>
        <p:nvPicPr>
          <p:cNvPr id="14" name="圖片 13"/>
          <p:cNvPicPr/>
          <p:nvPr/>
        </p:nvPicPr>
        <p:blipFill>
          <a:blip r:embed="rId6"/>
          <a:stretch>
            <a:fillRect/>
          </a:stretch>
        </p:blipFill>
        <p:spPr>
          <a:xfrm>
            <a:off x="6468742" y="3796412"/>
            <a:ext cx="5148000" cy="2879725"/>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32</a:t>
            </a:fld>
            <a:endParaRPr lang="zh-TW" altLang="en-US"/>
          </a:p>
        </p:txBody>
      </p:sp>
    </p:spTree>
    <p:extLst>
      <p:ext uri="{BB962C8B-B14F-4D97-AF65-F5344CB8AC3E}">
        <p14:creationId xmlns:p14="http://schemas.microsoft.com/office/powerpoint/2010/main" val="906584245"/>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latin typeface="標楷體" panose="03000509000000000000" pitchFamily="65" charset="-120"/>
                <a:ea typeface="標楷體" panose="03000509000000000000" pitchFamily="65" charset="-120"/>
              </a:rPr>
              <a:t>實驗</a:t>
            </a:r>
            <a:r>
              <a:rPr lang="en-US" altLang="zh-TW" sz="3200" dirty="0" smtClean="0">
                <a:latin typeface="標楷體" panose="03000509000000000000" pitchFamily="65" charset="-120"/>
                <a:ea typeface="標楷體" panose="03000509000000000000" pitchFamily="65" charset="-120"/>
              </a:rPr>
              <a:t>(5)–</a:t>
            </a:r>
            <a:r>
              <a:rPr lang="zh-TW" altLang="en-US" sz="3200" dirty="0" smtClean="0">
                <a:ea typeface="標楷體" panose="03000509000000000000" pitchFamily="65" charset="-120"/>
              </a:rPr>
              <a:t>資料</a:t>
            </a:r>
            <a:r>
              <a:rPr lang="zh-TW" altLang="en-US" sz="3200" dirty="0">
                <a:ea typeface="標楷體" panose="03000509000000000000" pitchFamily="65" charset="-120"/>
              </a:rPr>
              <a:t>片段平均值、標準差與</a:t>
            </a:r>
            <a:r>
              <a:rPr lang="en-US" altLang="zh-TW" sz="3200" dirty="0">
                <a:ea typeface="標楷體" panose="03000509000000000000" pitchFamily="65" charset="-120"/>
              </a:rPr>
              <a:t>LOF</a:t>
            </a:r>
          </a:p>
        </p:txBody>
      </p:sp>
      <p:pic>
        <p:nvPicPr>
          <p:cNvPr id="10" name="圖片 9"/>
          <p:cNvPicPr/>
          <p:nvPr/>
        </p:nvPicPr>
        <p:blipFill>
          <a:blip r:embed="rId3"/>
          <a:stretch>
            <a:fillRect/>
          </a:stretch>
        </p:blipFill>
        <p:spPr>
          <a:xfrm>
            <a:off x="734982" y="918550"/>
            <a:ext cx="5148000" cy="2879725"/>
          </a:xfrm>
          <a:prstGeom prst="rect">
            <a:avLst/>
          </a:prstGeom>
        </p:spPr>
      </p:pic>
      <p:pic>
        <p:nvPicPr>
          <p:cNvPr id="11" name="圖片 10"/>
          <p:cNvPicPr/>
          <p:nvPr/>
        </p:nvPicPr>
        <p:blipFill>
          <a:blip r:embed="rId4"/>
          <a:stretch>
            <a:fillRect/>
          </a:stretch>
        </p:blipFill>
        <p:spPr>
          <a:xfrm>
            <a:off x="6464430" y="891444"/>
            <a:ext cx="5148000" cy="2879725"/>
          </a:xfrm>
          <a:prstGeom prst="rect">
            <a:avLst/>
          </a:prstGeom>
        </p:spPr>
      </p:pic>
      <p:pic>
        <p:nvPicPr>
          <p:cNvPr id="16" name="圖片 15"/>
          <p:cNvPicPr/>
          <p:nvPr/>
        </p:nvPicPr>
        <p:blipFill>
          <a:blip r:embed="rId5"/>
          <a:stretch>
            <a:fillRect/>
          </a:stretch>
        </p:blipFill>
        <p:spPr>
          <a:xfrm>
            <a:off x="734982" y="3771169"/>
            <a:ext cx="5148000" cy="2879725"/>
          </a:xfrm>
          <a:prstGeom prst="rect">
            <a:avLst/>
          </a:prstGeom>
        </p:spPr>
      </p:pic>
      <p:pic>
        <p:nvPicPr>
          <p:cNvPr id="17" name="圖片 16"/>
          <p:cNvPicPr/>
          <p:nvPr/>
        </p:nvPicPr>
        <p:blipFill>
          <a:blip r:embed="rId6"/>
          <a:stretch>
            <a:fillRect/>
          </a:stretch>
        </p:blipFill>
        <p:spPr>
          <a:xfrm>
            <a:off x="6464430" y="3798275"/>
            <a:ext cx="5148000" cy="2879725"/>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33</a:t>
            </a:fld>
            <a:endParaRPr lang="zh-TW" altLang="en-US"/>
          </a:p>
        </p:txBody>
      </p:sp>
    </p:spTree>
    <p:extLst>
      <p:ext uri="{BB962C8B-B14F-4D97-AF65-F5344CB8AC3E}">
        <p14:creationId xmlns:p14="http://schemas.microsoft.com/office/powerpoint/2010/main" val="1806028782"/>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實驗二</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34</a:t>
            </a:fld>
            <a:endParaRPr lang="zh-TW" altLang="en-US"/>
          </a:p>
        </p:txBody>
      </p:sp>
    </p:spTree>
    <p:extLst>
      <p:ext uri="{BB962C8B-B14F-4D97-AF65-F5344CB8AC3E}">
        <p14:creationId xmlns:p14="http://schemas.microsoft.com/office/powerpoint/2010/main" val="4095563492"/>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訓練</a:t>
            </a:r>
            <a:r>
              <a:rPr lang="zh-TW" altLang="en-US" sz="3200" dirty="0">
                <a:latin typeface="標楷體" panose="03000509000000000000" pitchFamily="65" charset="-120"/>
                <a:ea typeface="標楷體" panose="03000509000000000000" pitchFamily="65" charset="-120"/>
              </a:rPr>
              <a:t>數據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p:cNvPicPr>
          <p:nvPr>
            <p:ph idx="1"/>
          </p:nvPr>
        </p:nvPicPr>
        <p:blipFill>
          <a:blip r:embed="rId3"/>
          <a:stretch>
            <a:fillRect/>
          </a:stretch>
        </p:blipFill>
        <p:spPr>
          <a:xfrm>
            <a:off x="2175974" y="1825625"/>
            <a:ext cx="7840051" cy="4351338"/>
          </a:xfrm>
          <a:prstGeom prst="rect">
            <a:avLst/>
          </a:prstGeom>
        </p:spPr>
      </p:pic>
      <p:sp>
        <p:nvSpPr>
          <p:cNvPr id="3" name="投影片編號版面配置區 2"/>
          <p:cNvSpPr>
            <a:spLocks noGrp="1"/>
          </p:cNvSpPr>
          <p:nvPr>
            <p:ph type="sldNum" sz="quarter" idx="12"/>
          </p:nvPr>
        </p:nvSpPr>
        <p:spPr/>
        <p:txBody>
          <a:bodyPr/>
          <a:lstStyle/>
          <a:p>
            <a:fld id="{914C6EE6-3FC0-42F2-A2AA-2F8392A95B97}" type="slidenum">
              <a:rPr lang="zh-TW" altLang="en-US" smtClean="0"/>
              <a:t>35</a:t>
            </a:fld>
            <a:endParaRPr lang="zh-TW" altLang="en-US"/>
          </a:p>
        </p:txBody>
      </p:sp>
    </p:spTree>
    <p:extLst>
      <p:ext uri="{BB962C8B-B14F-4D97-AF65-F5344CB8AC3E}">
        <p14:creationId xmlns:p14="http://schemas.microsoft.com/office/powerpoint/2010/main" val="1020522611"/>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訓練</a:t>
            </a:r>
            <a:r>
              <a:rPr lang="zh-TW" altLang="en-US" sz="3200" dirty="0">
                <a:latin typeface="標楷體" panose="03000509000000000000" pitchFamily="65" charset="-120"/>
                <a:ea typeface="標楷體" panose="03000509000000000000" pitchFamily="65" charset="-120"/>
              </a:rPr>
              <a:t>數據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8" name="內容版面配置區 7"/>
          <p:cNvPicPr>
            <a:picLocks noGrp="1"/>
          </p:cNvPicPr>
          <p:nvPr>
            <p:ph idx="1"/>
          </p:nvPr>
        </p:nvPicPr>
        <p:blipFill>
          <a:blip r:embed="rId3"/>
          <a:stretch>
            <a:fillRect/>
          </a:stretch>
        </p:blipFill>
        <p:spPr>
          <a:xfrm>
            <a:off x="2176516" y="1825625"/>
            <a:ext cx="7838968" cy="4351338"/>
          </a:xfrm>
          <a:prstGeom prst="rect">
            <a:avLst/>
          </a:prstGeom>
        </p:spPr>
      </p:pic>
      <p:sp>
        <p:nvSpPr>
          <p:cNvPr id="3" name="投影片編號版面配置區 2"/>
          <p:cNvSpPr>
            <a:spLocks noGrp="1"/>
          </p:cNvSpPr>
          <p:nvPr>
            <p:ph type="sldNum" sz="quarter" idx="12"/>
          </p:nvPr>
        </p:nvSpPr>
        <p:spPr/>
        <p:txBody>
          <a:bodyPr/>
          <a:lstStyle/>
          <a:p>
            <a:fld id="{914C6EE6-3FC0-42F2-A2AA-2F8392A95B97}" type="slidenum">
              <a:rPr lang="zh-TW" altLang="en-US" smtClean="0"/>
              <a:t>36</a:t>
            </a:fld>
            <a:endParaRPr lang="zh-TW" altLang="en-US"/>
          </a:p>
        </p:txBody>
      </p:sp>
    </p:spTree>
    <p:extLst>
      <p:ext uri="{BB962C8B-B14F-4D97-AF65-F5344CB8AC3E}">
        <p14:creationId xmlns:p14="http://schemas.microsoft.com/office/powerpoint/2010/main" val="918199451"/>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實驗設計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模擬事件類型</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於資料波動範圍內的單點和集體異常</a:t>
            </a:r>
            <a:endParaRPr lang="en-US" altLang="zh-TW" dirty="0" smtClean="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37</a:t>
            </a:fld>
            <a:endParaRPr lang="zh-TW" altLang="en-US"/>
          </a:p>
        </p:txBody>
      </p:sp>
    </p:spTree>
    <p:extLst>
      <p:ext uri="{BB962C8B-B14F-4D97-AF65-F5344CB8AC3E}">
        <p14:creationId xmlns:p14="http://schemas.microsoft.com/office/powerpoint/2010/main" val="3148240960"/>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模擬週期</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p:cNvPicPr>
          <p:nvPr>
            <p:ph idx="1"/>
          </p:nvPr>
        </p:nvPicPr>
        <p:blipFill>
          <a:blip r:embed="rId3"/>
          <a:stretch>
            <a:fillRect/>
          </a:stretch>
        </p:blipFill>
        <p:spPr>
          <a:xfrm>
            <a:off x="2180886" y="1825625"/>
            <a:ext cx="7830227" cy="4351338"/>
          </a:xfrm>
          <a:prstGeom prst="rect">
            <a:avLst/>
          </a:prstGeom>
        </p:spPr>
      </p:pic>
      <p:sp>
        <p:nvSpPr>
          <p:cNvPr id="8" name="橢圓 7"/>
          <p:cNvSpPr/>
          <p:nvPr/>
        </p:nvSpPr>
        <p:spPr>
          <a:xfrm>
            <a:off x="3500438" y="2133656"/>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橢圓 8"/>
          <p:cNvSpPr/>
          <p:nvPr/>
        </p:nvSpPr>
        <p:spPr>
          <a:xfrm>
            <a:off x="4352926" y="5443594"/>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橢圓 9"/>
          <p:cNvSpPr/>
          <p:nvPr/>
        </p:nvSpPr>
        <p:spPr>
          <a:xfrm>
            <a:off x="6781800" y="2888692"/>
            <a:ext cx="1462088" cy="940357"/>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38</a:t>
            </a:fld>
            <a:endParaRPr lang="zh-TW" altLang="en-US"/>
          </a:p>
        </p:txBody>
      </p:sp>
    </p:spTree>
    <p:extLst>
      <p:ext uri="{BB962C8B-B14F-4D97-AF65-F5344CB8AC3E}">
        <p14:creationId xmlns:p14="http://schemas.microsoft.com/office/powerpoint/2010/main" val="310489391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真實資料週期</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9" name="內容版面配置區 8"/>
          <p:cNvPicPr>
            <a:picLocks noGrp="1"/>
          </p:cNvPicPr>
          <p:nvPr>
            <p:ph idx="1"/>
          </p:nvPr>
        </p:nvPicPr>
        <p:blipFill>
          <a:blip r:embed="rId3"/>
          <a:stretch>
            <a:fillRect/>
          </a:stretch>
        </p:blipFill>
        <p:spPr>
          <a:xfrm>
            <a:off x="2193394" y="1825625"/>
            <a:ext cx="7805212" cy="4351338"/>
          </a:xfrm>
          <a:prstGeom prst="rect">
            <a:avLst/>
          </a:prstGeom>
        </p:spPr>
      </p:pic>
      <p:sp>
        <p:nvSpPr>
          <p:cNvPr id="10" name="橢圓 9"/>
          <p:cNvSpPr/>
          <p:nvPr/>
        </p:nvSpPr>
        <p:spPr>
          <a:xfrm>
            <a:off x="3914776" y="2762306"/>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橢圓 10"/>
          <p:cNvSpPr/>
          <p:nvPr/>
        </p:nvSpPr>
        <p:spPr>
          <a:xfrm>
            <a:off x="5629275" y="4987312"/>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p:nvSpPr>
        <p:spPr>
          <a:xfrm>
            <a:off x="7258051" y="3641293"/>
            <a:ext cx="1285874" cy="687819"/>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39</a:t>
            </a:fld>
            <a:endParaRPr lang="zh-TW" altLang="en-US"/>
          </a:p>
        </p:txBody>
      </p:sp>
    </p:spTree>
    <p:extLst>
      <p:ext uri="{BB962C8B-B14F-4D97-AF65-F5344CB8AC3E}">
        <p14:creationId xmlns:p14="http://schemas.microsoft.com/office/powerpoint/2010/main" val="473038325"/>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演算法參數設</a:t>
            </a:r>
            <a:r>
              <a:rPr lang="zh-TW" altLang="en-US" sz="3200" dirty="0">
                <a:latin typeface="標楷體" panose="03000509000000000000" pitchFamily="65" charset="-120"/>
                <a:ea typeface="標楷體" panose="03000509000000000000" pitchFamily="65" charset="-120"/>
              </a:rPr>
              <a:t>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normAutofit/>
          </a:bodyPr>
          <a:lstStyle/>
          <a:p>
            <a:r>
              <a:rPr lang="en-US" altLang="zh-TW" dirty="0" smtClean="0"/>
              <a:t>LOF</a:t>
            </a:r>
            <a:r>
              <a:rPr lang="zh-TW" altLang="zh-TW" dirty="0" smtClean="0">
                <a:latin typeface="標楷體" panose="03000509000000000000" pitchFamily="65" charset="-120"/>
                <a:ea typeface="標楷體" panose="03000509000000000000" pitchFamily="65" charset="-120"/>
              </a:rPr>
              <a:t>方法</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視窗大小為</a:t>
            </a:r>
            <a:r>
              <a:rPr lang="en-US" altLang="zh-TW" dirty="0" smtClean="0"/>
              <a:t>8</a:t>
            </a:r>
            <a:r>
              <a:rPr lang="zh-TW" altLang="zh-TW"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滑動間格為</a:t>
            </a:r>
            <a:r>
              <a:rPr lang="en-US" altLang="zh-TW" dirty="0" smtClean="0"/>
              <a:t>1</a:t>
            </a:r>
            <a:r>
              <a:rPr lang="zh-TW" altLang="zh-TW"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判斷區域的鄰近點個數為</a:t>
            </a:r>
            <a:r>
              <a:rPr lang="en-US" altLang="zh-TW" dirty="0" smtClean="0">
                <a:ea typeface="標楷體" panose="03000509000000000000" pitchFamily="65" charset="-120"/>
              </a:rPr>
              <a:t>3</a:t>
            </a:r>
            <a:endParaRPr lang="en-US" altLang="zh-TW" dirty="0" smtClean="0"/>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40</a:t>
            </a:fld>
            <a:endParaRPr lang="zh-TW" altLang="en-US"/>
          </a:p>
        </p:txBody>
      </p:sp>
    </p:spTree>
    <p:extLst>
      <p:ext uri="{BB962C8B-B14F-4D97-AF65-F5344CB8AC3E}">
        <p14:creationId xmlns:p14="http://schemas.microsoft.com/office/powerpoint/2010/main" val="4023622447"/>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ea typeface="標楷體" panose="03000509000000000000" pitchFamily="65" charset="-120"/>
              </a:rPr>
              <a:t>資料片段數值與</a:t>
            </a:r>
            <a:r>
              <a:rPr lang="en-US" altLang="zh-TW" sz="3200" dirty="0">
                <a:ea typeface="標楷體" panose="03000509000000000000" pitchFamily="65" charset="-120"/>
              </a:rPr>
              <a:t>LOF</a:t>
            </a:r>
          </a:p>
        </p:txBody>
      </p:sp>
      <p:pic>
        <p:nvPicPr>
          <p:cNvPr id="11" name="內容版面配置區 5"/>
          <p:cNvPicPr>
            <a:picLocks/>
          </p:cNvPicPr>
          <p:nvPr/>
        </p:nvPicPr>
        <p:blipFill>
          <a:blip r:embed="rId3"/>
          <a:stretch>
            <a:fillRect/>
          </a:stretch>
        </p:blipFill>
        <p:spPr>
          <a:xfrm>
            <a:off x="6072000" y="3438000"/>
            <a:ext cx="6120000" cy="3240000"/>
          </a:xfrm>
          <a:prstGeom prst="rect">
            <a:avLst/>
          </a:prstGeom>
        </p:spPr>
      </p:pic>
      <p:pic>
        <p:nvPicPr>
          <p:cNvPr id="10" name="內容版面配置區 6"/>
          <p:cNvPicPr>
            <a:picLocks noGrp="1"/>
          </p:cNvPicPr>
          <p:nvPr>
            <p:ph idx="1"/>
          </p:nvPr>
        </p:nvPicPr>
        <p:blipFill>
          <a:blip r:embed="rId4"/>
          <a:stretch>
            <a:fillRect/>
          </a:stretch>
        </p:blipFill>
        <p:spPr>
          <a:xfrm>
            <a:off x="0" y="864337"/>
            <a:ext cx="6120000" cy="3240000"/>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41</a:t>
            </a:fld>
            <a:endParaRPr lang="zh-TW" altLang="en-US"/>
          </a:p>
        </p:txBody>
      </p:sp>
    </p:spTree>
    <p:extLst>
      <p:ext uri="{BB962C8B-B14F-4D97-AF65-F5344CB8AC3E}">
        <p14:creationId xmlns:p14="http://schemas.microsoft.com/office/powerpoint/2010/main" val="3754105635"/>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ea typeface="標楷體" panose="03000509000000000000" pitchFamily="65" charset="-120"/>
              </a:rPr>
              <a:t>資料片段平均值、標準差與</a:t>
            </a:r>
            <a:r>
              <a:rPr lang="en-US" altLang="zh-TW" sz="3200" dirty="0">
                <a:ea typeface="標楷體" panose="03000509000000000000" pitchFamily="65" charset="-120"/>
              </a:rPr>
              <a:t>LOF</a:t>
            </a:r>
          </a:p>
        </p:txBody>
      </p:sp>
      <p:pic>
        <p:nvPicPr>
          <p:cNvPr id="12" name="內容版面配置區 8"/>
          <p:cNvPicPr>
            <a:picLocks/>
          </p:cNvPicPr>
          <p:nvPr/>
        </p:nvPicPr>
        <p:blipFill>
          <a:blip r:embed="rId3"/>
          <a:stretch>
            <a:fillRect/>
          </a:stretch>
        </p:blipFill>
        <p:spPr>
          <a:xfrm>
            <a:off x="6072000" y="3438000"/>
            <a:ext cx="6120000" cy="3240000"/>
          </a:xfrm>
          <a:prstGeom prst="rect">
            <a:avLst/>
          </a:prstGeom>
        </p:spPr>
      </p:pic>
      <p:pic>
        <p:nvPicPr>
          <p:cNvPr id="9" name="內容版面配置區 7"/>
          <p:cNvPicPr>
            <a:picLocks noGrp="1"/>
          </p:cNvPicPr>
          <p:nvPr>
            <p:ph idx="1"/>
          </p:nvPr>
        </p:nvPicPr>
        <p:blipFill>
          <a:blip r:embed="rId4"/>
          <a:stretch>
            <a:fillRect/>
          </a:stretch>
        </p:blipFill>
        <p:spPr>
          <a:xfrm>
            <a:off x="0" y="864337"/>
            <a:ext cx="6120000" cy="3240000"/>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42</a:t>
            </a:fld>
            <a:endParaRPr lang="zh-TW" altLang="en-US"/>
          </a:p>
        </p:txBody>
      </p:sp>
    </p:spTree>
    <p:extLst>
      <p:ext uri="{BB962C8B-B14F-4D97-AF65-F5344CB8AC3E}">
        <p14:creationId xmlns:p14="http://schemas.microsoft.com/office/powerpoint/2010/main" val="3251652985"/>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結論</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43</a:t>
            </a:fld>
            <a:endParaRPr lang="zh-TW" altLang="en-US"/>
          </a:p>
        </p:txBody>
      </p:sp>
    </p:spTree>
    <p:extLst>
      <p:ext uri="{BB962C8B-B14F-4D97-AF65-F5344CB8AC3E}">
        <p14:creationId xmlns:p14="http://schemas.microsoft.com/office/powerpoint/2010/main" val="681769630"/>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門檻</a:t>
            </a:r>
            <a:r>
              <a:rPr lang="zh-TW" altLang="en-US" sz="3200" dirty="0">
                <a:latin typeface="標楷體" panose="03000509000000000000" pitchFamily="65" charset="-120"/>
                <a:ea typeface="標楷體" panose="03000509000000000000" pitchFamily="65" charset="-120"/>
              </a:rPr>
              <a:t>值</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直接設定門檻值的方法適用於明確知道資料正常範圍的</a:t>
            </a:r>
            <a:r>
              <a:rPr lang="zh-TW" altLang="zh-TW" dirty="0" smtClean="0">
                <a:latin typeface="標楷體" panose="03000509000000000000" pitchFamily="65" charset="-120"/>
                <a:ea typeface="標楷體" panose="03000509000000000000" pitchFamily="65" charset="-120"/>
              </a:rPr>
              <a:t>應用</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異常事件一定會造成資料偏移至正常範圍</a:t>
            </a:r>
            <a:r>
              <a:rPr lang="zh-TW" altLang="zh-TW" dirty="0" smtClean="0">
                <a:latin typeface="標楷體" panose="03000509000000000000" pitchFamily="65" charset="-120"/>
                <a:ea typeface="標楷體" panose="03000509000000000000" pitchFamily="65" charset="-120"/>
              </a:rPr>
              <a:t>之外</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偵測反應快速、不會造成</a:t>
            </a:r>
            <a:r>
              <a:rPr lang="zh-TW" altLang="zh-TW" dirty="0" smtClean="0">
                <a:latin typeface="標楷體" panose="03000509000000000000" pitchFamily="65" charset="-120"/>
                <a:ea typeface="標楷體" panose="03000509000000000000" pitchFamily="65" charset="-120"/>
              </a:rPr>
              <a:t>誤判</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無法適應任何狀態的改變，每次使用時都要自己指定明確的門檻</a:t>
            </a:r>
            <a:r>
              <a:rPr lang="zh-TW" altLang="zh-TW" dirty="0" smtClean="0">
                <a:latin typeface="標楷體" panose="03000509000000000000" pitchFamily="65" charset="-120"/>
                <a:ea typeface="標楷體" panose="03000509000000000000" pitchFamily="65" charset="-120"/>
              </a:rPr>
              <a:t>範圍</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44</a:t>
            </a:fld>
            <a:endParaRPr lang="zh-TW" altLang="en-US"/>
          </a:p>
        </p:txBody>
      </p:sp>
    </p:spTree>
    <p:extLst>
      <p:ext uri="{BB962C8B-B14F-4D97-AF65-F5344CB8AC3E}">
        <p14:creationId xmlns:p14="http://schemas.microsoft.com/office/powerpoint/2010/main" val="3566288296"/>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一般常態分佈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適用於不確定正常範圍的</a:t>
            </a:r>
            <a:r>
              <a:rPr lang="zh-TW" altLang="zh-TW" dirty="0" smtClean="0">
                <a:latin typeface="標楷體" panose="03000509000000000000" pitchFamily="65" charset="-120"/>
                <a:ea typeface="標楷體" panose="03000509000000000000" pitchFamily="65" charset="-120"/>
              </a:rPr>
              <a:t>應用</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異常事件會使資料偏移到正常範圍</a:t>
            </a:r>
            <a:r>
              <a:rPr lang="zh-TW" altLang="zh-TW" dirty="0" smtClean="0">
                <a:latin typeface="標楷體" panose="03000509000000000000" pitchFamily="65" charset="-120"/>
                <a:ea typeface="標楷體" panose="03000509000000000000" pitchFamily="65" charset="-120"/>
              </a:rPr>
              <a:t>之外</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如果資料數值相近容易造成很小的標準差，使用很小的標準差當作判斷正常資料的範圍，很可能會造成異常</a:t>
            </a:r>
            <a:r>
              <a:rPr lang="zh-TW" altLang="zh-TW" dirty="0" smtClean="0">
                <a:latin typeface="標楷體" panose="03000509000000000000" pitchFamily="65" charset="-120"/>
                <a:ea typeface="標楷體" panose="03000509000000000000" pitchFamily="65" charset="-120"/>
              </a:rPr>
              <a:t>誤判</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45</a:t>
            </a:fld>
            <a:endParaRPr lang="zh-TW" altLang="en-US"/>
          </a:p>
        </p:txBody>
      </p:sp>
    </p:spTree>
    <p:extLst>
      <p:ext uri="{BB962C8B-B14F-4D97-AF65-F5344CB8AC3E}">
        <p14:creationId xmlns:p14="http://schemas.microsoft.com/office/powerpoint/2010/main" val="2521758529"/>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資料片段平均值與常態分佈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為了避免取得的平均值彼此相近，而產生過小的標準差，視窗轉換使用較大的滑動</a:t>
            </a:r>
            <a:r>
              <a:rPr lang="zh-TW" altLang="zh-TW" dirty="0" smtClean="0">
                <a:latin typeface="標楷體" panose="03000509000000000000" pitchFamily="65" charset="-120"/>
                <a:ea typeface="標楷體" panose="03000509000000000000" pitchFamily="65" charset="-120"/>
              </a:rPr>
              <a:t>間隔</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讓視窗內維持的相同資料較少，在原始資料發生改變的情況下，才可以產生具有差異性的資料</a:t>
            </a:r>
            <a:r>
              <a:rPr lang="zh-TW" altLang="zh-TW" dirty="0" smtClean="0">
                <a:latin typeface="標楷體" panose="03000509000000000000" pitchFamily="65" charset="-120"/>
                <a:ea typeface="標楷體" panose="03000509000000000000" pitchFamily="65" charset="-120"/>
              </a:rPr>
              <a:t>點</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由於設計的關係需要取用較大的視窗滑動間隔，造成對異常事件的反應較慢</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46</a:t>
            </a:fld>
            <a:endParaRPr lang="zh-TW" altLang="en-US"/>
          </a:p>
        </p:txBody>
      </p:sp>
    </p:spTree>
    <p:extLst>
      <p:ext uri="{BB962C8B-B14F-4D97-AF65-F5344CB8AC3E}">
        <p14:creationId xmlns:p14="http://schemas.microsoft.com/office/powerpoint/2010/main" val="2630003222"/>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CUSUM</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改善了單純使用一般常態分佈時，小的標準差容易造成誤判的</a:t>
            </a:r>
            <a:r>
              <a:rPr lang="zh-TW" altLang="zh-TW" dirty="0" smtClean="0">
                <a:latin typeface="標楷體" panose="03000509000000000000" pitchFamily="65" charset="-120"/>
                <a:ea typeface="標楷體" panose="03000509000000000000" pitchFamily="65" charset="-120"/>
              </a:rPr>
              <a:t>問題</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除非偏離的量非常大，否則都要經過演算法累加的過程，觀察連續的資料偏移行為後才確認異常</a:t>
            </a:r>
            <a:r>
              <a:rPr lang="zh-TW" altLang="zh-TW" dirty="0" smtClean="0">
                <a:latin typeface="標楷體" panose="03000509000000000000" pitchFamily="65" charset="-120"/>
                <a:ea typeface="標楷體" panose="03000509000000000000" pitchFamily="65" charset="-120"/>
              </a:rPr>
              <a:t>狀態</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演算法內的機制在回報異常後會清空累加的值，因此只要下一筆資料偏差不會直接造成累加超過門檻，就有機會將下一筆資料加入常態分佈中</a:t>
            </a:r>
            <a:r>
              <a:rPr lang="zh-TW" altLang="zh-TW" dirty="0" smtClean="0">
                <a:latin typeface="標楷體" panose="03000509000000000000" pitchFamily="65" charset="-120"/>
                <a:ea typeface="標楷體" panose="03000509000000000000" pitchFamily="65" charset="-120"/>
              </a:rPr>
              <a:t>運算</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在一定程度內對情境改變的適應能力</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47</a:t>
            </a:fld>
            <a:endParaRPr lang="zh-TW" altLang="en-US"/>
          </a:p>
        </p:txBody>
      </p:sp>
    </p:spTree>
    <p:extLst>
      <p:ext uri="{BB962C8B-B14F-4D97-AF65-F5344CB8AC3E}">
        <p14:creationId xmlns:p14="http://schemas.microsoft.com/office/powerpoint/2010/main" val="2913790732"/>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ea typeface="標楷體" panose="03000509000000000000" pitchFamily="65" charset="-120"/>
              </a:rPr>
              <a:t>資料片段數值與</a:t>
            </a:r>
            <a:r>
              <a:rPr lang="en-US" altLang="zh-TW" sz="3200" dirty="0">
                <a:ea typeface="標楷體" panose="03000509000000000000" pitchFamily="65" charset="-120"/>
              </a:rPr>
              <a:t>LOF</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可以</a:t>
            </a:r>
            <a:r>
              <a:rPr lang="zh-TW" altLang="zh-TW" dirty="0" smtClean="0">
                <a:latin typeface="標楷體" panose="03000509000000000000" pitchFamily="65" charset="-120"/>
                <a:ea typeface="標楷體" panose="03000509000000000000" pitchFamily="65" charset="-120"/>
              </a:rPr>
              <a:t>判斷與</a:t>
            </a:r>
            <a:r>
              <a:rPr lang="zh-TW" altLang="zh-TW" dirty="0">
                <a:latin typeface="標楷體" panose="03000509000000000000" pitchFamily="65" charset="-120"/>
                <a:ea typeface="標楷體" panose="03000509000000000000" pitchFamily="65" charset="-120"/>
              </a:rPr>
              <a:t>歷史模型不同的資料</a:t>
            </a:r>
            <a:r>
              <a:rPr lang="zh-TW" altLang="zh-TW" dirty="0" smtClean="0">
                <a:latin typeface="標楷體" panose="03000509000000000000" pitchFamily="65" charset="-120"/>
                <a:ea typeface="標楷體" panose="03000509000000000000" pitchFamily="65" charset="-120"/>
              </a:rPr>
              <a:t>狀態</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演算法判斷異常的門檻在原始論文中的定義，是密度函式的比值顯著大於</a:t>
            </a:r>
            <a:r>
              <a:rPr lang="en-US" altLang="zh-TW" dirty="0" smtClean="0">
                <a:latin typeface="標楷體" panose="03000509000000000000" pitchFamily="65" charset="-120"/>
                <a:ea typeface="標楷體" panose="03000509000000000000" pitchFamily="65" charset="-120"/>
              </a:rPr>
              <a:t>1</a:t>
            </a:r>
            <a:endParaRPr lang="en-US" altLang="zh-TW" dirty="0">
              <a:latin typeface="標楷體" panose="03000509000000000000" pitchFamily="65" charset="-120"/>
              <a:ea typeface="標楷體" panose="03000509000000000000" pitchFamily="65" charset="-120"/>
            </a:endParaRPr>
          </a:p>
          <a:p>
            <a:r>
              <a:rPr lang="zh-TW" altLang="zh-TW" dirty="0" smtClean="0">
                <a:latin typeface="標楷體" panose="03000509000000000000" pitchFamily="65" charset="-120"/>
                <a:ea typeface="標楷體" panose="03000509000000000000" pitchFamily="65" charset="-120"/>
              </a:rPr>
              <a:t>如果</a:t>
            </a:r>
            <a:r>
              <a:rPr lang="zh-TW" altLang="zh-TW" dirty="0">
                <a:latin typeface="標楷體" panose="03000509000000000000" pitchFamily="65" charset="-120"/>
                <a:ea typeface="標楷體" panose="03000509000000000000" pitchFamily="65" charset="-120"/>
              </a:rPr>
              <a:t>應用能更接受小量的資料變動，那可以取大一點的</a:t>
            </a:r>
            <a:r>
              <a:rPr lang="zh-TW" altLang="zh-TW" dirty="0" smtClean="0">
                <a:latin typeface="標楷體" panose="03000509000000000000" pitchFamily="65" charset="-120"/>
                <a:ea typeface="標楷體" panose="03000509000000000000" pitchFamily="65" charset="-120"/>
              </a:rPr>
              <a:t>比值</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如果應用需要感測小量變動，就需要</a:t>
            </a:r>
            <a:r>
              <a:rPr lang="zh-TW" altLang="zh-TW" dirty="0" smtClean="0">
                <a:latin typeface="標楷體" panose="03000509000000000000" pitchFamily="65" charset="-120"/>
                <a:ea typeface="標楷體" panose="03000509000000000000" pitchFamily="65" charset="-120"/>
              </a:rPr>
              <a:t>使用</a:t>
            </a:r>
            <a:r>
              <a:rPr lang="zh-TW" altLang="en-US" dirty="0" smtClean="0">
                <a:latin typeface="標楷體" panose="03000509000000000000" pitchFamily="65" charset="-120"/>
                <a:ea typeface="標楷體" panose="03000509000000000000" pitchFamily="65" charset="-120"/>
              </a:rPr>
              <a:t>小一</a:t>
            </a:r>
            <a:r>
              <a:rPr lang="zh-TW" altLang="en-US" dirty="0">
                <a:latin typeface="標楷體" panose="03000509000000000000" pitchFamily="65" charset="-120"/>
                <a:ea typeface="標楷體" panose="03000509000000000000" pitchFamily="65" charset="-120"/>
              </a:rPr>
              <a:t>點</a:t>
            </a:r>
            <a:r>
              <a:rPr lang="zh-TW" altLang="zh-TW" dirty="0" smtClean="0">
                <a:latin typeface="標楷體" panose="03000509000000000000" pitchFamily="65" charset="-120"/>
                <a:ea typeface="標楷體" panose="03000509000000000000" pitchFamily="65" charset="-120"/>
              </a:rPr>
              <a:t>的</a:t>
            </a:r>
            <a:r>
              <a:rPr lang="zh-TW" altLang="zh-TW" dirty="0">
                <a:latin typeface="標楷體" panose="03000509000000000000" pitchFamily="65" charset="-120"/>
                <a:ea typeface="標楷體" panose="03000509000000000000" pitchFamily="65" charset="-120"/>
              </a:rPr>
              <a:t>比值</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48</a:t>
            </a:fld>
            <a:endParaRPr lang="zh-TW" altLang="en-US"/>
          </a:p>
        </p:txBody>
      </p:sp>
    </p:spTree>
    <p:extLst>
      <p:ext uri="{BB962C8B-B14F-4D97-AF65-F5344CB8AC3E}">
        <p14:creationId xmlns:p14="http://schemas.microsoft.com/office/powerpoint/2010/main" val="3159648423"/>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ea typeface="標楷體" panose="03000509000000000000" pitchFamily="65" charset="-120"/>
              </a:rPr>
              <a:t>資料片段平均值、標準差與</a:t>
            </a:r>
            <a:r>
              <a:rPr lang="en-US" altLang="zh-TW" sz="3200" dirty="0">
                <a:ea typeface="標楷體" panose="03000509000000000000" pitchFamily="65" charset="-120"/>
              </a:rPr>
              <a:t>LOF</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可以</a:t>
            </a:r>
            <a:r>
              <a:rPr lang="zh-TW" altLang="zh-TW" dirty="0" smtClean="0">
                <a:latin typeface="標楷體" panose="03000509000000000000" pitchFamily="65" charset="-120"/>
                <a:ea typeface="標楷體" panose="03000509000000000000" pitchFamily="65" charset="-120"/>
              </a:rPr>
              <a:t>判斷與歷史</a:t>
            </a:r>
            <a:r>
              <a:rPr lang="zh-TW" altLang="en-US" dirty="0" smtClean="0">
                <a:latin typeface="標楷體" panose="03000509000000000000" pitchFamily="65" charset="-120"/>
                <a:ea typeface="標楷體" panose="03000509000000000000" pitchFamily="65" charset="-120"/>
              </a:rPr>
              <a:t>特</a:t>
            </a:r>
            <a:r>
              <a:rPr lang="zh-TW" altLang="en-US" dirty="0">
                <a:latin typeface="標楷體" panose="03000509000000000000" pitchFamily="65" charset="-120"/>
                <a:ea typeface="標楷體" panose="03000509000000000000" pitchFamily="65" charset="-120"/>
              </a:rPr>
              <a:t>性</a:t>
            </a:r>
            <a:r>
              <a:rPr lang="zh-TW" altLang="zh-TW" dirty="0" smtClean="0">
                <a:latin typeface="標楷體" panose="03000509000000000000" pitchFamily="65" charset="-120"/>
                <a:ea typeface="標楷體" panose="03000509000000000000" pitchFamily="65" charset="-120"/>
              </a:rPr>
              <a:t>不同的</a:t>
            </a:r>
            <a:r>
              <a:rPr lang="zh-TW" altLang="en-US" dirty="0" smtClean="0">
                <a:latin typeface="標楷體" panose="03000509000000000000" pitchFamily="65" charset="-120"/>
                <a:ea typeface="標楷體" panose="03000509000000000000" pitchFamily="65" charset="-120"/>
              </a:rPr>
              <a:t>區段</a:t>
            </a:r>
            <a:r>
              <a:rPr lang="zh-TW" altLang="zh-TW" dirty="0" smtClean="0">
                <a:latin typeface="標楷體" panose="03000509000000000000" pitchFamily="65" charset="-120"/>
                <a:ea typeface="標楷體" panose="03000509000000000000" pitchFamily="65" charset="-120"/>
              </a:rPr>
              <a:t>資料</a:t>
            </a:r>
            <a:r>
              <a:rPr lang="zh-TW" altLang="en-US" dirty="0" smtClean="0">
                <a:latin typeface="標楷體" panose="03000509000000000000" pitchFamily="65" charset="-120"/>
                <a:ea typeface="標楷體" panose="03000509000000000000" pitchFamily="65" charset="-120"/>
              </a:rPr>
              <a:t>特徵</a:t>
            </a:r>
            <a:endParaRPr lang="en-US" altLang="zh-TW" dirty="0" smtClean="0"/>
          </a:p>
          <a:p>
            <a:r>
              <a:rPr lang="zh-TW" altLang="zh-TW" dirty="0" smtClean="0">
                <a:latin typeface="標楷體" panose="03000509000000000000" pitchFamily="65" charset="-120"/>
                <a:ea typeface="標楷體" panose="03000509000000000000" pitchFamily="65" charset="-120"/>
              </a:rPr>
              <a:t>從</a:t>
            </a:r>
            <a:r>
              <a:rPr lang="zh-TW" altLang="zh-TW" dirty="0">
                <a:latin typeface="標楷體" panose="03000509000000000000" pitchFamily="65" charset="-120"/>
                <a:ea typeface="標楷體" panose="03000509000000000000" pitchFamily="65" charset="-120"/>
              </a:rPr>
              <a:t>實驗結果得知被誤判為異常的資料點，其比值分數皆為</a:t>
            </a:r>
            <a:r>
              <a:rPr lang="en-US" altLang="zh-TW" dirty="0">
                <a:latin typeface="標楷體" panose="03000509000000000000" pitchFamily="65" charset="-120"/>
                <a:ea typeface="標楷體" panose="03000509000000000000" pitchFamily="65" charset="-120"/>
              </a:rPr>
              <a:t>2</a:t>
            </a:r>
            <a:r>
              <a:rPr lang="zh-TW" altLang="zh-TW" dirty="0">
                <a:latin typeface="標楷體" panose="03000509000000000000" pitchFamily="65" charset="-120"/>
                <a:ea typeface="標楷體" panose="03000509000000000000" pitchFamily="65" charset="-120"/>
              </a:rPr>
              <a:t>至</a:t>
            </a:r>
            <a:r>
              <a:rPr lang="en-US" altLang="zh-TW" dirty="0">
                <a:latin typeface="標楷體" panose="03000509000000000000" pitchFamily="65" charset="-120"/>
                <a:ea typeface="標楷體" panose="03000509000000000000" pitchFamily="65" charset="-120"/>
              </a:rPr>
              <a:t>3</a:t>
            </a:r>
            <a:r>
              <a:rPr lang="zh-TW" altLang="zh-TW" dirty="0">
                <a:latin typeface="標楷體" panose="03000509000000000000" pitchFamily="65" charset="-120"/>
                <a:ea typeface="標楷體" panose="03000509000000000000" pitchFamily="65" charset="-120"/>
              </a:rPr>
              <a:t>之間。所以在本實驗設定的情境下如果將異常門檻提高至</a:t>
            </a:r>
            <a:r>
              <a:rPr lang="en-US" altLang="zh-TW" dirty="0">
                <a:latin typeface="標楷體" panose="03000509000000000000" pitchFamily="65" charset="-120"/>
                <a:ea typeface="標楷體" panose="03000509000000000000" pitchFamily="65" charset="-120"/>
              </a:rPr>
              <a:t>3</a:t>
            </a:r>
            <a:r>
              <a:rPr lang="zh-TW" altLang="zh-TW" dirty="0">
                <a:latin typeface="標楷體" panose="03000509000000000000" pitchFamily="65" charset="-120"/>
                <a:ea typeface="標楷體" panose="03000509000000000000" pitchFamily="65" charset="-120"/>
              </a:rPr>
              <a:t>，就能有效減低誤判的機率。但於實際應用中仍需小心定義此比值的</a:t>
            </a:r>
            <a:r>
              <a:rPr lang="zh-TW" altLang="zh-TW" dirty="0" smtClean="0">
                <a:latin typeface="標楷體" panose="03000509000000000000" pitchFamily="65" charset="-120"/>
                <a:ea typeface="標楷體" panose="03000509000000000000" pitchFamily="65" charset="-120"/>
              </a:rPr>
              <a:t>大小</a:t>
            </a:r>
            <a:endParaRPr lang="zh-TW" altLang="zh-TW" dirty="0">
              <a:latin typeface="標楷體" panose="03000509000000000000" pitchFamily="65" charset="-120"/>
              <a:ea typeface="標楷體" panose="03000509000000000000" pitchFamily="65" charset="-120"/>
            </a:endParaRPr>
          </a:p>
          <a:p>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49</a:t>
            </a:fld>
            <a:endParaRPr lang="zh-TW" altLang="en-US"/>
          </a:p>
        </p:txBody>
      </p:sp>
    </p:spTree>
    <p:extLst>
      <p:ext uri="{BB962C8B-B14F-4D97-AF65-F5344CB8AC3E}">
        <p14:creationId xmlns:p14="http://schemas.microsoft.com/office/powerpoint/2010/main" val="328138943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20487</TotalTime>
  <Words>3164</Words>
  <Application>Microsoft Office PowerPoint</Application>
  <PresentationFormat>寬螢幕</PresentationFormat>
  <Paragraphs>430</Paragraphs>
  <Slides>49</Slides>
  <Notes>49</Notes>
  <HiddenSlides>0</HiddenSlides>
  <MMClips>0</MMClips>
  <ScaleCrop>false</ScaleCrop>
  <HeadingPairs>
    <vt:vector size="6" baseType="variant">
      <vt:variant>
        <vt:lpstr>使用字型</vt:lpstr>
      </vt:variant>
      <vt:variant>
        <vt:i4>7</vt:i4>
      </vt:variant>
      <vt:variant>
        <vt:lpstr>佈景主題</vt:lpstr>
      </vt:variant>
      <vt:variant>
        <vt:i4>1</vt:i4>
      </vt:variant>
      <vt:variant>
        <vt:lpstr>投影片標題</vt:lpstr>
      </vt:variant>
      <vt:variant>
        <vt:i4>49</vt:i4>
      </vt:variant>
    </vt:vector>
  </HeadingPairs>
  <TitlesOfParts>
    <vt:vector size="57" baseType="lpstr">
      <vt:lpstr>新細明體</vt:lpstr>
      <vt:lpstr>標楷體</vt:lpstr>
      <vt:lpstr>Arial</vt:lpstr>
      <vt:lpstr>Calibri</vt:lpstr>
      <vt:lpstr>Calibri Light</vt:lpstr>
      <vt:lpstr>Cambria Math</vt:lpstr>
      <vt:lpstr>Times New Roman</vt:lpstr>
      <vt:lpstr>Office 佈景主題</vt:lpstr>
      <vt:lpstr>IoT整合管理平台之異常檢測和事件警報系統</vt:lpstr>
      <vt:lpstr>Outline</vt:lpstr>
      <vt:lpstr>研究動機與目的</vt:lpstr>
      <vt:lpstr>資料共享</vt:lpstr>
      <vt:lpstr>資料分析</vt:lpstr>
      <vt:lpstr>相關議題</vt:lpstr>
      <vt:lpstr>何謂異常</vt:lpstr>
      <vt:lpstr>異常的種類</vt:lpstr>
      <vt:lpstr>單點異常</vt:lpstr>
      <vt:lpstr>集體異常</vt:lpstr>
      <vt:lpstr>條件式異常</vt:lpstr>
      <vt:lpstr>異常偵測的方法</vt:lpstr>
      <vt:lpstr>分類</vt:lpstr>
      <vt:lpstr>分群</vt:lpstr>
      <vt:lpstr>鄰近點</vt:lpstr>
      <vt:lpstr>統計為基礎的判斷方法</vt:lpstr>
      <vt:lpstr>研究方法</vt:lpstr>
      <vt:lpstr>一般常態分佈</vt:lpstr>
      <vt:lpstr>一般常態分佈</vt:lpstr>
      <vt:lpstr>CUSUM（Cumulative Sum）</vt:lpstr>
      <vt:lpstr>CUSUM（Cumulative Sum）</vt:lpstr>
      <vt:lpstr>LOF（Local Outlier Factor）</vt:lpstr>
      <vt:lpstr>實作的偵測方法</vt:lpstr>
      <vt:lpstr>實驗一</vt:lpstr>
      <vt:lpstr>訓練數據</vt:lpstr>
      <vt:lpstr>演算法參數設定</vt:lpstr>
      <vt:lpstr>實驗設計</vt:lpstr>
      <vt:lpstr>PowerPoint 簡報</vt:lpstr>
      <vt:lpstr>實驗(1)–一般常態分佈</vt:lpstr>
      <vt:lpstr>實驗(2)–資料片段平均值與常態分佈</vt:lpstr>
      <vt:lpstr>實驗(3)– CUSUM</vt:lpstr>
      <vt:lpstr>實驗(4)–資料片段數值與LOF</vt:lpstr>
      <vt:lpstr>實驗(5)–資料片段平均值、標準差與LOF</vt:lpstr>
      <vt:lpstr>實驗二</vt:lpstr>
      <vt:lpstr>訓練數據</vt:lpstr>
      <vt:lpstr>訓練數據</vt:lpstr>
      <vt:lpstr>實驗設計</vt:lpstr>
      <vt:lpstr>模擬週期</vt:lpstr>
      <vt:lpstr>真實資料週期</vt:lpstr>
      <vt:lpstr>演算法參數設定</vt:lpstr>
      <vt:lpstr>資料片段數值與LOF</vt:lpstr>
      <vt:lpstr>資料片段平均值、標準差與LOF</vt:lpstr>
      <vt:lpstr>結論</vt:lpstr>
      <vt:lpstr>門檻值</vt:lpstr>
      <vt:lpstr>一般常態分佈</vt:lpstr>
      <vt:lpstr>資料片段平均值與常態分佈</vt:lpstr>
      <vt:lpstr>CUSUM</vt:lpstr>
      <vt:lpstr>資料片段數值與LOF</vt:lpstr>
      <vt:lpstr>資料片段平均值、標準差與LOF</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Spark</dc:title>
  <dc:creator>Rong</dc:creator>
  <cp:lastModifiedBy>Rong</cp:lastModifiedBy>
  <cp:revision>615</cp:revision>
  <cp:lastPrinted>2017-07-17T07:43:08Z</cp:lastPrinted>
  <dcterms:created xsi:type="dcterms:W3CDTF">2015-11-30T06:30:29Z</dcterms:created>
  <dcterms:modified xsi:type="dcterms:W3CDTF">2017-07-18T08:44:16Z</dcterms:modified>
</cp:coreProperties>
</file>