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281" r:id="rId3"/>
    <p:sldId id="337" r:id="rId4"/>
    <p:sldId id="329" r:id="rId5"/>
    <p:sldId id="330" r:id="rId6"/>
    <p:sldId id="331" r:id="rId7"/>
    <p:sldId id="338" r:id="rId8"/>
    <p:sldId id="332" r:id="rId9"/>
    <p:sldId id="339" r:id="rId10"/>
    <p:sldId id="340" r:id="rId11"/>
    <p:sldId id="369" r:id="rId12"/>
    <p:sldId id="370" r:id="rId13"/>
    <p:sldId id="371" r:id="rId14"/>
    <p:sldId id="341" r:id="rId15"/>
    <p:sldId id="372" r:id="rId16"/>
    <p:sldId id="373" r:id="rId17"/>
    <p:sldId id="374" r:id="rId18"/>
    <p:sldId id="375" r:id="rId19"/>
    <p:sldId id="347" r:id="rId20"/>
    <p:sldId id="376" r:id="rId21"/>
    <p:sldId id="344" r:id="rId22"/>
    <p:sldId id="377" r:id="rId23"/>
    <p:sldId id="345" r:id="rId24"/>
    <p:sldId id="382" r:id="rId25"/>
    <p:sldId id="362" r:id="rId26"/>
    <p:sldId id="396" r:id="rId27"/>
    <p:sldId id="397" r:id="rId28"/>
    <p:sldId id="423" r:id="rId29"/>
    <p:sldId id="336" r:id="rId30"/>
    <p:sldId id="446" r:id="rId31"/>
    <p:sldId id="444" r:id="rId32"/>
    <p:sldId id="448" r:id="rId33"/>
    <p:sldId id="449" r:id="rId34"/>
    <p:sldId id="450" r:id="rId35"/>
    <p:sldId id="451" r:id="rId36"/>
    <p:sldId id="424" r:id="rId37"/>
    <p:sldId id="425" r:id="rId38"/>
    <p:sldId id="431" r:id="rId39"/>
    <p:sldId id="426" r:id="rId40"/>
    <p:sldId id="427" r:id="rId41"/>
    <p:sldId id="428" r:id="rId42"/>
    <p:sldId id="432" r:id="rId43"/>
    <p:sldId id="452" r:id="rId44"/>
    <p:sldId id="453" r:id="rId45"/>
    <p:sldId id="367" r:id="rId46"/>
    <p:sldId id="354" r:id="rId47"/>
    <p:sldId id="437" r:id="rId48"/>
    <p:sldId id="438" r:id="rId49"/>
    <p:sldId id="439" r:id="rId50"/>
    <p:sldId id="440" r:id="rId51"/>
    <p:sldId id="441" r:id="rId52"/>
  </p:sldIdLst>
  <p:sldSz cx="12192000" cy="6858000"/>
  <p:notesSz cx="9874250" cy="679767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ng" initials="R" lastIdx="1" clrIdx="0">
    <p:extLst>
      <p:ext uri="{19B8F6BF-5375-455C-9EA6-DF929625EA0E}">
        <p15:presenceInfo xmlns:p15="http://schemas.microsoft.com/office/powerpoint/2012/main" userId="Ro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0" autoAdjust="0"/>
    <p:restoredTop sz="69686" autoAdjust="0"/>
  </p:normalViewPr>
  <p:slideViewPr>
    <p:cSldViewPr snapToGrid="0">
      <p:cViewPr varScale="1">
        <p:scale>
          <a:sx n="80" d="100"/>
          <a:sy n="80" d="100"/>
        </p:scale>
        <p:origin x="17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7A58A-38D4-4745-B1BD-B36B6360EE10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FCCD5-CA28-4F76-B616-5D5585D3C6C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065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D2BB7-AC21-4A01-8503-F1C775A6F59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8987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0E15B-F52A-4B5F-8267-50F0C60CEF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535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我的論文題目是</a:t>
            </a:r>
            <a:endParaRPr lang="en-US" altLang="zh-TW" dirty="0" smtClean="0"/>
          </a:p>
          <a:p>
            <a:r>
              <a:rPr lang="en-US" altLang="zh-TW" dirty="0" err="1" smtClean="0"/>
              <a:t>IoT</a:t>
            </a:r>
            <a:r>
              <a:rPr lang="zh-TW" altLang="en-US" dirty="0" smtClean="0"/>
              <a:t>整合管理平台之異常檢測和事件警報系統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7355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7493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1797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421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2027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80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56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20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4713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518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8656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319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313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819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74132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62975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104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600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655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529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973682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343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5830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6819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1675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466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6918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41647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27771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2256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8378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44382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7619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09493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31414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92864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0293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4069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33804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85353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0784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779594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45521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88934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872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7573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4288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5614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49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300620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548805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30E15B-F52A-4B5F-8267-50F0C60CEFA2}" type="slidenum">
              <a:rPr lang="zh-TW" altLang="en-US" smtClean="0"/>
              <a:t>51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906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062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1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7646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7449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54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2763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3311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668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97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01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242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D2C04-C417-422C-B86A-E32301ABF5DE}" type="datetimeFigureOut">
              <a:rPr lang="zh-TW" altLang="en-US" smtClean="0"/>
              <a:t>2017/7/14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C6EE6-3FC0-42F2-A2AA-2F8392A95B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89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954364"/>
            <a:ext cx="9144000" cy="79400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3600" dirty="0" err="1" smtClean="0">
                <a:latin typeface="+mn-lt"/>
                <a:ea typeface="標楷體" panose="03000509000000000000" pitchFamily="65" charset="-120"/>
              </a:rPr>
              <a:t>IoT</a:t>
            </a:r>
            <a:r>
              <a:rPr lang="zh-TW" altLang="en-US" sz="3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整合管理平台之異常檢測和事件警報系統</a:t>
            </a:r>
            <a:endParaRPr lang="zh-TW" altLang="en-US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4720041"/>
            <a:ext cx="9144000" cy="1263601"/>
          </a:xfrm>
        </p:spPr>
        <p:txBody>
          <a:bodyPr>
            <a:normAutofit/>
          </a:bodyPr>
          <a:lstStyle/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榮騰翎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指導教授：羅壽之</a:t>
            </a:r>
            <a:endParaRPr lang="en-US" altLang="zh-TW" sz="20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 smtClean="0">
                <a:cs typeface="Times New Roman" panose="02020603050405020304" pitchFamily="18" charset="0"/>
              </a:rPr>
              <a:t>2017.07.20_wiseLab</a:t>
            </a:r>
            <a:endParaRPr lang="zh-TW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1524000" y="2748373"/>
            <a:ext cx="9144000" cy="117765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Anomaly Detection and Event Alert System for </a:t>
            </a:r>
            <a:r>
              <a:rPr lang="en-US" altLang="zh-TW" sz="2800" dirty="0" err="1" smtClean="0">
                <a:latin typeface="+mn-lt"/>
                <a:cs typeface="Times New Roman" panose="02020603050405020304" pitchFamily="18" charset="0"/>
              </a:rPr>
              <a:t>IoT</a:t>
            </a:r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 Integrated Management Platform</a:t>
            </a:r>
            <a:endParaRPr lang="zh-TW" altLang="en-US" sz="2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99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>Outline</a:t>
            </a:r>
            <a:endParaRPr lang="zh-TW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研究動機與目的</a:t>
            </a:r>
            <a:endParaRPr kumimoji="1" lang="en-US" altLang="zh-TW" dirty="0">
              <a:latin typeface="標楷體" charset="0"/>
              <a:ea typeface="標楷體" charset="0"/>
              <a:cs typeface="標楷體" charset="0"/>
            </a:endParaRPr>
          </a:p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相關議題</a:t>
            </a:r>
            <a:endParaRPr kumimoji="1" lang="zh-TW" altLang="en-US" dirty="0">
              <a:latin typeface="標楷體" charset="0"/>
              <a:ea typeface="標楷體" charset="0"/>
              <a:cs typeface="標楷體" charset="0"/>
            </a:endParaRPr>
          </a:p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研究方法</a:t>
            </a:r>
            <a:endParaRPr kumimoji="1" lang="en-US" altLang="zh-TW" dirty="0" smtClean="0">
              <a:latin typeface="標楷體" charset="0"/>
              <a:ea typeface="標楷體" charset="0"/>
              <a:cs typeface="標楷體" charset="0"/>
            </a:endParaRPr>
          </a:p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實驗一</a:t>
            </a:r>
            <a:endParaRPr kumimoji="1" lang="en-US" altLang="zh-TW" dirty="0" smtClean="0">
              <a:latin typeface="標楷體" charset="0"/>
              <a:ea typeface="標楷體" charset="0"/>
              <a:cs typeface="標楷體" charset="0"/>
            </a:endParaRPr>
          </a:p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實驗二</a:t>
            </a:r>
            <a:endParaRPr kumimoji="1" lang="en-US" altLang="zh-TW" dirty="0" smtClean="0">
              <a:latin typeface="標楷體" charset="0"/>
              <a:ea typeface="標楷體" charset="0"/>
              <a:cs typeface="標楷體" charset="0"/>
            </a:endParaRPr>
          </a:p>
          <a:p>
            <a:r>
              <a:rPr kumimoji="1" lang="zh-TW" altLang="en-US" dirty="0" smtClean="0">
                <a:latin typeface="標楷體" charset="0"/>
                <a:ea typeface="標楷體" charset="0"/>
                <a:cs typeface="標楷體" charset="0"/>
              </a:rPr>
              <a:t>結論</a:t>
            </a:r>
            <a:endParaRPr kumimoji="1" lang="zh-TW" altLang="en-US" dirty="0">
              <a:latin typeface="標楷體" charset="0"/>
              <a:ea typeface="標楷體" charset="0"/>
              <a:cs typeface="標楷體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244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研究動機與目的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982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智慧城市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參考日本電氣</a:t>
            </a:r>
            <a:r>
              <a:rPr lang="zh-TW" altLang="en-US" dirty="0" smtClean="0"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NEC</a:t>
            </a:r>
            <a:r>
              <a:rPr lang="zh-TW" altLang="en-US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ea typeface="標楷體" panose="03000509000000000000" pitchFamily="65" charset="-120"/>
                <a:cs typeface="Times New Roman" panose="02020603050405020304" pitchFamily="18" charset="0"/>
              </a:rPr>
              <a:t>Coropration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對智慧城市的定義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424" y="2274479"/>
            <a:ext cx="5339151" cy="3902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5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資料共享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政府資料開放平台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data.gov.tw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原始資料對一般使用者參考價值較低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無拖管私人資料來源的方式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523" y="2457450"/>
            <a:ext cx="25050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7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環境狀態改變或情境事件發生通常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會造成裝置感測數值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的變化。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隨著事件發生後所經過的時間越長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，回報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的訊息價值也越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低。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即時串流的偵測演算法必須輕量有效。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5921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相關議題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802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感測數據分析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檢查原始數據的完整性（處理缺失、冗餘）。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利用分割</a:t>
            </a:r>
            <a:r>
              <a:rPr lang="zh-TW" altLang="en-US" dirty="0" smtClean="0"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Segmented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滑動視窗</a:t>
            </a:r>
            <a:r>
              <a:rPr lang="zh-TW" altLang="en-US" dirty="0" smtClean="0"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Sliding Window</a:t>
            </a:r>
            <a:r>
              <a:rPr lang="zh-TW" altLang="en-US" dirty="0" smtClean="0">
                <a:ea typeface="標楷體" panose="03000509000000000000" pitchFamily="65" charset="-120"/>
              </a:rPr>
              <a:t>），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或是其他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統計方式維護固定區間的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資料，提取片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段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特徵。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初步特徵結果用於訓練資料模組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獲得的判斷條件可成為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實際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應用的參考依據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異常偵測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人體動作判讀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居間照護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監控</a:t>
            </a:r>
          </a:p>
        </p:txBody>
      </p:sp>
    </p:spTree>
    <p:extLst>
      <p:ext uri="{BB962C8B-B14F-4D97-AF65-F5344CB8AC3E}">
        <p14:creationId xmlns:p14="http://schemas.microsoft.com/office/powerpoint/2010/main" val="4246773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何謂異常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在資料集中還未被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清楚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定義的資料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特徵。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不同異常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事件會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有不同的表現模式，混雜於大多數正常的狀態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8559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異常的種類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單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點異常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point anomaly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集體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異常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collective anomaly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條件式異常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conditional or contextual anomaly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0896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單點異常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6824" y="2008675"/>
            <a:ext cx="8378352" cy="4351338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4273420" y="2202025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6117772" y="5862735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7971452" y="3184850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8130073" y="257498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22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集體異常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3680" y="1875813"/>
            <a:ext cx="8404639" cy="4351338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5548604" y="2074363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699682" y="247261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856513" y="2119694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005337" y="2295331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139077" y="2121482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295053" y="2413520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6447452" y="2214000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599852" y="2306449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6727838" y="223934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882417" y="2430860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254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條件式異常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內容版面配置區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5208" y="1771945"/>
            <a:ext cx="8381584" cy="4351338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905208" y="612328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時間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9047583" y="4910870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9209313" y="3206477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9371044" y="362281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9542105" y="3215808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9694504" y="4475441"/>
            <a:ext cx="72000" cy="7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3442997" y="52164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上班時段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8923004" y="521646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深夜時段</a:t>
            </a:r>
            <a:endParaRPr lang="zh-TW" altLang="en-US" sz="1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228100" y="3206477"/>
            <a:ext cx="677108" cy="13234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TW" altLang="en-US" sz="1600" dirty="0">
                <a:latin typeface="標楷體" panose="03000509000000000000" pitchFamily="65" charset="-120"/>
                <a:ea typeface="標楷體" panose="03000509000000000000" pitchFamily="65" charset="-120"/>
              </a:rPr>
              <a:t>商業區用電量</a:t>
            </a:r>
          </a:p>
          <a:p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74502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異常偵測的方法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Classification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群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Clustering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鄰近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點</a:t>
            </a:r>
            <a:r>
              <a:rPr lang="zh-TW" altLang="en-US" dirty="0">
                <a:ea typeface="標楷體" panose="03000509000000000000" pitchFamily="65" charset="-120"/>
              </a:rPr>
              <a:t>（</a:t>
            </a:r>
            <a:r>
              <a:rPr lang="en-US" altLang="zh-TW" dirty="0">
                <a:ea typeface="標楷體" panose="03000509000000000000" pitchFamily="65" charset="-120"/>
              </a:rPr>
              <a:t>Nearest Neighbor</a:t>
            </a:r>
            <a:r>
              <a:rPr lang="zh-TW" altLang="en-US" dirty="0" smtClean="0">
                <a:ea typeface="標楷體" panose="03000509000000000000" pitchFamily="65" charset="-120"/>
              </a:rPr>
              <a:t>）</a:t>
            </a:r>
            <a:endParaRPr lang="en-US" altLang="zh-TW" dirty="0" smtClean="0"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統計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為基礎的判斷方法</a:t>
            </a:r>
          </a:p>
        </p:txBody>
      </p:sp>
    </p:spTree>
    <p:extLst>
      <p:ext uri="{BB962C8B-B14F-4D97-AF65-F5344CB8AC3E}">
        <p14:creationId xmlns:p14="http://schemas.microsoft.com/office/powerpoint/2010/main" val="161578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分類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透過監督或半監督的方式學習正常類型的資料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04414" y="2827482"/>
            <a:ext cx="3600000" cy="3600000"/>
          </a:xfrm>
          <a:prstGeom prst="rect">
            <a:avLst/>
          </a:prstGeom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3" name="文字方塊 122"/>
          <p:cNvSpPr txBox="1"/>
          <p:nvPr/>
        </p:nvSpPr>
        <p:spPr>
          <a:xfrm>
            <a:off x="11347170" y="297492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正常</a:t>
            </a:r>
            <a:endParaRPr lang="zh-TW" altLang="en-US" sz="16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7" name="流程圖: 接點 126"/>
          <p:cNvSpPr/>
          <p:nvPr/>
        </p:nvSpPr>
        <p:spPr>
          <a:xfrm>
            <a:off x="10165458" y="2920389"/>
            <a:ext cx="1316180" cy="1249132"/>
          </a:xfrm>
          <a:prstGeom prst="flowChartConnector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/>
          <p:cNvSpPr/>
          <p:nvPr/>
        </p:nvSpPr>
        <p:spPr>
          <a:xfrm>
            <a:off x="10809630" y="34485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流程圖: 接點 63"/>
          <p:cNvSpPr/>
          <p:nvPr/>
        </p:nvSpPr>
        <p:spPr>
          <a:xfrm>
            <a:off x="10504510" y="32265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流程圖: 接點 64"/>
          <p:cNvSpPr/>
          <p:nvPr/>
        </p:nvSpPr>
        <p:spPr>
          <a:xfrm>
            <a:off x="11082892" y="32625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流程圖: 接點 65"/>
          <p:cNvSpPr/>
          <p:nvPr/>
        </p:nvSpPr>
        <p:spPr>
          <a:xfrm>
            <a:off x="11005537" y="361663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流程圖: 接點 66"/>
          <p:cNvSpPr/>
          <p:nvPr/>
        </p:nvSpPr>
        <p:spPr>
          <a:xfrm>
            <a:off x="10486716" y="36772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流程圖: 接點 67"/>
          <p:cNvSpPr/>
          <p:nvPr/>
        </p:nvSpPr>
        <p:spPr>
          <a:xfrm>
            <a:off x="10493426" y="308794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流程圖: 接點 68"/>
          <p:cNvSpPr/>
          <p:nvPr/>
        </p:nvSpPr>
        <p:spPr>
          <a:xfrm>
            <a:off x="10829107" y="374283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流程圖: 接點 69"/>
          <p:cNvSpPr/>
          <p:nvPr/>
        </p:nvSpPr>
        <p:spPr>
          <a:xfrm>
            <a:off x="9151848" y="3896048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流程圖: 接點 70"/>
          <p:cNvSpPr/>
          <p:nvPr/>
        </p:nvSpPr>
        <p:spPr>
          <a:xfrm>
            <a:off x="11092853" y="353129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流程圖: 接點 71"/>
          <p:cNvSpPr/>
          <p:nvPr/>
        </p:nvSpPr>
        <p:spPr>
          <a:xfrm>
            <a:off x="10767702" y="362459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流程圖: 接點 72"/>
          <p:cNvSpPr/>
          <p:nvPr/>
        </p:nvSpPr>
        <p:spPr>
          <a:xfrm>
            <a:off x="10767702" y="331609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流程圖: 接點 73"/>
          <p:cNvSpPr/>
          <p:nvPr/>
        </p:nvSpPr>
        <p:spPr>
          <a:xfrm>
            <a:off x="10940519" y="38311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流程圖: 接點 74"/>
          <p:cNvSpPr/>
          <p:nvPr/>
        </p:nvSpPr>
        <p:spPr>
          <a:xfrm>
            <a:off x="11216196" y="38311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流程圖: 接點 75"/>
          <p:cNvSpPr/>
          <p:nvPr/>
        </p:nvSpPr>
        <p:spPr>
          <a:xfrm>
            <a:off x="11133504" y="308794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7" name="流程圖: 接點 76"/>
          <p:cNvSpPr/>
          <p:nvPr/>
        </p:nvSpPr>
        <p:spPr>
          <a:xfrm>
            <a:off x="11001491" y="348220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流程圖: 接點 77"/>
          <p:cNvSpPr/>
          <p:nvPr/>
        </p:nvSpPr>
        <p:spPr>
          <a:xfrm>
            <a:off x="11089145" y="375157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流程圖: 接點 78"/>
          <p:cNvSpPr/>
          <p:nvPr/>
        </p:nvSpPr>
        <p:spPr>
          <a:xfrm>
            <a:off x="10631211" y="39060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流程圖: 接點 79"/>
          <p:cNvSpPr/>
          <p:nvPr/>
        </p:nvSpPr>
        <p:spPr>
          <a:xfrm>
            <a:off x="11147359" y="336542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流程圖: 接點 80"/>
          <p:cNvSpPr/>
          <p:nvPr/>
        </p:nvSpPr>
        <p:spPr>
          <a:xfrm>
            <a:off x="11155497" y="36763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流程圖: 接點 81"/>
          <p:cNvSpPr/>
          <p:nvPr/>
        </p:nvSpPr>
        <p:spPr>
          <a:xfrm>
            <a:off x="11056853" y="38841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流程圖: 接點 82"/>
          <p:cNvSpPr/>
          <p:nvPr/>
        </p:nvSpPr>
        <p:spPr>
          <a:xfrm>
            <a:off x="10859164" y="35589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流程圖: 接點 83"/>
          <p:cNvSpPr/>
          <p:nvPr/>
        </p:nvSpPr>
        <p:spPr>
          <a:xfrm>
            <a:off x="10565513" y="356532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流程圖: 接點 84"/>
          <p:cNvSpPr/>
          <p:nvPr/>
        </p:nvSpPr>
        <p:spPr>
          <a:xfrm>
            <a:off x="10710402" y="357399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流程圖: 接點 85"/>
          <p:cNvSpPr/>
          <p:nvPr/>
        </p:nvSpPr>
        <p:spPr>
          <a:xfrm>
            <a:off x="10904519" y="34441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流程圖: 接點 86"/>
          <p:cNvSpPr/>
          <p:nvPr/>
        </p:nvSpPr>
        <p:spPr>
          <a:xfrm>
            <a:off x="10618069" y="37275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流程圖: 接點 87"/>
          <p:cNvSpPr/>
          <p:nvPr/>
        </p:nvSpPr>
        <p:spPr>
          <a:xfrm>
            <a:off x="10406887" y="3578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流程圖: 接點 88"/>
          <p:cNvSpPr/>
          <p:nvPr/>
        </p:nvSpPr>
        <p:spPr>
          <a:xfrm>
            <a:off x="10620932" y="381043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流程圖: 接點 89"/>
          <p:cNvSpPr/>
          <p:nvPr/>
        </p:nvSpPr>
        <p:spPr>
          <a:xfrm>
            <a:off x="10922867" y="373361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流程圖: 接點 90"/>
          <p:cNvSpPr/>
          <p:nvPr/>
        </p:nvSpPr>
        <p:spPr>
          <a:xfrm>
            <a:off x="10706830" y="348139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流程圖: 接點 91"/>
          <p:cNvSpPr/>
          <p:nvPr/>
        </p:nvSpPr>
        <p:spPr>
          <a:xfrm>
            <a:off x="10826155" y="31978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流程圖: 接點 92"/>
          <p:cNvSpPr/>
          <p:nvPr/>
        </p:nvSpPr>
        <p:spPr>
          <a:xfrm>
            <a:off x="9712032" y="3270828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流程圖: 接點 93"/>
          <p:cNvSpPr/>
          <p:nvPr/>
        </p:nvSpPr>
        <p:spPr>
          <a:xfrm>
            <a:off x="9429399" y="3445396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流程圖: 接點 94"/>
          <p:cNvSpPr/>
          <p:nvPr/>
        </p:nvSpPr>
        <p:spPr>
          <a:xfrm>
            <a:off x="11052744" y="365961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流程圖: 接點 95"/>
          <p:cNvSpPr/>
          <p:nvPr/>
        </p:nvSpPr>
        <p:spPr>
          <a:xfrm>
            <a:off x="10433874" y="339745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流程圖: 接點 96"/>
          <p:cNvSpPr/>
          <p:nvPr/>
        </p:nvSpPr>
        <p:spPr>
          <a:xfrm>
            <a:off x="10244045" y="32791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流程圖: 接點 97"/>
          <p:cNvSpPr/>
          <p:nvPr/>
        </p:nvSpPr>
        <p:spPr>
          <a:xfrm>
            <a:off x="11248111" y="351739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流程圖: 接點 98"/>
          <p:cNvSpPr/>
          <p:nvPr/>
        </p:nvSpPr>
        <p:spPr>
          <a:xfrm>
            <a:off x="11285906" y="36849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流程圖: 接點 99"/>
          <p:cNvSpPr/>
          <p:nvPr/>
        </p:nvSpPr>
        <p:spPr>
          <a:xfrm>
            <a:off x="10684822" y="36899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流程圖: 接點 100"/>
          <p:cNvSpPr/>
          <p:nvPr/>
        </p:nvSpPr>
        <p:spPr>
          <a:xfrm>
            <a:off x="10397874" y="39201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流程圖: 接點 101"/>
          <p:cNvSpPr/>
          <p:nvPr/>
        </p:nvSpPr>
        <p:spPr>
          <a:xfrm>
            <a:off x="10911568" y="36129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流程圖: 接點 102"/>
          <p:cNvSpPr/>
          <p:nvPr/>
        </p:nvSpPr>
        <p:spPr>
          <a:xfrm>
            <a:off x="10875568" y="398115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流程圖: 接點 103"/>
          <p:cNvSpPr/>
          <p:nvPr/>
        </p:nvSpPr>
        <p:spPr>
          <a:xfrm>
            <a:off x="11004617" y="321598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流程圖: 接點 104"/>
          <p:cNvSpPr/>
          <p:nvPr/>
        </p:nvSpPr>
        <p:spPr>
          <a:xfrm>
            <a:off x="10801019" y="3470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流程圖: 接點 105"/>
          <p:cNvSpPr/>
          <p:nvPr/>
        </p:nvSpPr>
        <p:spPr>
          <a:xfrm>
            <a:off x="10895164" y="332044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流程圖: 接點 106"/>
          <p:cNvSpPr/>
          <p:nvPr/>
        </p:nvSpPr>
        <p:spPr>
          <a:xfrm>
            <a:off x="10815847" y="38481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流程圖: 接點 107"/>
          <p:cNvSpPr/>
          <p:nvPr/>
        </p:nvSpPr>
        <p:spPr>
          <a:xfrm>
            <a:off x="10695702" y="332347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流程圖: 接點 108"/>
          <p:cNvSpPr/>
          <p:nvPr/>
        </p:nvSpPr>
        <p:spPr>
          <a:xfrm>
            <a:off x="9685311" y="3551029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流程圖: 接點 109"/>
          <p:cNvSpPr/>
          <p:nvPr/>
        </p:nvSpPr>
        <p:spPr>
          <a:xfrm>
            <a:off x="8876910" y="3098530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流程圖: 接點 110"/>
          <p:cNvSpPr/>
          <p:nvPr/>
        </p:nvSpPr>
        <p:spPr>
          <a:xfrm>
            <a:off x="10778830" y="30075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流程圖: 接點 111"/>
          <p:cNvSpPr/>
          <p:nvPr/>
        </p:nvSpPr>
        <p:spPr>
          <a:xfrm>
            <a:off x="9822869" y="3730798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流程圖: 接點 112"/>
          <p:cNvSpPr/>
          <p:nvPr/>
        </p:nvSpPr>
        <p:spPr>
          <a:xfrm>
            <a:off x="10723529" y="39420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流程圖: 接點 113"/>
          <p:cNvSpPr/>
          <p:nvPr/>
        </p:nvSpPr>
        <p:spPr>
          <a:xfrm>
            <a:off x="10479572" y="3506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流程圖: 接點 114"/>
          <p:cNvSpPr/>
          <p:nvPr/>
        </p:nvSpPr>
        <p:spPr>
          <a:xfrm>
            <a:off x="10787548" y="378967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流程圖: 接點 115"/>
          <p:cNvSpPr/>
          <p:nvPr/>
        </p:nvSpPr>
        <p:spPr>
          <a:xfrm>
            <a:off x="10601513" y="3434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流程圖: 接點 116"/>
          <p:cNvSpPr/>
          <p:nvPr/>
        </p:nvSpPr>
        <p:spPr>
          <a:xfrm>
            <a:off x="10978334" y="33317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流程圖: 接點 117"/>
          <p:cNvSpPr/>
          <p:nvPr/>
        </p:nvSpPr>
        <p:spPr>
          <a:xfrm>
            <a:off x="11030717" y="401906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流程圖: 接點 118"/>
          <p:cNvSpPr/>
          <p:nvPr/>
        </p:nvSpPr>
        <p:spPr>
          <a:xfrm>
            <a:off x="10504510" y="379730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流程圖: 接點 119"/>
          <p:cNvSpPr/>
          <p:nvPr/>
        </p:nvSpPr>
        <p:spPr>
          <a:xfrm>
            <a:off x="11321852" y="337255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流程圖: 接點 120"/>
          <p:cNvSpPr/>
          <p:nvPr/>
        </p:nvSpPr>
        <p:spPr>
          <a:xfrm>
            <a:off x="10906334" y="313453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2" name="流程圖: 接點 121"/>
          <p:cNvSpPr/>
          <p:nvPr/>
        </p:nvSpPr>
        <p:spPr>
          <a:xfrm>
            <a:off x="11072588" y="340066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流程圖: 接點 127"/>
          <p:cNvSpPr/>
          <p:nvPr/>
        </p:nvSpPr>
        <p:spPr>
          <a:xfrm>
            <a:off x="11118892" y="5649273"/>
            <a:ext cx="710043" cy="655653"/>
          </a:xfrm>
          <a:prstGeom prst="flowChartConnector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/>
          <p:nvPr/>
        </p:nvSpPr>
        <p:spPr>
          <a:xfrm>
            <a:off x="11482639" y="58893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/>
          <p:nvPr/>
        </p:nvSpPr>
        <p:spPr>
          <a:xfrm>
            <a:off x="11477098" y="597523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/>
          <p:cNvSpPr/>
          <p:nvPr/>
        </p:nvSpPr>
        <p:spPr>
          <a:xfrm>
            <a:off x="11418909" y="59419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接點 12"/>
          <p:cNvSpPr/>
          <p:nvPr/>
        </p:nvSpPr>
        <p:spPr>
          <a:xfrm>
            <a:off x="11526974" y="59669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接點 13"/>
          <p:cNvSpPr/>
          <p:nvPr/>
        </p:nvSpPr>
        <p:spPr>
          <a:xfrm>
            <a:off x="11443847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流程圖: 接點 14"/>
          <p:cNvSpPr/>
          <p:nvPr/>
        </p:nvSpPr>
        <p:spPr>
          <a:xfrm>
            <a:off x="11485412" y="60251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接點 15"/>
          <p:cNvSpPr/>
          <p:nvPr/>
        </p:nvSpPr>
        <p:spPr>
          <a:xfrm>
            <a:off x="11427222" y="58172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接點 16"/>
          <p:cNvSpPr/>
          <p:nvPr/>
        </p:nvSpPr>
        <p:spPr>
          <a:xfrm>
            <a:off x="11294217" y="59004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接點 17"/>
          <p:cNvSpPr/>
          <p:nvPr/>
        </p:nvSpPr>
        <p:spPr>
          <a:xfrm>
            <a:off x="11335781" y="60084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接點 18"/>
          <p:cNvSpPr/>
          <p:nvPr/>
        </p:nvSpPr>
        <p:spPr>
          <a:xfrm>
            <a:off x="11335781" y="58754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流程圖: 接點 19"/>
          <p:cNvSpPr/>
          <p:nvPr/>
        </p:nvSpPr>
        <p:spPr>
          <a:xfrm>
            <a:off x="11385658" y="59586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接點 20"/>
          <p:cNvSpPr/>
          <p:nvPr/>
        </p:nvSpPr>
        <p:spPr>
          <a:xfrm>
            <a:off x="11585162" y="587547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流程圖: 接點 21"/>
          <p:cNvSpPr/>
          <p:nvPr/>
        </p:nvSpPr>
        <p:spPr>
          <a:xfrm>
            <a:off x="11618413" y="59336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流程圖: 接點 22"/>
          <p:cNvSpPr/>
          <p:nvPr/>
        </p:nvSpPr>
        <p:spPr>
          <a:xfrm>
            <a:off x="11543599" y="580897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流程圖: 接點 23"/>
          <p:cNvSpPr/>
          <p:nvPr/>
        </p:nvSpPr>
        <p:spPr>
          <a:xfrm>
            <a:off x="11601787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流程圖: 接點 24"/>
          <p:cNvSpPr/>
          <p:nvPr/>
        </p:nvSpPr>
        <p:spPr>
          <a:xfrm>
            <a:off x="11585162" y="5925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流程圖: 接點 25"/>
          <p:cNvSpPr/>
          <p:nvPr/>
        </p:nvSpPr>
        <p:spPr>
          <a:xfrm>
            <a:off x="11344094" y="57424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/>
          <p:cNvSpPr/>
          <p:nvPr/>
        </p:nvSpPr>
        <p:spPr>
          <a:xfrm>
            <a:off x="11443847" y="609161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流程圖: 接點 27"/>
          <p:cNvSpPr/>
          <p:nvPr/>
        </p:nvSpPr>
        <p:spPr>
          <a:xfrm>
            <a:off x="11493723" y="57424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接點 28"/>
          <p:cNvSpPr/>
          <p:nvPr/>
        </p:nvSpPr>
        <p:spPr>
          <a:xfrm>
            <a:off x="11252654" y="599185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接點 29"/>
          <p:cNvSpPr/>
          <p:nvPr/>
        </p:nvSpPr>
        <p:spPr>
          <a:xfrm>
            <a:off x="11668291" y="580066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流程圖: 接點 30"/>
          <p:cNvSpPr/>
          <p:nvPr/>
        </p:nvSpPr>
        <p:spPr>
          <a:xfrm>
            <a:off x="11684916" y="592535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流程圖: 接點 31"/>
          <p:cNvSpPr/>
          <p:nvPr/>
        </p:nvSpPr>
        <p:spPr>
          <a:xfrm>
            <a:off x="11502036" y="591704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流程圖: 接點 32"/>
          <p:cNvSpPr/>
          <p:nvPr/>
        </p:nvSpPr>
        <p:spPr>
          <a:xfrm>
            <a:off x="11377345" y="587547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流程圖: 接點 33"/>
          <p:cNvSpPr/>
          <p:nvPr/>
        </p:nvSpPr>
        <p:spPr>
          <a:xfrm>
            <a:off x="11560224" y="58172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流程圖: 接點 34"/>
          <p:cNvSpPr/>
          <p:nvPr/>
        </p:nvSpPr>
        <p:spPr>
          <a:xfrm>
            <a:off x="11568536" y="58505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流程圖: 接點 35"/>
          <p:cNvSpPr/>
          <p:nvPr/>
        </p:nvSpPr>
        <p:spPr>
          <a:xfrm>
            <a:off x="11526973" y="58837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流程圖: 接點 36"/>
          <p:cNvSpPr/>
          <p:nvPr/>
        </p:nvSpPr>
        <p:spPr>
          <a:xfrm>
            <a:off x="11418908" y="59586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流程圖: 接點 37"/>
          <p:cNvSpPr/>
          <p:nvPr/>
        </p:nvSpPr>
        <p:spPr>
          <a:xfrm>
            <a:off x="11427221" y="601679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流程圖: 接點 38"/>
          <p:cNvSpPr/>
          <p:nvPr/>
        </p:nvSpPr>
        <p:spPr>
          <a:xfrm>
            <a:off x="11435535" y="58837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流程圖: 接點 39"/>
          <p:cNvSpPr/>
          <p:nvPr/>
        </p:nvSpPr>
        <p:spPr>
          <a:xfrm>
            <a:off x="11485409" y="593366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流程圖: 接點 40"/>
          <p:cNvSpPr/>
          <p:nvPr/>
        </p:nvSpPr>
        <p:spPr>
          <a:xfrm>
            <a:off x="11443848" y="593366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流程圖: 接點 41"/>
          <p:cNvSpPr/>
          <p:nvPr/>
        </p:nvSpPr>
        <p:spPr>
          <a:xfrm>
            <a:off x="11576849" y="595860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流程圖: 接點 42"/>
          <p:cNvSpPr/>
          <p:nvPr/>
        </p:nvSpPr>
        <p:spPr>
          <a:xfrm>
            <a:off x="11551910" y="59336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流程圖: 接點 43"/>
          <p:cNvSpPr/>
          <p:nvPr/>
        </p:nvSpPr>
        <p:spPr>
          <a:xfrm>
            <a:off x="11526974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流程圖: 接點 44"/>
          <p:cNvSpPr/>
          <p:nvPr/>
        </p:nvSpPr>
        <p:spPr>
          <a:xfrm>
            <a:off x="11518662" y="600848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流程圖: 接點 45"/>
          <p:cNvSpPr/>
          <p:nvPr/>
        </p:nvSpPr>
        <p:spPr>
          <a:xfrm>
            <a:off x="11593475" y="579235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接點 46"/>
          <p:cNvSpPr/>
          <p:nvPr/>
        </p:nvSpPr>
        <p:spPr>
          <a:xfrm>
            <a:off x="11377342" y="59170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流程圖: 接點 47"/>
          <p:cNvSpPr/>
          <p:nvPr/>
        </p:nvSpPr>
        <p:spPr>
          <a:xfrm>
            <a:off x="11294217" y="610823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流程圖: 接點 48"/>
          <p:cNvSpPr/>
          <p:nvPr/>
        </p:nvSpPr>
        <p:spPr>
          <a:xfrm>
            <a:off x="11551912" y="610823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流程圖: 接點 49"/>
          <p:cNvSpPr/>
          <p:nvPr/>
        </p:nvSpPr>
        <p:spPr>
          <a:xfrm>
            <a:off x="11410596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流程圖: 接點 50"/>
          <p:cNvSpPr/>
          <p:nvPr/>
        </p:nvSpPr>
        <p:spPr>
          <a:xfrm>
            <a:off x="11285906" y="597523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流程圖: 接點 51"/>
          <p:cNvSpPr/>
          <p:nvPr/>
        </p:nvSpPr>
        <p:spPr>
          <a:xfrm>
            <a:off x="11335781" y="59502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流程圖: 接點 52"/>
          <p:cNvSpPr/>
          <p:nvPr/>
        </p:nvSpPr>
        <p:spPr>
          <a:xfrm>
            <a:off x="11460471" y="62079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流程圖: 接點 53"/>
          <p:cNvSpPr/>
          <p:nvPr/>
        </p:nvSpPr>
        <p:spPr>
          <a:xfrm>
            <a:off x="11385656" y="610823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流程圖: 接點 54"/>
          <p:cNvSpPr/>
          <p:nvPr/>
        </p:nvSpPr>
        <p:spPr>
          <a:xfrm>
            <a:off x="11485405" y="580897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流程圖: 接點 55"/>
          <p:cNvSpPr/>
          <p:nvPr/>
        </p:nvSpPr>
        <p:spPr>
          <a:xfrm>
            <a:off x="11518659" y="58422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流程圖: 接點 56"/>
          <p:cNvSpPr/>
          <p:nvPr/>
        </p:nvSpPr>
        <p:spPr>
          <a:xfrm>
            <a:off x="11294217" y="584222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流程圖: 接點 57"/>
          <p:cNvSpPr/>
          <p:nvPr/>
        </p:nvSpPr>
        <p:spPr>
          <a:xfrm>
            <a:off x="11377345" y="580897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流程圖: 接點 58"/>
          <p:cNvSpPr/>
          <p:nvPr/>
        </p:nvSpPr>
        <p:spPr>
          <a:xfrm>
            <a:off x="11435533" y="58339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流程圖: 接點 59"/>
          <p:cNvSpPr/>
          <p:nvPr/>
        </p:nvSpPr>
        <p:spPr>
          <a:xfrm>
            <a:off x="11518658" y="57674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流程圖: 接點 60"/>
          <p:cNvSpPr/>
          <p:nvPr/>
        </p:nvSpPr>
        <p:spPr>
          <a:xfrm>
            <a:off x="11460472" y="57840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流程圖: 接點 61"/>
          <p:cNvSpPr/>
          <p:nvPr/>
        </p:nvSpPr>
        <p:spPr>
          <a:xfrm>
            <a:off x="10853643" y="5817289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流程圖: 接點 62"/>
          <p:cNvSpPr/>
          <p:nvPr/>
        </p:nvSpPr>
        <p:spPr>
          <a:xfrm>
            <a:off x="9166162" y="6232926"/>
            <a:ext cx="72000" cy="72000"/>
          </a:xfrm>
          <a:prstGeom prst="flowChartConnecto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文字方塊 128"/>
          <p:cNvSpPr txBox="1"/>
          <p:nvPr/>
        </p:nvSpPr>
        <p:spPr>
          <a:xfrm>
            <a:off x="11356895" y="531134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 smtClean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正常</a:t>
            </a:r>
            <a:endParaRPr lang="zh-TW" altLang="en-US" sz="1600" dirty="0">
              <a:solidFill>
                <a:srgbClr val="0070C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372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分群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分群演算法能自動判斷資料的分布狀態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K-means</a:t>
            </a:r>
          </a:p>
          <a:p>
            <a:pPr lvl="1"/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GMM (Gaussian mixture model)</a:t>
            </a:r>
          </a:p>
        </p:txBody>
      </p:sp>
      <p:sp>
        <p:nvSpPr>
          <p:cNvPr id="6" name="矩形 5"/>
          <p:cNvSpPr/>
          <p:nvPr/>
        </p:nvSpPr>
        <p:spPr>
          <a:xfrm>
            <a:off x="8071149" y="2827482"/>
            <a:ext cx="3600000" cy="3600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流程圖: 接點 6"/>
          <p:cNvSpPr/>
          <p:nvPr/>
        </p:nvSpPr>
        <p:spPr>
          <a:xfrm>
            <a:off x="9514738" y="40462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流程圖: 接點 7"/>
          <p:cNvSpPr/>
          <p:nvPr/>
        </p:nvSpPr>
        <p:spPr>
          <a:xfrm>
            <a:off x="11249374" y="58893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流程圖: 接點 8"/>
          <p:cNvSpPr/>
          <p:nvPr/>
        </p:nvSpPr>
        <p:spPr>
          <a:xfrm>
            <a:off x="11243833" y="597523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流程圖: 接點 9"/>
          <p:cNvSpPr/>
          <p:nvPr/>
        </p:nvSpPr>
        <p:spPr>
          <a:xfrm>
            <a:off x="11185644" y="59419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/>
          <p:nvPr/>
        </p:nvSpPr>
        <p:spPr>
          <a:xfrm>
            <a:off x="11293709" y="59669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流程圖: 接點 11"/>
          <p:cNvSpPr/>
          <p:nvPr/>
        </p:nvSpPr>
        <p:spPr>
          <a:xfrm>
            <a:off x="11210582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接點 12"/>
          <p:cNvSpPr/>
          <p:nvPr/>
        </p:nvSpPr>
        <p:spPr>
          <a:xfrm>
            <a:off x="11252147" y="60251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流程圖: 接點 13"/>
          <p:cNvSpPr/>
          <p:nvPr/>
        </p:nvSpPr>
        <p:spPr>
          <a:xfrm>
            <a:off x="11193957" y="58172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流程圖: 接點 14"/>
          <p:cNvSpPr/>
          <p:nvPr/>
        </p:nvSpPr>
        <p:spPr>
          <a:xfrm>
            <a:off x="11060952" y="59004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流程圖: 接點 15"/>
          <p:cNvSpPr/>
          <p:nvPr/>
        </p:nvSpPr>
        <p:spPr>
          <a:xfrm>
            <a:off x="11102516" y="60084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接點 16"/>
          <p:cNvSpPr/>
          <p:nvPr/>
        </p:nvSpPr>
        <p:spPr>
          <a:xfrm>
            <a:off x="11102516" y="58754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流程圖: 接點 17"/>
          <p:cNvSpPr/>
          <p:nvPr/>
        </p:nvSpPr>
        <p:spPr>
          <a:xfrm>
            <a:off x="11152393" y="59586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接點 18"/>
          <p:cNvSpPr/>
          <p:nvPr/>
        </p:nvSpPr>
        <p:spPr>
          <a:xfrm>
            <a:off x="11351897" y="587547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流程圖: 接點 19"/>
          <p:cNvSpPr/>
          <p:nvPr/>
        </p:nvSpPr>
        <p:spPr>
          <a:xfrm>
            <a:off x="11385148" y="59336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流程圖: 接點 20"/>
          <p:cNvSpPr/>
          <p:nvPr/>
        </p:nvSpPr>
        <p:spPr>
          <a:xfrm>
            <a:off x="11310334" y="580897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流程圖: 接點 21"/>
          <p:cNvSpPr/>
          <p:nvPr/>
        </p:nvSpPr>
        <p:spPr>
          <a:xfrm>
            <a:off x="11368522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流程圖: 接點 22"/>
          <p:cNvSpPr/>
          <p:nvPr/>
        </p:nvSpPr>
        <p:spPr>
          <a:xfrm>
            <a:off x="11351897" y="59253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流程圖: 接點 23"/>
          <p:cNvSpPr/>
          <p:nvPr/>
        </p:nvSpPr>
        <p:spPr>
          <a:xfrm>
            <a:off x="11110829" y="57424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流程圖: 接點 24"/>
          <p:cNvSpPr/>
          <p:nvPr/>
        </p:nvSpPr>
        <p:spPr>
          <a:xfrm>
            <a:off x="11210582" y="609161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流程圖: 接點 25"/>
          <p:cNvSpPr/>
          <p:nvPr/>
        </p:nvSpPr>
        <p:spPr>
          <a:xfrm>
            <a:off x="11260458" y="57424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/>
          <p:cNvSpPr/>
          <p:nvPr/>
        </p:nvSpPr>
        <p:spPr>
          <a:xfrm>
            <a:off x="11019389" y="599185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流程圖: 接點 27"/>
          <p:cNvSpPr/>
          <p:nvPr/>
        </p:nvSpPr>
        <p:spPr>
          <a:xfrm>
            <a:off x="11435026" y="580066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流程圖: 接點 28"/>
          <p:cNvSpPr/>
          <p:nvPr/>
        </p:nvSpPr>
        <p:spPr>
          <a:xfrm>
            <a:off x="11451651" y="592535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流程圖: 接點 29"/>
          <p:cNvSpPr/>
          <p:nvPr/>
        </p:nvSpPr>
        <p:spPr>
          <a:xfrm>
            <a:off x="11268771" y="591704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流程圖: 接點 30"/>
          <p:cNvSpPr/>
          <p:nvPr/>
        </p:nvSpPr>
        <p:spPr>
          <a:xfrm>
            <a:off x="11144080" y="587547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流程圖: 接點 31"/>
          <p:cNvSpPr/>
          <p:nvPr/>
        </p:nvSpPr>
        <p:spPr>
          <a:xfrm>
            <a:off x="11326959" y="581729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流程圖: 接點 32"/>
          <p:cNvSpPr/>
          <p:nvPr/>
        </p:nvSpPr>
        <p:spPr>
          <a:xfrm>
            <a:off x="11335271" y="58505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流程圖: 接點 33"/>
          <p:cNvSpPr/>
          <p:nvPr/>
        </p:nvSpPr>
        <p:spPr>
          <a:xfrm>
            <a:off x="11293708" y="58837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流程圖: 接點 34"/>
          <p:cNvSpPr/>
          <p:nvPr/>
        </p:nvSpPr>
        <p:spPr>
          <a:xfrm>
            <a:off x="11185643" y="59586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流程圖: 接點 35"/>
          <p:cNvSpPr/>
          <p:nvPr/>
        </p:nvSpPr>
        <p:spPr>
          <a:xfrm>
            <a:off x="11193956" y="601679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流程圖: 接點 36"/>
          <p:cNvSpPr/>
          <p:nvPr/>
        </p:nvSpPr>
        <p:spPr>
          <a:xfrm>
            <a:off x="11202270" y="588379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流程圖: 接點 37"/>
          <p:cNvSpPr/>
          <p:nvPr/>
        </p:nvSpPr>
        <p:spPr>
          <a:xfrm>
            <a:off x="11252144" y="593366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流程圖: 接點 38"/>
          <p:cNvSpPr/>
          <p:nvPr/>
        </p:nvSpPr>
        <p:spPr>
          <a:xfrm>
            <a:off x="11210583" y="593366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流程圖: 接點 39"/>
          <p:cNvSpPr/>
          <p:nvPr/>
        </p:nvSpPr>
        <p:spPr>
          <a:xfrm>
            <a:off x="11343584" y="595860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流程圖: 接點 40"/>
          <p:cNvSpPr/>
          <p:nvPr/>
        </p:nvSpPr>
        <p:spPr>
          <a:xfrm>
            <a:off x="11318645" y="593366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流程圖: 接點 41"/>
          <p:cNvSpPr/>
          <p:nvPr/>
        </p:nvSpPr>
        <p:spPr>
          <a:xfrm>
            <a:off x="11293709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流程圖: 接點 42"/>
          <p:cNvSpPr/>
          <p:nvPr/>
        </p:nvSpPr>
        <p:spPr>
          <a:xfrm>
            <a:off x="11285397" y="600848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流程圖: 接點 43"/>
          <p:cNvSpPr/>
          <p:nvPr/>
        </p:nvSpPr>
        <p:spPr>
          <a:xfrm>
            <a:off x="11360210" y="579235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流程圖: 接點 44"/>
          <p:cNvSpPr/>
          <p:nvPr/>
        </p:nvSpPr>
        <p:spPr>
          <a:xfrm>
            <a:off x="11144077" y="591704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流程圖: 接點 45"/>
          <p:cNvSpPr/>
          <p:nvPr/>
        </p:nvSpPr>
        <p:spPr>
          <a:xfrm>
            <a:off x="11060952" y="610823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接點 46"/>
          <p:cNvSpPr/>
          <p:nvPr/>
        </p:nvSpPr>
        <p:spPr>
          <a:xfrm>
            <a:off x="11318647" y="610823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流程圖: 接點 47"/>
          <p:cNvSpPr/>
          <p:nvPr/>
        </p:nvSpPr>
        <p:spPr>
          <a:xfrm>
            <a:off x="11177331" y="60417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流程圖: 接點 48"/>
          <p:cNvSpPr/>
          <p:nvPr/>
        </p:nvSpPr>
        <p:spPr>
          <a:xfrm>
            <a:off x="11052641" y="597523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流程圖: 接點 49"/>
          <p:cNvSpPr/>
          <p:nvPr/>
        </p:nvSpPr>
        <p:spPr>
          <a:xfrm>
            <a:off x="11102516" y="595029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流程圖: 接點 50"/>
          <p:cNvSpPr/>
          <p:nvPr/>
        </p:nvSpPr>
        <p:spPr>
          <a:xfrm>
            <a:off x="11227206" y="62079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流程圖: 接點 51"/>
          <p:cNvSpPr/>
          <p:nvPr/>
        </p:nvSpPr>
        <p:spPr>
          <a:xfrm>
            <a:off x="11152391" y="610823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流程圖: 接點 52"/>
          <p:cNvSpPr/>
          <p:nvPr/>
        </p:nvSpPr>
        <p:spPr>
          <a:xfrm>
            <a:off x="11252140" y="580897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流程圖: 接點 53"/>
          <p:cNvSpPr/>
          <p:nvPr/>
        </p:nvSpPr>
        <p:spPr>
          <a:xfrm>
            <a:off x="11285394" y="584222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流程圖: 接點 54"/>
          <p:cNvSpPr/>
          <p:nvPr/>
        </p:nvSpPr>
        <p:spPr>
          <a:xfrm>
            <a:off x="11060952" y="584222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流程圖: 接點 55"/>
          <p:cNvSpPr/>
          <p:nvPr/>
        </p:nvSpPr>
        <p:spPr>
          <a:xfrm>
            <a:off x="11144080" y="580897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流程圖: 接點 56"/>
          <p:cNvSpPr/>
          <p:nvPr/>
        </p:nvSpPr>
        <p:spPr>
          <a:xfrm>
            <a:off x="11202268" y="58339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流程圖: 接點 57"/>
          <p:cNvSpPr/>
          <p:nvPr/>
        </p:nvSpPr>
        <p:spPr>
          <a:xfrm>
            <a:off x="11285393" y="57674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流程圖: 接點 58"/>
          <p:cNvSpPr/>
          <p:nvPr/>
        </p:nvSpPr>
        <p:spPr>
          <a:xfrm>
            <a:off x="11227207" y="578403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流程圖: 接點 59"/>
          <p:cNvSpPr/>
          <p:nvPr/>
        </p:nvSpPr>
        <p:spPr>
          <a:xfrm>
            <a:off x="10620378" y="58172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流程圖: 接點 60"/>
          <p:cNvSpPr/>
          <p:nvPr/>
        </p:nvSpPr>
        <p:spPr>
          <a:xfrm>
            <a:off x="8932897" y="623292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流程圖: 接點 61"/>
          <p:cNvSpPr/>
          <p:nvPr/>
        </p:nvSpPr>
        <p:spPr>
          <a:xfrm>
            <a:off x="9812033" y="412706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流程圖: 接點 62"/>
          <p:cNvSpPr/>
          <p:nvPr/>
        </p:nvSpPr>
        <p:spPr>
          <a:xfrm>
            <a:off x="9810774" y="41610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流程圖: 接點 63"/>
          <p:cNvSpPr/>
          <p:nvPr/>
        </p:nvSpPr>
        <p:spPr>
          <a:xfrm>
            <a:off x="9911653" y="42489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流程圖: 接點 64"/>
          <p:cNvSpPr/>
          <p:nvPr/>
        </p:nvSpPr>
        <p:spPr>
          <a:xfrm>
            <a:off x="9486938" y="42849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流程圖: 接點 65"/>
          <p:cNvSpPr/>
          <p:nvPr/>
        </p:nvSpPr>
        <p:spPr>
          <a:xfrm>
            <a:off x="10054025" y="402842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流程圖: 接點 66"/>
          <p:cNvSpPr/>
          <p:nvPr/>
        </p:nvSpPr>
        <p:spPr>
          <a:xfrm>
            <a:off x="9447151" y="434754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流程圖: 接點 67"/>
          <p:cNvSpPr/>
          <p:nvPr/>
        </p:nvSpPr>
        <p:spPr>
          <a:xfrm>
            <a:off x="9894402" y="381115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流程圖: 接點 68"/>
          <p:cNvSpPr/>
          <p:nvPr/>
        </p:nvSpPr>
        <p:spPr>
          <a:xfrm>
            <a:off x="9329137" y="43209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流程圖: 接點 69"/>
          <p:cNvSpPr/>
          <p:nvPr/>
        </p:nvSpPr>
        <p:spPr>
          <a:xfrm>
            <a:off x="9467705" y="467795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流程圖: 接點 70"/>
          <p:cNvSpPr/>
          <p:nvPr/>
        </p:nvSpPr>
        <p:spPr>
          <a:xfrm>
            <a:off x="9372611" y="444617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流程圖: 接點 71"/>
          <p:cNvSpPr/>
          <p:nvPr/>
        </p:nvSpPr>
        <p:spPr>
          <a:xfrm>
            <a:off x="10041151" y="432788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流程圖: 接點 72"/>
          <p:cNvSpPr/>
          <p:nvPr/>
        </p:nvSpPr>
        <p:spPr>
          <a:xfrm>
            <a:off x="9698476" y="421458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流程圖: 接點 73"/>
          <p:cNvSpPr/>
          <p:nvPr/>
        </p:nvSpPr>
        <p:spPr>
          <a:xfrm>
            <a:off x="9835149" y="44135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5" name="流程圖: 接點 74"/>
          <p:cNvSpPr/>
          <p:nvPr/>
        </p:nvSpPr>
        <p:spPr>
          <a:xfrm>
            <a:off x="9422230" y="423932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流程圖: 接點 75"/>
          <p:cNvSpPr/>
          <p:nvPr/>
        </p:nvSpPr>
        <p:spPr>
          <a:xfrm>
            <a:off x="9438439" y="416259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流程圖: 接點 76"/>
          <p:cNvSpPr/>
          <p:nvPr/>
        </p:nvSpPr>
        <p:spPr>
          <a:xfrm>
            <a:off x="10084361" y="426557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流程圖: 接點 77"/>
          <p:cNvSpPr/>
          <p:nvPr/>
        </p:nvSpPr>
        <p:spPr>
          <a:xfrm>
            <a:off x="9906991" y="402745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流程圖: 接點 78"/>
          <p:cNvSpPr/>
          <p:nvPr/>
        </p:nvSpPr>
        <p:spPr>
          <a:xfrm>
            <a:off x="9971949" y="41707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流程圖: 接點 79"/>
          <p:cNvSpPr/>
          <p:nvPr/>
        </p:nvSpPr>
        <p:spPr>
          <a:xfrm>
            <a:off x="9719835" y="421848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流程圖: 接點 80"/>
          <p:cNvSpPr/>
          <p:nvPr/>
        </p:nvSpPr>
        <p:spPr>
          <a:xfrm>
            <a:off x="9256141" y="454517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流程圖: 接點 81"/>
          <p:cNvSpPr/>
          <p:nvPr/>
        </p:nvSpPr>
        <p:spPr>
          <a:xfrm>
            <a:off x="9568280" y="402842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流程圖: 接點 82"/>
          <p:cNvSpPr/>
          <p:nvPr/>
        </p:nvSpPr>
        <p:spPr>
          <a:xfrm>
            <a:off x="9681865" y="409684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流程圖: 接點 83"/>
          <p:cNvSpPr/>
          <p:nvPr/>
        </p:nvSpPr>
        <p:spPr>
          <a:xfrm>
            <a:off x="9656113" y="442408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流程圖: 接點 84"/>
          <p:cNvSpPr/>
          <p:nvPr/>
        </p:nvSpPr>
        <p:spPr>
          <a:xfrm>
            <a:off x="9478738" y="442743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流程圖: 接點 85"/>
          <p:cNvSpPr/>
          <p:nvPr/>
        </p:nvSpPr>
        <p:spPr>
          <a:xfrm>
            <a:off x="9750478" y="42850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流程圖: 接點 86"/>
          <p:cNvSpPr/>
          <p:nvPr/>
        </p:nvSpPr>
        <p:spPr>
          <a:xfrm>
            <a:off x="9589581" y="43039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流程圖: 接點 87"/>
          <p:cNvSpPr/>
          <p:nvPr/>
        </p:nvSpPr>
        <p:spPr>
          <a:xfrm>
            <a:off x="9589581" y="456545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流程圖: 接點 88"/>
          <p:cNvSpPr/>
          <p:nvPr/>
        </p:nvSpPr>
        <p:spPr>
          <a:xfrm>
            <a:off x="9859709" y="455402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流程圖: 接點 89"/>
          <p:cNvSpPr/>
          <p:nvPr/>
        </p:nvSpPr>
        <p:spPr>
          <a:xfrm>
            <a:off x="9822402" y="405500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流程圖: 接點 90"/>
          <p:cNvSpPr/>
          <p:nvPr/>
        </p:nvSpPr>
        <p:spPr>
          <a:xfrm>
            <a:off x="9402439" y="407248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流程圖: 接點 91"/>
          <p:cNvSpPr/>
          <p:nvPr/>
        </p:nvSpPr>
        <p:spPr>
          <a:xfrm>
            <a:off x="9670969" y="434147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流程圖: 接點 92"/>
          <p:cNvSpPr/>
          <p:nvPr/>
        </p:nvSpPr>
        <p:spPr>
          <a:xfrm>
            <a:off x="9748539" y="406052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流程圖: 接點 93"/>
          <p:cNvSpPr/>
          <p:nvPr/>
        </p:nvSpPr>
        <p:spPr>
          <a:xfrm>
            <a:off x="9382463" y="417072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流程圖: 接點 94"/>
          <p:cNvSpPr/>
          <p:nvPr/>
        </p:nvSpPr>
        <p:spPr>
          <a:xfrm>
            <a:off x="9861743" y="416485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流程圖: 接點 95"/>
          <p:cNvSpPr/>
          <p:nvPr/>
        </p:nvSpPr>
        <p:spPr>
          <a:xfrm>
            <a:off x="9856601" y="392180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流程圖: 接點 96"/>
          <p:cNvSpPr/>
          <p:nvPr/>
        </p:nvSpPr>
        <p:spPr>
          <a:xfrm>
            <a:off x="9935949" y="44940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流程圖: 接點 97"/>
          <p:cNvSpPr/>
          <p:nvPr/>
        </p:nvSpPr>
        <p:spPr>
          <a:xfrm>
            <a:off x="9304438" y="424994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流程圖: 接點 98"/>
          <p:cNvSpPr/>
          <p:nvPr/>
        </p:nvSpPr>
        <p:spPr>
          <a:xfrm>
            <a:off x="9221073" y="436811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流程圖: 接點 99"/>
          <p:cNvSpPr/>
          <p:nvPr/>
        </p:nvSpPr>
        <p:spPr>
          <a:xfrm>
            <a:off x="9595833" y="413514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流程圖: 接點 100"/>
          <p:cNvSpPr/>
          <p:nvPr/>
        </p:nvSpPr>
        <p:spPr>
          <a:xfrm>
            <a:off x="9503705" y="417691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流程圖: 接點 101"/>
          <p:cNvSpPr/>
          <p:nvPr/>
        </p:nvSpPr>
        <p:spPr>
          <a:xfrm>
            <a:off x="9855401" y="431011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流程圖: 接點 102"/>
          <p:cNvSpPr/>
          <p:nvPr/>
        </p:nvSpPr>
        <p:spPr>
          <a:xfrm>
            <a:off x="9503705" y="389984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4" name="流程圖: 接點 103"/>
          <p:cNvSpPr/>
          <p:nvPr/>
        </p:nvSpPr>
        <p:spPr>
          <a:xfrm>
            <a:off x="9719640" y="4375905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5" name="流程圖: 接點 104"/>
          <p:cNvSpPr/>
          <p:nvPr/>
        </p:nvSpPr>
        <p:spPr>
          <a:xfrm>
            <a:off x="9829129" y="471597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6" name="流程圖: 接點 105"/>
          <p:cNvSpPr/>
          <p:nvPr/>
        </p:nvSpPr>
        <p:spPr>
          <a:xfrm>
            <a:off x="9949663" y="4097673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流程圖: 接點 106"/>
          <p:cNvSpPr/>
          <p:nvPr/>
        </p:nvSpPr>
        <p:spPr>
          <a:xfrm>
            <a:off x="9788661" y="45215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流程圖: 接點 107"/>
          <p:cNvSpPr/>
          <p:nvPr/>
        </p:nvSpPr>
        <p:spPr>
          <a:xfrm>
            <a:off x="9962939" y="396900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流程圖: 接點 108"/>
          <p:cNvSpPr/>
          <p:nvPr/>
        </p:nvSpPr>
        <p:spPr>
          <a:xfrm>
            <a:off x="10048361" y="4176316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流程圖: 接點 109"/>
          <p:cNvSpPr/>
          <p:nvPr/>
        </p:nvSpPr>
        <p:spPr>
          <a:xfrm>
            <a:off x="9576789" y="3842784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流程圖: 接點 110"/>
          <p:cNvSpPr/>
          <p:nvPr/>
        </p:nvSpPr>
        <p:spPr>
          <a:xfrm>
            <a:off x="9165652" y="405500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流程圖: 接點 111"/>
          <p:cNvSpPr/>
          <p:nvPr/>
        </p:nvSpPr>
        <p:spPr>
          <a:xfrm>
            <a:off x="9694894" y="4485581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流程圖: 接點 112"/>
          <p:cNvSpPr/>
          <p:nvPr/>
        </p:nvSpPr>
        <p:spPr>
          <a:xfrm>
            <a:off x="9973137" y="468091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4" name="流程圖: 接點 113"/>
          <p:cNvSpPr/>
          <p:nvPr/>
        </p:nvSpPr>
        <p:spPr>
          <a:xfrm>
            <a:off x="9666417" y="467384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流程圖: 接點 114"/>
          <p:cNvSpPr/>
          <p:nvPr/>
        </p:nvSpPr>
        <p:spPr>
          <a:xfrm>
            <a:off x="9947653" y="4377470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6" name="流程圖: 接點 115"/>
          <p:cNvSpPr/>
          <p:nvPr/>
        </p:nvSpPr>
        <p:spPr>
          <a:xfrm>
            <a:off x="9714293" y="3938617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7" name="流程圖: 接點 116"/>
          <p:cNvSpPr/>
          <p:nvPr/>
        </p:nvSpPr>
        <p:spPr>
          <a:xfrm>
            <a:off x="9529901" y="452554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8" name="流程圖: 接點 117"/>
          <p:cNvSpPr/>
          <p:nvPr/>
        </p:nvSpPr>
        <p:spPr>
          <a:xfrm>
            <a:off x="10070298" y="4489542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流程圖: 接點 118"/>
          <p:cNvSpPr/>
          <p:nvPr/>
        </p:nvSpPr>
        <p:spPr>
          <a:xfrm>
            <a:off x="9707989" y="4593698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0" name="流程圖: 接點 119"/>
          <p:cNvSpPr/>
          <p:nvPr/>
        </p:nvSpPr>
        <p:spPr>
          <a:xfrm>
            <a:off x="9606348" y="4200879"/>
            <a:ext cx="72000" cy="72000"/>
          </a:xfrm>
          <a:prstGeom prst="flowChartConnector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文字方塊 120"/>
          <p:cNvSpPr txBox="1"/>
          <p:nvPr/>
        </p:nvSpPr>
        <p:spPr>
          <a:xfrm>
            <a:off x="9779989" y="3460373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C1</a:t>
            </a:r>
            <a:endParaRPr lang="zh-TW" altLang="en-US" sz="1600" dirty="0"/>
          </a:p>
        </p:txBody>
      </p:sp>
      <p:sp>
        <p:nvSpPr>
          <p:cNvPr id="122" name="文字方塊 121"/>
          <p:cNvSpPr txBox="1"/>
          <p:nvPr/>
        </p:nvSpPr>
        <p:spPr>
          <a:xfrm>
            <a:off x="11233198" y="5407802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C2</a:t>
            </a:r>
            <a:endParaRPr lang="zh-TW" altLang="en-US" sz="1600" dirty="0"/>
          </a:p>
        </p:txBody>
      </p:sp>
      <p:sp>
        <p:nvSpPr>
          <p:cNvPr id="123" name="文字方塊 122"/>
          <p:cNvSpPr txBox="1"/>
          <p:nvPr/>
        </p:nvSpPr>
        <p:spPr>
          <a:xfrm>
            <a:off x="10459659" y="5473194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 smtClean="0"/>
              <a:t>o1</a:t>
            </a:r>
            <a:endParaRPr lang="zh-TW" altLang="en-US" sz="1600" dirty="0"/>
          </a:p>
        </p:txBody>
      </p:sp>
      <p:sp>
        <p:nvSpPr>
          <p:cNvPr id="124" name="文字方塊 123"/>
          <p:cNvSpPr txBox="1"/>
          <p:nvPr/>
        </p:nvSpPr>
        <p:spPr>
          <a:xfrm>
            <a:off x="8789923" y="5889289"/>
            <a:ext cx="3978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o</a:t>
            </a:r>
            <a:r>
              <a:rPr lang="en-US" altLang="zh-TW" sz="1600" dirty="0" smtClean="0"/>
              <a:t>1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2571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鄰近點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觀察資料與鄰近資料之間的距離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常搭配其他方法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如：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LOF(Local Outlier Factor)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中使用</a:t>
            </a:r>
            <a:r>
              <a:rPr lang="en-US" altLang="zh-TW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K Nearest Neighbor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決定計算密度的區域範圍。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65680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統計為基礎的判斷方法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預想一般情況下，正常狀態資料發生的機率會高於異常的機率。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取得區段資料的統計狀態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預測可能的變動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趨勢</a:t>
            </a:r>
          </a:p>
        </p:txBody>
      </p:sp>
    </p:spTree>
    <p:extLst>
      <p:ext uri="{BB962C8B-B14F-4D97-AF65-F5344CB8AC3E}">
        <p14:creationId xmlns:p14="http://schemas.microsoft.com/office/powerpoint/2010/main" val="111652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研究方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0156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一般常態分佈</a:t>
            </a:r>
            <a:endParaRPr lang="en-US" altLang="zh-TW" sz="32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常態分佈的自然特性也是機率統計學被廣泛使用的一種分佈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類型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各科學領域中也能觀察到許多資料特徵符合常態分佈的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條件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因此假定感測器產生的環境指標在不受人為干擾的情況下，其感測數值所得之機率密度函數應該會符合常態分佈的行為模式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528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一般常態分佈</a:t>
            </a:r>
            <a:endParaRPr lang="en-US" altLang="zh-TW" sz="32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000" y="1875813"/>
            <a:ext cx="7200000" cy="5101200"/>
          </a:xfrm>
        </p:spPr>
      </p:pic>
    </p:spTree>
    <p:extLst>
      <p:ext uri="{BB962C8B-B14F-4D97-AF65-F5344CB8AC3E}">
        <p14:creationId xmlns:p14="http://schemas.microsoft.com/office/powerpoint/2010/main" val="318196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CUSUM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Cumulative Sum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32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概念是觀察資料變化的離散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趨勢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資料的波動大於限制區間便會開始記錄變化幅度的大小，如果趨勢呈現持續增加或減少，變化量會在持續的過程中累加，而累加值到達定量後就會認定資料變化正在偏移原本的狀態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須定義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兩個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參數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資料波動可容忍的區間範圍（常使用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1/2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倍標準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差）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變化累積量的門檻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常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四或五倍標準差）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405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CUSUM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Cumulative Sum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32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SH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𝑀𝑎𝑥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𝑆𝐻</m:t>
                        </m:r>
                        <m:d>
                          <m:d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𝐺𝑜𝑎𝑙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zh-TW" altLang="zh-TW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>
                        <a:latin typeface="Cambria Math" panose="02040503050406030204" pitchFamily="18" charset="0"/>
                      </a:rPr>
                      <m:t>SL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𝑀𝑖𝑛</m:t>
                    </m:r>
                    <m:d>
                      <m:dPr>
                        <m:begChr m:val="["/>
                        <m:endChr m:val="]"/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𝑆𝐿</m:t>
                        </m:r>
                        <m:d>
                          <m:d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TW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𝐺𝑜𝑎𝑙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TW" dirty="0" smtClean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=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資料數值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𝐺𝑜𝑎𝑙</m:t>
                    </m:r>
                  </m:oMath>
                </a14:m>
                <a:r>
                  <a:rPr lang="en-US" altLang="zh-TW" dirty="0" smtClean="0"/>
                  <a:t> =</a:t>
                </a:r>
                <a:r>
                  <a:rPr lang="zh-TW" altLang="en-US" dirty="0" smtClean="0"/>
                  <a:t> 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平均值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½~1</a:t>
                </a:r>
                <a:r>
                  <a:rPr lang="zh-TW" altLang="en-US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倍標準差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zh-TW" altLang="zh-TW" dirty="0" smtClean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觀察</a:t>
                </a:r>
                <a:endParaRPr lang="en-US" altLang="zh-TW" dirty="0" smtClean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𝐺𝑜𝑎𝑙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𝐺𝑜𝑎𝑙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TW" dirty="0" smtClean="0">
                  <a:ea typeface="標楷體" panose="03000509000000000000" pitchFamily="65" charset="-12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𝐺𝑜𝑎𝑙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𝐺𝑜𝑎𝑙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zh-TW" altLang="zh-TW" dirty="0"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191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LOF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Local Outlier Factor</a:t>
            </a:r>
            <a:r>
              <a:rPr lang="zh-TW" altLang="en-US" sz="3200" dirty="0" smtClean="0"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3200" dirty="0"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US" altLang="zh-TW" dirty="0"/>
              <a:t>LOF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是參考資料點間距離與區域分布密度作為檢測標準的演算法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8" name="內容版面配置區 6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16000" y="2589831"/>
            <a:ext cx="396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40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</a:t>
            </a:r>
            <a:r>
              <a:rPr lang="zh-TW" altLang="en-US" sz="32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作的偵測方法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門檻值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一般常態分佈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資料片段平均值與常態分佈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/>
            <a:r>
              <a:rPr lang="en-US" altLang="zh-TW" dirty="0"/>
              <a:t>CUSUM</a:t>
            </a:r>
            <a:endParaRPr lang="zh-TW" altLang="zh-TW" dirty="0"/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資料片段數值與</a:t>
            </a:r>
            <a:r>
              <a:rPr lang="en-US" altLang="zh-TW" dirty="0" smtClean="0"/>
              <a:t>LOF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資料片段平均值、標準差與</a:t>
            </a:r>
            <a:r>
              <a:rPr lang="en-US" altLang="zh-TW" dirty="0" smtClean="0"/>
              <a:t>LOF</a:t>
            </a:r>
          </a:p>
        </p:txBody>
      </p:sp>
    </p:spTree>
    <p:extLst>
      <p:ext uri="{BB962C8B-B14F-4D97-AF65-F5344CB8AC3E}">
        <p14:creationId xmlns:p14="http://schemas.microsoft.com/office/powerpoint/2010/main" val="85766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實驗一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400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訓練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內容版面配置區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2834" y="1825625"/>
            <a:ext cx="78063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4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演算法參數設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定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一般常態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三倍標準差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集體資料的平均值常態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視窗大小為</a:t>
            </a:r>
            <a:r>
              <a:rPr lang="en-US" altLang="zh-TW" dirty="0" smtClean="0">
                <a:ea typeface="標楷體" panose="03000509000000000000" pitchFamily="65" charset="-120"/>
              </a:rPr>
              <a:t>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筆資料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滑動間隔為</a:t>
            </a:r>
            <a:r>
              <a:rPr lang="en-US" altLang="zh-TW" dirty="0" smtClean="0">
                <a:ea typeface="標楷體" panose="03000509000000000000" pitchFamily="65" charset="-120"/>
              </a:rPr>
              <a:t>6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筆資料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五倍標準差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/>
              <a:t>CUSUM</a:t>
            </a: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資料波動的容忍區間為</a:t>
            </a:r>
            <a:r>
              <a:rPr lang="en-US" altLang="zh-TW" dirty="0"/>
              <a:t>1/2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標準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差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累加值異常門檻則是</a:t>
            </a:r>
            <a:r>
              <a:rPr lang="en-US" altLang="zh-TW" dirty="0"/>
              <a:t>4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倍標準差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/>
              <a:t>LOF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方法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視窗大小為</a:t>
            </a:r>
            <a:r>
              <a:rPr lang="en-US" altLang="zh-TW" dirty="0"/>
              <a:t>8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筆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滑動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間隔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en-US" altLang="zh-TW" dirty="0"/>
              <a:t>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筆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判斷區域的鄰近點個數為</a:t>
            </a:r>
            <a:r>
              <a:rPr lang="en-US" altLang="zh-TW" dirty="0" smtClean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67834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實驗設計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模擬事件類型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快速偏離並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回歸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緩慢偏離並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回歸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快速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偏離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緩慢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偏離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1497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622852" y="456810"/>
            <a:ext cx="5148000" cy="2880000"/>
          </a:xfrm>
          <a:prstGeom prst="rect">
            <a:avLst/>
          </a:prstGeom>
        </p:spPr>
      </p:pic>
      <p:pic>
        <p:nvPicPr>
          <p:cNvPr id="13" name="圖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6286047" y="456810"/>
            <a:ext cx="5148000" cy="2880000"/>
          </a:xfrm>
          <a:prstGeom prst="rect">
            <a:avLst/>
          </a:prstGeom>
        </p:spPr>
      </p:pic>
      <p:pic>
        <p:nvPicPr>
          <p:cNvPr id="14" name="圖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622852" y="3567405"/>
            <a:ext cx="5148000" cy="2880000"/>
          </a:xfrm>
          <a:prstGeom prst="rect">
            <a:avLst/>
          </a:prstGeom>
        </p:spPr>
      </p:pic>
      <p:pic>
        <p:nvPicPr>
          <p:cNvPr id="15" name="圖片 14"/>
          <p:cNvPicPr/>
          <p:nvPr/>
        </p:nvPicPr>
        <p:blipFill>
          <a:blip r:embed="rId6"/>
          <a:stretch>
            <a:fillRect/>
          </a:stretch>
        </p:blipFill>
        <p:spPr>
          <a:xfrm>
            <a:off x="6286047" y="3567405"/>
            <a:ext cx="5148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0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93139" y="918549"/>
            <a:ext cx="5148580" cy="2879725"/>
          </a:xfrm>
          <a:prstGeom prst="rect">
            <a:avLst/>
          </a:prstGeom>
        </p:spPr>
      </p:pic>
      <p:pic>
        <p:nvPicPr>
          <p:cNvPr id="8" name="圖片 7"/>
          <p:cNvPicPr/>
          <p:nvPr/>
        </p:nvPicPr>
        <p:blipFill>
          <a:blip r:embed="rId4"/>
          <a:stretch>
            <a:fillRect/>
          </a:stretch>
        </p:blipFill>
        <p:spPr>
          <a:xfrm>
            <a:off x="6282016" y="918548"/>
            <a:ext cx="5148000" cy="2879725"/>
          </a:xfrm>
          <a:prstGeom prst="rect">
            <a:avLst/>
          </a:prstGeom>
        </p:spPr>
      </p:pic>
      <p:pic>
        <p:nvPicPr>
          <p:cNvPr id="10" name="圖片 9"/>
          <p:cNvPicPr/>
          <p:nvPr/>
        </p:nvPicPr>
        <p:blipFill>
          <a:blip r:embed="rId5"/>
          <a:stretch>
            <a:fillRect/>
          </a:stretch>
        </p:blipFill>
        <p:spPr>
          <a:xfrm>
            <a:off x="693139" y="3798275"/>
            <a:ext cx="5148000" cy="2879725"/>
          </a:xfrm>
          <a:prstGeom prst="rect">
            <a:avLst/>
          </a:prstGeom>
        </p:spPr>
      </p:pic>
      <p:pic>
        <p:nvPicPr>
          <p:cNvPr id="11" name="圖片 10"/>
          <p:cNvPicPr/>
          <p:nvPr/>
        </p:nvPicPr>
        <p:blipFill>
          <a:blip r:embed="rId6"/>
          <a:stretch>
            <a:fillRect/>
          </a:stretch>
        </p:blipFill>
        <p:spPr>
          <a:xfrm>
            <a:off x="6282016" y="3798274"/>
            <a:ext cx="5148000" cy="2879725"/>
          </a:xfrm>
          <a:prstGeom prst="rect">
            <a:avLst/>
          </a:prstGeom>
        </p:spPr>
      </p:pic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838200" y="266868"/>
            <a:ext cx="10515600" cy="564811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一般常態分佈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212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595433" y="918549"/>
            <a:ext cx="5148000" cy="2879725"/>
          </a:xfrm>
          <a:prstGeom prst="rect">
            <a:avLst/>
          </a:prstGeom>
        </p:spPr>
      </p:pic>
      <p:pic>
        <p:nvPicPr>
          <p:cNvPr id="12" name="圖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340825" y="918549"/>
            <a:ext cx="5146040" cy="2879725"/>
          </a:xfrm>
          <a:prstGeom prst="rect">
            <a:avLst/>
          </a:prstGeom>
        </p:spPr>
      </p:pic>
      <p:pic>
        <p:nvPicPr>
          <p:cNvPr id="14" name="圖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6338865" y="3798275"/>
            <a:ext cx="5148000" cy="2879725"/>
          </a:xfrm>
          <a:prstGeom prst="rect">
            <a:avLst/>
          </a:prstGeom>
        </p:spPr>
      </p:pic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資料片段平均值與常態分佈</a:t>
            </a: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433" y="3798274"/>
            <a:ext cx="5148000" cy="28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34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ea typeface="標楷體" panose="03000509000000000000" pitchFamily="65" charset="-120"/>
              </a:rPr>
              <a:t>CUSUM</a:t>
            </a:r>
            <a:endParaRPr lang="zh-TW" altLang="en-US" sz="3200" dirty="0">
              <a:ea typeface="標楷體" panose="03000509000000000000" pitchFamily="65" charset="-120"/>
            </a:endParaRPr>
          </a:p>
        </p:txBody>
      </p:sp>
      <p:pic>
        <p:nvPicPr>
          <p:cNvPr id="10" name="圖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757464" y="927164"/>
            <a:ext cx="5148000" cy="2879725"/>
          </a:xfrm>
          <a:prstGeom prst="rect">
            <a:avLst/>
          </a:prstGeom>
        </p:spPr>
      </p:pic>
      <p:pic>
        <p:nvPicPr>
          <p:cNvPr id="11" name="圖片 10"/>
          <p:cNvPicPr/>
          <p:nvPr/>
        </p:nvPicPr>
        <p:blipFill>
          <a:blip r:embed="rId4"/>
          <a:stretch>
            <a:fillRect/>
          </a:stretch>
        </p:blipFill>
        <p:spPr>
          <a:xfrm>
            <a:off x="6359702" y="927164"/>
            <a:ext cx="5146040" cy="2879725"/>
          </a:xfrm>
          <a:prstGeom prst="rect">
            <a:avLst/>
          </a:prstGeom>
        </p:spPr>
      </p:pic>
      <p:pic>
        <p:nvPicPr>
          <p:cNvPr id="16" name="圖片 15"/>
          <p:cNvPicPr/>
          <p:nvPr/>
        </p:nvPicPr>
        <p:blipFill>
          <a:blip r:embed="rId5"/>
          <a:stretch>
            <a:fillRect/>
          </a:stretch>
        </p:blipFill>
        <p:spPr>
          <a:xfrm>
            <a:off x="719901" y="3798275"/>
            <a:ext cx="5148000" cy="2879725"/>
          </a:xfrm>
          <a:prstGeom prst="rect">
            <a:avLst/>
          </a:prstGeom>
        </p:spPr>
      </p:pic>
      <p:pic>
        <p:nvPicPr>
          <p:cNvPr id="17" name="圖片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322139" y="3798274"/>
            <a:ext cx="5148000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58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ea typeface="標楷體" panose="03000509000000000000" pitchFamily="65" charset="-120"/>
              </a:rPr>
              <a:t>資料片段數值與</a:t>
            </a:r>
            <a:r>
              <a:rPr lang="en-US" altLang="zh-TW" sz="3200" dirty="0">
                <a:ea typeface="標楷體" panose="03000509000000000000" pitchFamily="65" charset="-120"/>
              </a:rPr>
              <a:t>LOF</a:t>
            </a:r>
          </a:p>
        </p:txBody>
      </p:sp>
      <p:pic>
        <p:nvPicPr>
          <p:cNvPr id="9" name="圖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745484" y="918549"/>
            <a:ext cx="5148000" cy="2879725"/>
          </a:xfrm>
          <a:prstGeom prst="rect">
            <a:avLst/>
          </a:prstGeom>
        </p:spPr>
      </p:pic>
      <p:pic>
        <p:nvPicPr>
          <p:cNvPr id="12" name="圖片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468742" y="918549"/>
            <a:ext cx="5148000" cy="2879725"/>
          </a:xfrm>
          <a:prstGeom prst="rect">
            <a:avLst/>
          </a:prstGeom>
        </p:spPr>
      </p:pic>
      <p:pic>
        <p:nvPicPr>
          <p:cNvPr id="13" name="圖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745484" y="3796413"/>
            <a:ext cx="5148000" cy="2879725"/>
          </a:xfrm>
          <a:prstGeom prst="rect">
            <a:avLst/>
          </a:prstGeom>
        </p:spPr>
      </p:pic>
      <p:pic>
        <p:nvPicPr>
          <p:cNvPr id="14" name="圖片 13"/>
          <p:cNvPicPr/>
          <p:nvPr/>
        </p:nvPicPr>
        <p:blipFill>
          <a:blip r:embed="rId6"/>
          <a:stretch>
            <a:fillRect/>
          </a:stretch>
        </p:blipFill>
        <p:spPr>
          <a:xfrm>
            <a:off x="6468742" y="3796412"/>
            <a:ext cx="5148000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84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ea typeface="標楷體" panose="03000509000000000000" pitchFamily="65" charset="-120"/>
              </a:rPr>
              <a:t>資料片段平均值、標準差與</a:t>
            </a:r>
            <a:r>
              <a:rPr lang="en-US" altLang="zh-TW" sz="3200" dirty="0">
                <a:ea typeface="標楷體" panose="03000509000000000000" pitchFamily="65" charset="-120"/>
              </a:rPr>
              <a:t>LOF</a:t>
            </a:r>
          </a:p>
        </p:txBody>
      </p:sp>
      <p:pic>
        <p:nvPicPr>
          <p:cNvPr id="10" name="圖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734982" y="918550"/>
            <a:ext cx="5148000" cy="2879725"/>
          </a:xfrm>
          <a:prstGeom prst="rect">
            <a:avLst/>
          </a:prstGeom>
        </p:spPr>
      </p:pic>
      <p:pic>
        <p:nvPicPr>
          <p:cNvPr id="11" name="圖片 10"/>
          <p:cNvPicPr/>
          <p:nvPr/>
        </p:nvPicPr>
        <p:blipFill>
          <a:blip r:embed="rId4"/>
          <a:stretch>
            <a:fillRect/>
          </a:stretch>
        </p:blipFill>
        <p:spPr>
          <a:xfrm>
            <a:off x="6464430" y="891444"/>
            <a:ext cx="5148000" cy="2879725"/>
          </a:xfrm>
          <a:prstGeom prst="rect">
            <a:avLst/>
          </a:prstGeom>
        </p:spPr>
      </p:pic>
      <p:pic>
        <p:nvPicPr>
          <p:cNvPr id="16" name="圖片 15"/>
          <p:cNvPicPr/>
          <p:nvPr/>
        </p:nvPicPr>
        <p:blipFill>
          <a:blip r:embed="rId5"/>
          <a:stretch>
            <a:fillRect/>
          </a:stretch>
        </p:blipFill>
        <p:spPr>
          <a:xfrm>
            <a:off x="734982" y="3771169"/>
            <a:ext cx="5148000" cy="2879725"/>
          </a:xfrm>
          <a:prstGeom prst="rect">
            <a:avLst/>
          </a:prstGeom>
        </p:spPr>
      </p:pic>
      <p:pic>
        <p:nvPicPr>
          <p:cNvPr id="17" name="圖片 16"/>
          <p:cNvPicPr/>
          <p:nvPr/>
        </p:nvPicPr>
        <p:blipFill>
          <a:blip r:embed="rId6"/>
          <a:stretch>
            <a:fillRect/>
          </a:stretch>
        </p:blipFill>
        <p:spPr>
          <a:xfrm>
            <a:off x="6464430" y="3798275"/>
            <a:ext cx="5148000" cy="287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028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實驗二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563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訓練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內容版面配置區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5974" y="1825625"/>
            <a:ext cx="784005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2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訓練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內容版面配置區 7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76516" y="1825625"/>
            <a:ext cx="78389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9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演算法參數設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定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LOF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方法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視窗大小為</a:t>
            </a:r>
            <a:r>
              <a:rPr lang="en-US" altLang="zh-TW" dirty="0" smtClean="0"/>
              <a:t>8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筆資料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滑動間格為</a:t>
            </a:r>
            <a:r>
              <a:rPr lang="en-US" altLang="zh-TW" dirty="0" smtClean="0"/>
              <a:t>1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筆資料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判斷區域的鄰近點個數為</a:t>
            </a:r>
            <a:r>
              <a:rPr lang="en-US" altLang="zh-TW" dirty="0" smtClean="0">
                <a:ea typeface="標楷體" panose="03000509000000000000" pitchFamily="65" charset="-120"/>
              </a:rPr>
              <a:t>3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02362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實驗設計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模擬事件類型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於資料波動範圍內的單點和集體異常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82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模擬週期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內容版面配置區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0886" y="1825625"/>
            <a:ext cx="7830227" cy="4351338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3500438" y="2133656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352926" y="5443594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781800" y="2888692"/>
            <a:ext cx="1462088" cy="940357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489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真實資料週期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內容版面配置區 8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93394" y="1825625"/>
            <a:ext cx="7805212" cy="4351338"/>
          </a:xfrm>
          <a:prstGeom prst="rect">
            <a:avLst/>
          </a:prstGeom>
        </p:spPr>
      </p:pic>
      <p:sp>
        <p:nvSpPr>
          <p:cNvPr id="10" name="橢圓 9"/>
          <p:cNvSpPr/>
          <p:nvPr/>
        </p:nvSpPr>
        <p:spPr>
          <a:xfrm>
            <a:off x="3914776" y="2762306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629275" y="4987312"/>
            <a:ext cx="360000" cy="360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258051" y="3641293"/>
            <a:ext cx="1285874" cy="687819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038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ea typeface="標楷體" panose="03000509000000000000" pitchFamily="65" charset="-120"/>
              </a:rPr>
              <a:t>資料片段數值與</a:t>
            </a:r>
            <a:r>
              <a:rPr lang="en-US" altLang="zh-TW" sz="3200" dirty="0">
                <a:ea typeface="標楷體" panose="03000509000000000000" pitchFamily="65" charset="-120"/>
              </a:rPr>
              <a:t>LOF</a:t>
            </a:r>
          </a:p>
        </p:txBody>
      </p:sp>
      <p:pic>
        <p:nvPicPr>
          <p:cNvPr id="11" name="內容版面配置區 5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2000" y="3438000"/>
            <a:ext cx="6120000" cy="3240000"/>
          </a:xfrm>
          <a:prstGeom prst="rect">
            <a:avLst/>
          </a:prstGeom>
        </p:spPr>
      </p:pic>
      <p:pic>
        <p:nvPicPr>
          <p:cNvPr id="10" name="內容版面配置區 6"/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864337"/>
            <a:ext cx="61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0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838200" y="234212"/>
            <a:ext cx="10515600" cy="630125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>
                <a:ea typeface="標楷體" panose="03000509000000000000" pitchFamily="65" charset="-120"/>
              </a:rPr>
              <a:t>資料片段平均值、標準差與</a:t>
            </a:r>
            <a:r>
              <a:rPr lang="en-US" altLang="zh-TW" sz="3200" dirty="0">
                <a:ea typeface="標楷體" panose="03000509000000000000" pitchFamily="65" charset="-120"/>
              </a:rPr>
              <a:t>LOF</a:t>
            </a:r>
          </a:p>
        </p:txBody>
      </p:sp>
      <p:pic>
        <p:nvPicPr>
          <p:cNvPr id="12" name="內容版面配置區 8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72000" y="3438000"/>
            <a:ext cx="6120000" cy="3240000"/>
          </a:xfrm>
          <a:prstGeom prst="rect">
            <a:avLst/>
          </a:prstGeom>
        </p:spPr>
      </p:pic>
      <p:pic>
        <p:nvPicPr>
          <p:cNvPr id="9" name="內容版面配置區 7"/>
          <p:cNvPicPr>
            <a:picLocks noGrp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864337"/>
            <a:ext cx="61200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5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結論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76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Threshold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直接設定門檻值的方法適用於明確知道資料正常範圍的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異常事件一定會造成資料偏移至正常範圍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偵測反應快速、不會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造成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無法適應任何狀態的改變，每次使用時都要自己指定明確的門檻範圍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誤判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628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Normal Distribution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適用於不確定正常範圍的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異常事件會使資料偏移到正常範圍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之外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如果資料數值相近容易造成很小的標準差，使用很小的標準差當作判斷正常資料的範圍，很可能會造成異常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誤判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175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Data Segment’s Average with Normal Distribution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為了避免取得的平均值彼此相近，而產生過小的標準差，視窗轉換使用較大的滑動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間隔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讓視窗內維持的相同資料較少，在原始資料發生改變的情況下，才可以產生具有差異性的資料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點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由於設計的關係需要取用較大的視窗滑動間隔，造成對異常事件的反應較慢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30003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CUSUM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改善了單純使用一般常態分佈時，小的標準差容易造成誤判的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問題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除非偏離的量非常大，否則都要經過演算法累加的過程，觀察連續的資料偏移行為後才確認異常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狀態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演算法內的機制在回報異常後會清空累加的值，因此只要下一筆資料偏差不會直接造成累加超過門檻，就有機會將下一筆資料加入常態分佈中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運算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在一定程度內對情境改變的適應能力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379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Data Segments with LOF Algorithm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可以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判斷與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歷史模型不同的資料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狀態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演算法判斷異常的門檻在原始論文中的定義，是密度函式的比值顯著大於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如果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應用能更接受小量的資料變動，那可以取大一點的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比值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如果應用需要感測小量變動，就需要使用更接近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的比值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9648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Data Segment’s Standard Deviation and Average with LOF Algorithm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0" y="6678000"/>
            <a:ext cx="12192000" cy="180000"/>
          </a:xfrm>
          <a:prstGeom prst="rect">
            <a:avLst/>
          </a:prstGeom>
          <a:solidFill>
            <a:srgbClr val="0745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可以判斷任何與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歷史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特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性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不同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狀態</a:t>
            </a:r>
            <a:endParaRPr lang="en-US" altLang="zh-TW" dirty="0" smtClean="0"/>
          </a:p>
          <a:p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從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實驗結果得知被誤判為異常的資料點，其比值分數皆為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至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之間。所以在本實驗設定的情境下如果將異常門檻提高至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，就能有效減低誤判的機率。但於實際應用中仍需小心定義此比值的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大小</a:t>
            </a:r>
            <a:endParaRPr lang="zh-TW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138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18556</TotalTime>
  <Words>1321</Words>
  <Application>Microsoft Office PowerPoint</Application>
  <PresentationFormat>寬螢幕</PresentationFormat>
  <Paragraphs>225</Paragraphs>
  <Slides>51</Slides>
  <Notes>51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9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IoT整合管理平台之異常檢測和事件警報系統</vt:lpstr>
      <vt:lpstr>Outline</vt:lpstr>
      <vt:lpstr>研究動機與目的</vt:lpstr>
      <vt:lpstr>智慧城市</vt:lpstr>
      <vt:lpstr>資料共享</vt:lpstr>
      <vt:lpstr>資料分析</vt:lpstr>
      <vt:lpstr>相關議題</vt:lpstr>
      <vt:lpstr>感測數據分析</vt:lpstr>
      <vt:lpstr>何謂異常</vt:lpstr>
      <vt:lpstr>異常的種類</vt:lpstr>
      <vt:lpstr>單點異常</vt:lpstr>
      <vt:lpstr>集體異常</vt:lpstr>
      <vt:lpstr>條件式異常</vt:lpstr>
      <vt:lpstr>異常偵測的方法</vt:lpstr>
      <vt:lpstr>分類</vt:lpstr>
      <vt:lpstr>分群</vt:lpstr>
      <vt:lpstr>鄰近點</vt:lpstr>
      <vt:lpstr>統計為基礎的判斷方法</vt:lpstr>
      <vt:lpstr>研究方法</vt:lpstr>
      <vt:lpstr>一般常態分佈</vt:lpstr>
      <vt:lpstr>一般常態分佈</vt:lpstr>
      <vt:lpstr>CUSUM（Cumulative Sum）</vt:lpstr>
      <vt:lpstr>CUSUM（Cumulative Sum）</vt:lpstr>
      <vt:lpstr>LOF（Local Outlier Factor）</vt:lpstr>
      <vt:lpstr>實作的偵測方法</vt:lpstr>
      <vt:lpstr>實驗一</vt:lpstr>
      <vt:lpstr>訓練數據</vt:lpstr>
      <vt:lpstr>演算法參數設定</vt:lpstr>
      <vt:lpstr>實驗設計</vt:lpstr>
      <vt:lpstr>PowerPoint 簡報</vt:lpstr>
      <vt:lpstr>一般常態分佈</vt:lpstr>
      <vt:lpstr>資料片段平均值與常態分佈</vt:lpstr>
      <vt:lpstr>CUSUM</vt:lpstr>
      <vt:lpstr>資料片段數值與LOF</vt:lpstr>
      <vt:lpstr>資料片段平均值、標準差與LOF</vt:lpstr>
      <vt:lpstr>實驗二</vt:lpstr>
      <vt:lpstr>訓練數據</vt:lpstr>
      <vt:lpstr>訓練數據</vt:lpstr>
      <vt:lpstr>演算法參數設定</vt:lpstr>
      <vt:lpstr>實驗設計</vt:lpstr>
      <vt:lpstr>模擬週期</vt:lpstr>
      <vt:lpstr>真實資料週期</vt:lpstr>
      <vt:lpstr>資料片段數值與LOF</vt:lpstr>
      <vt:lpstr>資料片段平均值、標準差與LOF</vt:lpstr>
      <vt:lpstr>結論</vt:lpstr>
      <vt:lpstr>Threshold</vt:lpstr>
      <vt:lpstr>Normal Distribution</vt:lpstr>
      <vt:lpstr>Data Segment’s Average with Normal Distribution</vt:lpstr>
      <vt:lpstr>CUSUM</vt:lpstr>
      <vt:lpstr>Data Segments with LOF Algorithm</vt:lpstr>
      <vt:lpstr>Data Segment’s Standard Deviation and Average with LOF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creator>Rong</dc:creator>
  <cp:lastModifiedBy>Rong</cp:lastModifiedBy>
  <cp:revision>541</cp:revision>
  <cp:lastPrinted>2017-06-14T21:31:53Z</cp:lastPrinted>
  <dcterms:created xsi:type="dcterms:W3CDTF">2015-11-30T06:30:29Z</dcterms:created>
  <dcterms:modified xsi:type="dcterms:W3CDTF">2017-07-14T08:14:15Z</dcterms:modified>
</cp:coreProperties>
</file>