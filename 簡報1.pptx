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  <p:sldId id="270" r:id="rId14"/>
    <p:sldId id="267" r:id="rId15"/>
    <p:sldId id="276" r:id="rId16"/>
    <p:sldId id="271" r:id="rId17"/>
    <p:sldId id="272" r:id="rId18"/>
    <p:sldId id="274" r:id="rId19"/>
    <p:sldId id="275" r:id="rId20"/>
    <p:sldId id="277" r:id="rId21"/>
    <p:sldId id="281" r:id="rId22"/>
    <p:sldId id="278" r:id="rId23"/>
    <p:sldId id="279" r:id="rId24"/>
    <p:sldId id="280" r:id="rId2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B9819-FE91-484D-8F2D-F792F4BC40ED}" type="datetimeFigureOut">
              <a:rPr lang="zh-TW" altLang="en-US" smtClean="0"/>
              <a:t>2017/7/13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02DD9-6AD2-4648-9891-49A0A2A987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7136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B9819-FE91-484D-8F2D-F792F4BC40ED}" type="datetimeFigureOut">
              <a:rPr lang="zh-TW" altLang="en-US" smtClean="0"/>
              <a:t>2017/7/13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02DD9-6AD2-4648-9891-49A0A2A987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8037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B9819-FE91-484D-8F2D-F792F4BC40ED}" type="datetimeFigureOut">
              <a:rPr lang="zh-TW" altLang="en-US" smtClean="0"/>
              <a:t>2017/7/13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02DD9-6AD2-4648-9891-49A0A2A987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4481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B9819-FE91-484D-8F2D-F792F4BC40ED}" type="datetimeFigureOut">
              <a:rPr lang="zh-TW" altLang="en-US" smtClean="0"/>
              <a:t>2017/7/13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02DD9-6AD2-4648-9891-49A0A2A987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2589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B9819-FE91-484D-8F2D-F792F4BC40ED}" type="datetimeFigureOut">
              <a:rPr lang="zh-TW" altLang="en-US" smtClean="0"/>
              <a:t>2017/7/13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02DD9-6AD2-4648-9891-49A0A2A987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3454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B9819-FE91-484D-8F2D-F792F4BC40ED}" type="datetimeFigureOut">
              <a:rPr lang="zh-TW" altLang="en-US" smtClean="0"/>
              <a:t>2017/7/13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02DD9-6AD2-4648-9891-49A0A2A987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7639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B9819-FE91-484D-8F2D-F792F4BC40ED}" type="datetimeFigureOut">
              <a:rPr lang="zh-TW" altLang="en-US" smtClean="0"/>
              <a:t>2017/7/13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02DD9-6AD2-4648-9891-49A0A2A987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3910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B9819-FE91-484D-8F2D-F792F4BC40ED}" type="datetimeFigureOut">
              <a:rPr lang="zh-TW" altLang="en-US" smtClean="0"/>
              <a:t>2017/7/13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02DD9-6AD2-4648-9891-49A0A2A987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0369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B9819-FE91-484D-8F2D-F792F4BC40ED}" type="datetimeFigureOut">
              <a:rPr lang="zh-TW" altLang="en-US" smtClean="0"/>
              <a:t>2017/7/13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02DD9-6AD2-4648-9891-49A0A2A987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8138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B9819-FE91-484D-8F2D-F792F4BC40ED}" type="datetimeFigureOut">
              <a:rPr lang="zh-TW" altLang="en-US" smtClean="0"/>
              <a:t>2017/7/13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02DD9-6AD2-4648-9891-49A0A2A987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3711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B9819-FE91-484D-8F2D-F792F4BC40ED}" type="datetimeFigureOut">
              <a:rPr lang="zh-TW" altLang="en-US" smtClean="0"/>
              <a:t>2017/7/13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02DD9-6AD2-4648-9891-49A0A2A987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0919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7B9819-FE91-484D-8F2D-F792F4BC40ED}" type="datetimeFigureOut">
              <a:rPr lang="zh-TW" altLang="en-US" smtClean="0"/>
              <a:t>2017/7/13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902DD9-6AD2-4648-9891-49A0A2A987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7957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6.png"/><Relationship Id="rId5" Type="http://schemas.openxmlformats.org/officeDocument/2006/relationships/image" Target="../media/image11.png"/><Relationship Id="rId10" Type="http://schemas.openxmlformats.org/officeDocument/2006/relationships/image" Target="../media/image15.png"/><Relationship Id="rId4" Type="http://schemas.openxmlformats.org/officeDocument/2006/relationships/image" Target="../media/image10.png"/><Relationship Id="rId9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橢圓 4"/>
          <p:cNvSpPr/>
          <p:nvPr/>
        </p:nvSpPr>
        <p:spPr>
          <a:xfrm>
            <a:off x="1712172" y="2875066"/>
            <a:ext cx="1313410" cy="1313410"/>
          </a:xfrm>
          <a:prstGeom prst="ellipse">
            <a:avLst/>
          </a:prstGeom>
          <a:noFill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929" y="3140822"/>
            <a:ext cx="781896" cy="781896"/>
          </a:xfrm>
          <a:prstGeom prst="rect">
            <a:avLst/>
          </a:prstGeom>
        </p:spPr>
      </p:pic>
      <p:sp>
        <p:nvSpPr>
          <p:cNvPr id="6" name="橢圓 5"/>
          <p:cNvSpPr/>
          <p:nvPr/>
        </p:nvSpPr>
        <p:spPr>
          <a:xfrm>
            <a:off x="4491395" y="2875066"/>
            <a:ext cx="1313410" cy="1313410"/>
          </a:xfrm>
          <a:prstGeom prst="ellipse">
            <a:avLst/>
          </a:prstGeom>
          <a:noFill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/>
          <p:cNvSpPr/>
          <p:nvPr/>
        </p:nvSpPr>
        <p:spPr>
          <a:xfrm>
            <a:off x="7389765" y="4188476"/>
            <a:ext cx="1313410" cy="1313410"/>
          </a:xfrm>
          <a:prstGeom prst="ellipse">
            <a:avLst/>
          </a:prstGeom>
          <a:noFill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7389765" y="1561656"/>
            <a:ext cx="1313410" cy="1313410"/>
          </a:xfrm>
          <a:prstGeom prst="ellipse">
            <a:avLst/>
          </a:prstGeom>
          <a:noFill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0210" y="3153881"/>
            <a:ext cx="755779" cy="755779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6355" y="1818246"/>
            <a:ext cx="800229" cy="800229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479" y="4395190"/>
            <a:ext cx="899982" cy="899982"/>
          </a:xfrm>
          <a:prstGeom prst="rect">
            <a:avLst/>
          </a:prstGeom>
        </p:spPr>
      </p:pic>
      <p:cxnSp>
        <p:nvCxnSpPr>
          <p:cNvPr id="14" name="直線單箭頭接點 13"/>
          <p:cNvCxnSpPr/>
          <p:nvPr/>
        </p:nvCxnSpPr>
        <p:spPr>
          <a:xfrm>
            <a:off x="3216399" y="3531770"/>
            <a:ext cx="1080000" cy="1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 flipV="1">
            <a:off x="5949285" y="2500993"/>
            <a:ext cx="1296000" cy="748146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>
            <a:off x="5949285" y="4053104"/>
            <a:ext cx="1296000" cy="684172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/>
          <p:nvPr/>
        </p:nvCxnSpPr>
        <p:spPr>
          <a:xfrm flipH="1">
            <a:off x="5885411" y="2478790"/>
            <a:ext cx="1188468" cy="695284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/>
          <p:nvPr/>
        </p:nvCxnSpPr>
        <p:spPr>
          <a:xfrm flipH="1" flipV="1">
            <a:off x="5860472" y="4121972"/>
            <a:ext cx="1233766" cy="656705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直線接點 34"/>
          <p:cNvCxnSpPr/>
          <p:nvPr/>
        </p:nvCxnSpPr>
        <p:spPr>
          <a:xfrm>
            <a:off x="1977678" y="5097194"/>
            <a:ext cx="468000" cy="0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8" name="直線接點 37"/>
          <p:cNvCxnSpPr/>
          <p:nvPr/>
        </p:nvCxnSpPr>
        <p:spPr>
          <a:xfrm>
            <a:off x="3821986" y="5095702"/>
            <a:ext cx="468000" cy="0"/>
          </a:xfrm>
          <a:prstGeom prst="line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文字方塊 38"/>
          <p:cNvSpPr txBox="1"/>
          <p:nvPr/>
        </p:nvSpPr>
        <p:spPr>
          <a:xfrm>
            <a:off x="1646634" y="4188474"/>
            <a:ext cx="14444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 smtClean="0"/>
              <a:t>Temperature sensor</a:t>
            </a:r>
            <a:endParaRPr lang="zh-TW" altLang="en-US" sz="1600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4425856" y="4158607"/>
            <a:ext cx="14444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 smtClean="0"/>
              <a:t>MQTT Broker</a:t>
            </a:r>
            <a:endParaRPr lang="zh-TW" altLang="en-US" sz="1600" dirty="0"/>
          </a:p>
        </p:txBody>
      </p:sp>
      <p:sp>
        <p:nvSpPr>
          <p:cNvPr id="41" name="文字方塊 40"/>
          <p:cNvSpPr txBox="1"/>
          <p:nvPr/>
        </p:nvSpPr>
        <p:spPr>
          <a:xfrm>
            <a:off x="7324226" y="5539323"/>
            <a:ext cx="14444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 smtClean="0"/>
              <a:t>Mobile device</a:t>
            </a:r>
            <a:endParaRPr lang="zh-TW" altLang="en-US" sz="1600" dirty="0"/>
          </a:p>
        </p:txBody>
      </p:sp>
      <p:sp>
        <p:nvSpPr>
          <p:cNvPr id="42" name="文字方塊 41"/>
          <p:cNvSpPr txBox="1"/>
          <p:nvPr/>
        </p:nvSpPr>
        <p:spPr>
          <a:xfrm>
            <a:off x="7324225" y="2912503"/>
            <a:ext cx="14444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 smtClean="0"/>
              <a:t>Lapto</a:t>
            </a:r>
            <a:r>
              <a:rPr lang="en-US" altLang="zh-TW" sz="1600" dirty="0"/>
              <a:t>p</a:t>
            </a:r>
            <a:endParaRPr lang="zh-TW" altLang="en-US" sz="1600" dirty="0"/>
          </a:p>
        </p:txBody>
      </p:sp>
      <p:sp>
        <p:nvSpPr>
          <p:cNvPr id="43" name="文字方塊 42"/>
          <p:cNvSpPr txBox="1"/>
          <p:nvPr/>
        </p:nvSpPr>
        <p:spPr>
          <a:xfrm>
            <a:off x="3706256" y="5105507"/>
            <a:ext cx="14444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 smtClean="0"/>
              <a:t>Subscribe to</a:t>
            </a:r>
          </a:p>
          <a:p>
            <a:r>
              <a:rPr lang="en-US" altLang="zh-TW" sz="1200" dirty="0" smtClean="0"/>
              <a:t>Topic: “temperature”</a:t>
            </a:r>
            <a:endParaRPr lang="zh-TW" altLang="en-US" sz="1200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1864251" y="5105507"/>
            <a:ext cx="14444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 smtClean="0"/>
              <a:t>Publish to</a:t>
            </a:r>
          </a:p>
          <a:p>
            <a:r>
              <a:rPr lang="en-US" altLang="zh-TW" sz="1200" dirty="0" smtClean="0"/>
              <a:t>Topic: “temperature”</a:t>
            </a:r>
            <a:endParaRPr lang="zh-TW" altLang="en-US" sz="1200" dirty="0"/>
          </a:p>
        </p:txBody>
      </p:sp>
      <p:sp>
        <p:nvSpPr>
          <p:cNvPr id="45" name="文字方塊 44"/>
          <p:cNvSpPr txBox="1"/>
          <p:nvPr/>
        </p:nvSpPr>
        <p:spPr>
          <a:xfrm>
            <a:off x="3195841" y="3254771"/>
            <a:ext cx="11211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 smtClean="0"/>
              <a:t>Publish:”26 </a:t>
            </a:r>
            <a:r>
              <a:rPr lang="en-US" altLang="zh-TW" sz="1200" dirty="0" smtClean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°C”</a:t>
            </a:r>
            <a:endParaRPr lang="en-US" altLang="zh-TW" sz="1200" dirty="0" smtClean="0"/>
          </a:p>
        </p:txBody>
      </p:sp>
      <p:sp>
        <p:nvSpPr>
          <p:cNvPr id="46" name="文字方塊 45"/>
          <p:cNvSpPr txBox="1"/>
          <p:nvPr/>
        </p:nvSpPr>
        <p:spPr>
          <a:xfrm rot="19809015">
            <a:off x="6078188" y="2879106"/>
            <a:ext cx="11211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 smtClean="0"/>
              <a:t>Publish:”26 </a:t>
            </a:r>
            <a:r>
              <a:rPr lang="en-US" altLang="zh-TW" sz="1200" dirty="0" smtClean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°C”</a:t>
            </a:r>
            <a:endParaRPr lang="en-US" altLang="zh-TW" sz="1200" dirty="0" smtClean="0"/>
          </a:p>
        </p:txBody>
      </p:sp>
      <p:sp>
        <p:nvSpPr>
          <p:cNvPr id="47" name="文字方塊 46"/>
          <p:cNvSpPr txBox="1"/>
          <p:nvPr/>
        </p:nvSpPr>
        <p:spPr>
          <a:xfrm rot="1721546">
            <a:off x="6100252" y="4130880"/>
            <a:ext cx="11211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 smtClean="0"/>
              <a:t>Publish:”26 </a:t>
            </a:r>
            <a:r>
              <a:rPr lang="en-US" altLang="zh-TW" sz="1200" dirty="0" smtClean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°C”</a:t>
            </a:r>
            <a:endParaRPr lang="en-US" altLang="zh-TW" sz="1200" dirty="0" smtClean="0"/>
          </a:p>
        </p:txBody>
      </p:sp>
      <p:sp>
        <p:nvSpPr>
          <p:cNvPr id="48" name="文字方塊 47"/>
          <p:cNvSpPr txBox="1"/>
          <p:nvPr/>
        </p:nvSpPr>
        <p:spPr>
          <a:xfrm rot="19809015">
            <a:off x="5916797" y="2533462"/>
            <a:ext cx="11211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 smtClean="0"/>
              <a:t>Subscribe</a:t>
            </a:r>
          </a:p>
        </p:txBody>
      </p:sp>
      <p:sp>
        <p:nvSpPr>
          <p:cNvPr id="49" name="文字方塊 48"/>
          <p:cNvSpPr txBox="1"/>
          <p:nvPr/>
        </p:nvSpPr>
        <p:spPr>
          <a:xfrm rot="1601497">
            <a:off x="6026311" y="4521502"/>
            <a:ext cx="11211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 smtClean="0"/>
              <a:t>Subscribe</a:t>
            </a:r>
          </a:p>
        </p:txBody>
      </p:sp>
    </p:spTree>
    <p:extLst>
      <p:ext uri="{BB962C8B-B14F-4D97-AF65-F5344CB8AC3E}">
        <p14:creationId xmlns:p14="http://schemas.microsoft.com/office/powerpoint/2010/main" val="4221340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圖片 3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868" y="3763979"/>
            <a:ext cx="899982" cy="899982"/>
          </a:xfrm>
          <a:prstGeom prst="rect">
            <a:avLst/>
          </a:prstGeom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7276" y="2874975"/>
            <a:ext cx="902930" cy="801396"/>
          </a:xfrm>
          <a:prstGeom prst="rect">
            <a:avLst/>
          </a:prstGeom>
        </p:spPr>
      </p:pic>
      <p:sp>
        <p:nvSpPr>
          <p:cNvPr id="3" name="雲朵形 2"/>
          <p:cNvSpPr/>
          <p:nvPr/>
        </p:nvSpPr>
        <p:spPr>
          <a:xfrm>
            <a:off x="6914271" y="2706251"/>
            <a:ext cx="1668941" cy="1138844"/>
          </a:xfrm>
          <a:prstGeom prst="cloud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6" name="圖片 1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5984" y="2004501"/>
            <a:ext cx="701750" cy="701750"/>
          </a:xfrm>
          <a:prstGeom prst="rect">
            <a:avLst/>
          </a:prstGeom>
        </p:spPr>
      </p:pic>
      <p:sp>
        <p:nvSpPr>
          <p:cNvPr id="50" name="文字方塊 49"/>
          <p:cNvSpPr txBox="1"/>
          <p:nvPr/>
        </p:nvSpPr>
        <p:spPr>
          <a:xfrm>
            <a:off x="3614616" y="2650339"/>
            <a:ext cx="14444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 smtClean="0"/>
              <a:t>Application Server</a:t>
            </a:r>
            <a:endParaRPr lang="zh-TW" altLang="en-US" sz="1600" dirty="0"/>
          </a:p>
        </p:txBody>
      </p:sp>
      <p:sp>
        <p:nvSpPr>
          <p:cNvPr id="51" name="文字方塊 50"/>
          <p:cNvSpPr txBox="1"/>
          <p:nvPr/>
        </p:nvSpPr>
        <p:spPr>
          <a:xfrm>
            <a:off x="3614616" y="4663961"/>
            <a:ext cx="14444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 smtClean="0"/>
              <a:t>Client Device</a:t>
            </a:r>
            <a:endParaRPr lang="zh-TW" altLang="en-US" sz="1600" dirty="0"/>
          </a:p>
        </p:txBody>
      </p:sp>
      <p:cxnSp>
        <p:nvCxnSpPr>
          <p:cNvPr id="18" name="直線單箭頭接點 17"/>
          <p:cNvCxnSpPr/>
          <p:nvPr/>
        </p:nvCxnSpPr>
        <p:spPr>
          <a:xfrm>
            <a:off x="4962698" y="2427316"/>
            <a:ext cx="1729048" cy="6293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/>
          <p:nvPr/>
        </p:nvCxnSpPr>
        <p:spPr>
          <a:xfrm flipV="1">
            <a:off x="4992750" y="3562081"/>
            <a:ext cx="1698996" cy="71897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3" name="文字方塊 52"/>
          <p:cNvSpPr txBox="1"/>
          <p:nvPr/>
        </p:nvSpPr>
        <p:spPr>
          <a:xfrm rot="1218422">
            <a:off x="5266663" y="2434787"/>
            <a:ext cx="11211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 smtClean="0"/>
              <a:t>Register</a:t>
            </a:r>
          </a:p>
        </p:txBody>
      </p:sp>
      <p:sp>
        <p:nvSpPr>
          <p:cNvPr id="55" name="文字方塊 54"/>
          <p:cNvSpPr txBox="1"/>
          <p:nvPr/>
        </p:nvSpPr>
        <p:spPr>
          <a:xfrm rot="20122304">
            <a:off x="5176578" y="3630671"/>
            <a:ext cx="11211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/>
              <a:t>R</a:t>
            </a:r>
            <a:r>
              <a:rPr lang="en-US" altLang="zh-TW" sz="1200" dirty="0" smtClean="0"/>
              <a:t>egister</a:t>
            </a:r>
          </a:p>
        </p:txBody>
      </p:sp>
      <p:cxnSp>
        <p:nvCxnSpPr>
          <p:cNvPr id="56" name="直線單箭頭接點 55"/>
          <p:cNvCxnSpPr/>
          <p:nvPr/>
        </p:nvCxnSpPr>
        <p:spPr>
          <a:xfrm flipH="1" flipV="1">
            <a:off x="4904510" y="2510444"/>
            <a:ext cx="1720734" cy="6234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" name="直線單箭頭接點 57"/>
          <p:cNvCxnSpPr/>
          <p:nvPr/>
        </p:nvCxnSpPr>
        <p:spPr>
          <a:xfrm flipH="1">
            <a:off x="5001063" y="3676371"/>
            <a:ext cx="1690683" cy="71274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2" name="文字方塊 61"/>
          <p:cNvSpPr txBox="1"/>
          <p:nvPr/>
        </p:nvSpPr>
        <p:spPr>
          <a:xfrm rot="1218422">
            <a:off x="5124753" y="2804225"/>
            <a:ext cx="13064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 smtClean="0">
                <a:solidFill>
                  <a:srgbClr val="FF0000"/>
                </a:solidFill>
              </a:rPr>
              <a:t>Application Token</a:t>
            </a:r>
          </a:p>
        </p:txBody>
      </p:sp>
      <p:sp>
        <p:nvSpPr>
          <p:cNvPr id="63" name="文字方塊 62"/>
          <p:cNvSpPr txBox="1"/>
          <p:nvPr/>
        </p:nvSpPr>
        <p:spPr>
          <a:xfrm rot="20122304">
            <a:off x="5387982" y="3982941"/>
            <a:ext cx="11211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 smtClean="0">
                <a:solidFill>
                  <a:srgbClr val="FF0000"/>
                </a:solidFill>
              </a:rPr>
              <a:t>Device Token</a:t>
            </a:r>
          </a:p>
        </p:txBody>
      </p:sp>
    </p:spTree>
    <p:extLst>
      <p:ext uri="{BB962C8B-B14F-4D97-AF65-F5344CB8AC3E}">
        <p14:creationId xmlns:p14="http://schemas.microsoft.com/office/powerpoint/2010/main" val="4088524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圖片 2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8352" y="1079425"/>
            <a:ext cx="902930" cy="801396"/>
          </a:xfrm>
          <a:prstGeom prst="rect">
            <a:avLst/>
          </a:prstGeom>
        </p:spPr>
      </p:pic>
      <p:sp>
        <p:nvSpPr>
          <p:cNvPr id="30" name="雲朵形 29"/>
          <p:cNvSpPr/>
          <p:nvPr/>
        </p:nvSpPr>
        <p:spPr>
          <a:xfrm>
            <a:off x="5135347" y="910701"/>
            <a:ext cx="1668941" cy="1138844"/>
          </a:xfrm>
          <a:prstGeom prst="cloud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1" name="圖片 3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1479" y="3788917"/>
            <a:ext cx="899982" cy="899982"/>
          </a:xfrm>
          <a:prstGeom prst="rect">
            <a:avLst/>
          </a:prstGeom>
        </p:spPr>
      </p:pic>
      <p:pic>
        <p:nvPicPr>
          <p:cNvPr id="33" name="圖片 3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8361" y="3788917"/>
            <a:ext cx="899982" cy="899982"/>
          </a:xfrm>
          <a:prstGeom prst="rect">
            <a:avLst/>
          </a:prstGeom>
        </p:spPr>
      </p:pic>
      <p:pic>
        <p:nvPicPr>
          <p:cNvPr id="34" name="圖片 3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0617" y="3788917"/>
            <a:ext cx="899982" cy="899982"/>
          </a:xfrm>
          <a:prstGeom prst="rect">
            <a:avLst/>
          </a:prstGeom>
        </p:spPr>
      </p:pic>
      <p:pic>
        <p:nvPicPr>
          <p:cNvPr id="36" name="圖片 3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9489" y="4060466"/>
            <a:ext cx="899982" cy="899982"/>
          </a:xfrm>
          <a:prstGeom prst="rect">
            <a:avLst/>
          </a:prstGeom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7499" y="3555639"/>
            <a:ext cx="1471311" cy="1471311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3204955" y="4960448"/>
            <a:ext cx="123303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400" dirty="0"/>
              <a:t>Specify </a:t>
            </a:r>
            <a:r>
              <a:rPr lang="en-US" altLang="zh-TW" sz="1400" dirty="0" smtClean="0"/>
              <a:t>D</a:t>
            </a:r>
            <a:r>
              <a:rPr lang="zh-TW" altLang="en-US" sz="1400" dirty="0" smtClean="0"/>
              <a:t>evice</a:t>
            </a:r>
            <a:endParaRPr lang="zh-TW" altLang="en-US" sz="1400" dirty="0"/>
          </a:p>
        </p:txBody>
      </p:sp>
      <p:sp>
        <p:nvSpPr>
          <p:cNvPr id="37" name="矩形 36"/>
          <p:cNvSpPr/>
          <p:nvPr/>
        </p:nvSpPr>
        <p:spPr>
          <a:xfrm>
            <a:off x="5470383" y="4962818"/>
            <a:ext cx="12404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/>
              <a:t>G</a:t>
            </a:r>
            <a:r>
              <a:rPr lang="en-US" altLang="zh-TW" sz="1400" dirty="0" smtClean="0"/>
              <a:t>roup</a:t>
            </a:r>
            <a:r>
              <a:rPr lang="zh-TW" altLang="en-US" sz="1400" dirty="0" smtClean="0"/>
              <a:t> </a:t>
            </a:r>
            <a:r>
              <a:rPr lang="en-US" altLang="zh-TW" sz="1400" dirty="0" smtClean="0"/>
              <a:t>D</a:t>
            </a:r>
            <a:r>
              <a:rPr lang="zh-TW" altLang="en-US" sz="1400" dirty="0" smtClean="0"/>
              <a:t>evice</a:t>
            </a:r>
            <a:r>
              <a:rPr lang="en-US" altLang="zh-TW" sz="1400" dirty="0" smtClean="0"/>
              <a:t>s</a:t>
            </a:r>
            <a:endParaRPr lang="zh-TW" altLang="en-US" sz="1400" dirty="0"/>
          </a:p>
        </p:txBody>
      </p:sp>
      <p:sp>
        <p:nvSpPr>
          <p:cNvPr id="50" name="矩形 49"/>
          <p:cNvSpPr/>
          <p:nvPr/>
        </p:nvSpPr>
        <p:spPr>
          <a:xfrm>
            <a:off x="8088283" y="4960448"/>
            <a:ext cx="11233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400" dirty="0"/>
              <a:t>Specify </a:t>
            </a:r>
            <a:r>
              <a:rPr lang="en-US" altLang="zh-TW" sz="1400" dirty="0" smtClean="0"/>
              <a:t>Topic</a:t>
            </a:r>
            <a:endParaRPr lang="zh-TW" altLang="en-US" sz="1400" dirty="0"/>
          </a:p>
        </p:txBody>
      </p:sp>
      <p:sp>
        <p:nvSpPr>
          <p:cNvPr id="13" name="橢圓 12"/>
          <p:cNvSpPr/>
          <p:nvPr/>
        </p:nvSpPr>
        <p:spPr>
          <a:xfrm>
            <a:off x="7847214" y="3714102"/>
            <a:ext cx="241069" cy="24106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7" name="直線接點 16"/>
          <p:cNvCxnSpPr/>
          <p:nvPr/>
        </p:nvCxnSpPr>
        <p:spPr>
          <a:xfrm flipH="1">
            <a:off x="3895888" y="2165577"/>
            <a:ext cx="1858610" cy="148638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6026065" y="2218269"/>
            <a:ext cx="3415" cy="14958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2" name="直線接點 51"/>
          <p:cNvCxnSpPr>
            <a:endCxn id="2" idx="0"/>
          </p:cNvCxnSpPr>
          <p:nvPr/>
        </p:nvCxnSpPr>
        <p:spPr>
          <a:xfrm>
            <a:off x="6301047" y="2152370"/>
            <a:ext cx="2222108" cy="14032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3612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圓角矩形 121"/>
          <p:cNvSpPr/>
          <p:nvPr/>
        </p:nvSpPr>
        <p:spPr>
          <a:xfrm>
            <a:off x="7032803" y="3101700"/>
            <a:ext cx="1270593" cy="833349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21" name="圓角矩形 120"/>
          <p:cNvSpPr/>
          <p:nvPr/>
        </p:nvSpPr>
        <p:spPr>
          <a:xfrm>
            <a:off x="7116960" y="4725579"/>
            <a:ext cx="1398185" cy="66900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20" name="圓角矩形 119"/>
          <p:cNvSpPr/>
          <p:nvPr/>
        </p:nvSpPr>
        <p:spPr>
          <a:xfrm>
            <a:off x="815767" y="4772901"/>
            <a:ext cx="1111103" cy="62168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17" name="圓角矩形 116"/>
          <p:cNvSpPr/>
          <p:nvPr/>
        </p:nvSpPr>
        <p:spPr>
          <a:xfrm>
            <a:off x="3959584" y="4685310"/>
            <a:ext cx="1194305" cy="70927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12" name="圓角矩形 111"/>
          <p:cNvSpPr/>
          <p:nvPr/>
        </p:nvSpPr>
        <p:spPr>
          <a:xfrm>
            <a:off x="3840802" y="3101701"/>
            <a:ext cx="1162853" cy="98655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grpSp>
        <p:nvGrpSpPr>
          <p:cNvPr id="21" name="群組 20"/>
          <p:cNvGrpSpPr/>
          <p:nvPr/>
        </p:nvGrpSpPr>
        <p:grpSpPr>
          <a:xfrm>
            <a:off x="3780302" y="3123040"/>
            <a:ext cx="1291764" cy="986554"/>
            <a:chOff x="4954589" y="3155130"/>
            <a:chExt cx="1291764" cy="986554"/>
          </a:xfrm>
        </p:grpSpPr>
        <p:pic>
          <p:nvPicPr>
            <p:cNvPr id="22" name="圖片 2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71536" y="3155130"/>
              <a:ext cx="657868" cy="648000"/>
            </a:xfrm>
            <a:prstGeom prst="rect">
              <a:avLst/>
            </a:prstGeom>
          </p:spPr>
        </p:pic>
        <p:sp>
          <p:nvSpPr>
            <p:cNvPr id="23" name="文字方塊 22"/>
            <p:cNvSpPr txBox="1"/>
            <p:nvPr/>
          </p:nvSpPr>
          <p:spPr>
            <a:xfrm>
              <a:off x="4954589" y="3803130"/>
              <a:ext cx="129176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600" dirty="0" smtClean="0"/>
                <a:t>MQTT Broker</a:t>
              </a:r>
              <a:endParaRPr lang="zh-TW" altLang="en-US" sz="1600" dirty="0"/>
            </a:p>
          </p:txBody>
        </p:sp>
      </p:grpSp>
      <p:sp>
        <p:nvSpPr>
          <p:cNvPr id="110" name="圓角矩形 109"/>
          <p:cNvSpPr/>
          <p:nvPr/>
        </p:nvSpPr>
        <p:spPr>
          <a:xfrm>
            <a:off x="3857297" y="1697257"/>
            <a:ext cx="1121202" cy="540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4" name="圓角矩形 3"/>
          <p:cNvSpPr/>
          <p:nvPr/>
        </p:nvSpPr>
        <p:spPr>
          <a:xfrm>
            <a:off x="1069079" y="1748911"/>
            <a:ext cx="684000" cy="360000"/>
          </a:xfrm>
          <a:prstGeom prst="roundRect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>
                <a:solidFill>
                  <a:schemeClr val="tx1"/>
                </a:solidFill>
              </a:rPr>
              <a:t>User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grpSp>
        <p:nvGrpSpPr>
          <p:cNvPr id="18" name="群組 17"/>
          <p:cNvGrpSpPr/>
          <p:nvPr/>
        </p:nvGrpSpPr>
        <p:grpSpPr>
          <a:xfrm>
            <a:off x="3760430" y="1568560"/>
            <a:ext cx="1331506" cy="709277"/>
            <a:chOff x="8701947" y="3367753"/>
            <a:chExt cx="1420238" cy="738859"/>
          </a:xfrm>
        </p:grpSpPr>
        <p:pic>
          <p:nvPicPr>
            <p:cNvPr id="19" name="圖片 1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49544" y="3367753"/>
              <a:ext cx="1125043" cy="562522"/>
            </a:xfrm>
            <a:prstGeom prst="rect">
              <a:avLst/>
            </a:prstGeom>
          </p:spPr>
        </p:pic>
        <p:sp>
          <p:nvSpPr>
            <p:cNvPr id="20" name="文字方塊 19"/>
            <p:cNvSpPr txBox="1"/>
            <p:nvPr/>
          </p:nvSpPr>
          <p:spPr>
            <a:xfrm>
              <a:off x="8701947" y="3753938"/>
              <a:ext cx="1420238" cy="3526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600" dirty="0" smtClean="0"/>
                <a:t>Web Server</a:t>
              </a:r>
              <a:endParaRPr lang="zh-TW" altLang="en-US" sz="1600" dirty="0"/>
            </a:p>
          </p:txBody>
        </p:sp>
      </p:grpSp>
      <p:grpSp>
        <p:nvGrpSpPr>
          <p:cNvPr id="26" name="群組 25"/>
          <p:cNvGrpSpPr/>
          <p:nvPr/>
        </p:nvGrpSpPr>
        <p:grpSpPr>
          <a:xfrm>
            <a:off x="767799" y="4693624"/>
            <a:ext cx="1275750" cy="709277"/>
            <a:chOff x="7227665" y="5527027"/>
            <a:chExt cx="1275750" cy="709277"/>
          </a:xfrm>
        </p:grpSpPr>
        <p:pic>
          <p:nvPicPr>
            <p:cNvPr id="27" name="圖片 26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27665" y="5527027"/>
              <a:ext cx="1275750" cy="540000"/>
            </a:xfrm>
            <a:prstGeom prst="rect">
              <a:avLst/>
            </a:prstGeom>
          </p:spPr>
        </p:pic>
        <p:sp>
          <p:nvSpPr>
            <p:cNvPr id="29" name="文字方塊 28"/>
            <p:cNvSpPr txBox="1"/>
            <p:nvPr/>
          </p:nvSpPr>
          <p:spPr>
            <a:xfrm>
              <a:off x="7352275" y="5897750"/>
              <a:ext cx="10209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600" dirty="0" smtClean="0"/>
                <a:t>Crawler</a:t>
              </a:r>
              <a:endParaRPr lang="zh-TW" altLang="en-US" sz="1600" dirty="0"/>
            </a:p>
          </p:txBody>
        </p:sp>
      </p:grpSp>
      <p:grpSp>
        <p:nvGrpSpPr>
          <p:cNvPr id="5" name="群組 4"/>
          <p:cNvGrpSpPr/>
          <p:nvPr/>
        </p:nvGrpSpPr>
        <p:grpSpPr>
          <a:xfrm>
            <a:off x="7176260" y="4734467"/>
            <a:ext cx="1325281" cy="698554"/>
            <a:chOff x="2249386" y="4485563"/>
            <a:chExt cx="1325281" cy="698554"/>
          </a:xfrm>
        </p:grpSpPr>
        <p:pic>
          <p:nvPicPr>
            <p:cNvPr id="25" name="圖片 24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49386" y="4485563"/>
              <a:ext cx="1325281" cy="360000"/>
            </a:xfrm>
            <a:prstGeom prst="rect">
              <a:avLst/>
            </a:prstGeom>
          </p:spPr>
        </p:pic>
        <p:sp>
          <p:nvSpPr>
            <p:cNvPr id="39" name="文字方塊 38"/>
            <p:cNvSpPr txBox="1"/>
            <p:nvPr/>
          </p:nvSpPr>
          <p:spPr>
            <a:xfrm>
              <a:off x="2473065" y="4845563"/>
              <a:ext cx="95930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600" dirty="0" smtClean="0"/>
                <a:t>Database</a:t>
              </a:r>
              <a:endParaRPr lang="zh-TW" altLang="en-US" sz="1600" dirty="0"/>
            </a:p>
          </p:txBody>
        </p:sp>
      </p:grpSp>
      <p:grpSp>
        <p:nvGrpSpPr>
          <p:cNvPr id="6" name="群組 5"/>
          <p:cNvGrpSpPr/>
          <p:nvPr/>
        </p:nvGrpSpPr>
        <p:grpSpPr>
          <a:xfrm>
            <a:off x="4024494" y="4714963"/>
            <a:ext cx="1077305" cy="698554"/>
            <a:chOff x="4372938" y="5459090"/>
            <a:chExt cx="1077305" cy="698554"/>
          </a:xfrm>
        </p:grpSpPr>
        <p:pic>
          <p:nvPicPr>
            <p:cNvPr id="24" name="圖片 23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2938" y="5459090"/>
              <a:ext cx="1077305" cy="360000"/>
            </a:xfrm>
            <a:prstGeom prst="rect">
              <a:avLst/>
            </a:prstGeom>
          </p:spPr>
        </p:pic>
        <p:sp>
          <p:nvSpPr>
            <p:cNvPr id="40" name="文字方塊 39"/>
            <p:cNvSpPr txBox="1"/>
            <p:nvPr/>
          </p:nvSpPr>
          <p:spPr>
            <a:xfrm>
              <a:off x="4431939" y="5819090"/>
              <a:ext cx="95930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600" dirty="0" smtClean="0"/>
                <a:t>Database</a:t>
              </a:r>
              <a:endParaRPr lang="zh-TW" altLang="en-US" sz="1600" dirty="0"/>
            </a:p>
          </p:txBody>
        </p:sp>
      </p:grpSp>
      <p:sp>
        <p:nvSpPr>
          <p:cNvPr id="44" name="圓角矩形 43"/>
          <p:cNvSpPr/>
          <p:nvPr/>
        </p:nvSpPr>
        <p:spPr>
          <a:xfrm>
            <a:off x="952908" y="3345231"/>
            <a:ext cx="900000" cy="540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>
                <a:solidFill>
                  <a:schemeClr val="tx1"/>
                </a:solidFill>
              </a:rPr>
              <a:t>Sensor Data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grpSp>
        <p:nvGrpSpPr>
          <p:cNvPr id="57" name="群組 56"/>
          <p:cNvGrpSpPr/>
          <p:nvPr/>
        </p:nvGrpSpPr>
        <p:grpSpPr>
          <a:xfrm>
            <a:off x="5101799" y="1950281"/>
            <a:ext cx="1864266" cy="2944682"/>
            <a:chOff x="6215705" y="1950281"/>
            <a:chExt cx="1864266" cy="2944682"/>
          </a:xfrm>
        </p:grpSpPr>
        <p:cxnSp>
          <p:nvCxnSpPr>
            <p:cNvPr id="46" name="直線接點 45"/>
            <p:cNvCxnSpPr/>
            <p:nvPr/>
          </p:nvCxnSpPr>
          <p:spPr>
            <a:xfrm>
              <a:off x="6658495" y="1950281"/>
              <a:ext cx="0" cy="2944682"/>
            </a:xfrm>
            <a:prstGeom prst="line">
              <a:avLst/>
            </a:prstGeom>
            <a:ln w="28575"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單箭頭接點 48"/>
            <p:cNvCxnSpPr/>
            <p:nvPr/>
          </p:nvCxnSpPr>
          <p:spPr>
            <a:xfrm>
              <a:off x="6658495" y="4894963"/>
              <a:ext cx="1421476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線接點 55"/>
            <p:cNvCxnSpPr/>
            <p:nvPr/>
          </p:nvCxnSpPr>
          <p:spPr>
            <a:xfrm flipH="1">
              <a:off x="6215705" y="1950281"/>
              <a:ext cx="442790" cy="0"/>
            </a:xfrm>
            <a:prstGeom prst="line">
              <a:avLst/>
            </a:prstGeom>
            <a:ln w="28575"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0" name="直線單箭頭接點 59"/>
          <p:cNvCxnSpPr/>
          <p:nvPr/>
        </p:nvCxnSpPr>
        <p:spPr>
          <a:xfrm>
            <a:off x="1913408" y="3615231"/>
            <a:ext cx="1866894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3" name="直線單箭頭接點 62"/>
          <p:cNvCxnSpPr/>
          <p:nvPr/>
        </p:nvCxnSpPr>
        <p:spPr>
          <a:xfrm>
            <a:off x="4426183" y="4139247"/>
            <a:ext cx="0" cy="50548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5" name="直線單箭頭接點 64"/>
          <p:cNvCxnSpPr/>
          <p:nvPr/>
        </p:nvCxnSpPr>
        <p:spPr>
          <a:xfrm>
            <a:off x="5101799" y="3615231"/>
            <a:ext cx="1864266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72" name="群組 71"/>
          <p:cNvGrpSpPr/>
          <p:nvPr/>
        </p:nvGrpSpPr>
        <p:grpSpPr>
          <a:xfrm>
            <a:off x="2043549" y="3885231"/>
            <a:ext cx="1736753" cy="1079319"/>
            <a:chOff x="3157455" y="3885231"/>
            <a:chExt cx="1736753" cy="1079319"/>
          </a:xfrm>
        </p:grpSpPr>
        <p:cxnSp>
          <p:nvCxnSpPr>
            <p:cNvPr id="67" name="直線接點 66"/>
            <p:cNvCxnSpPr/>
            <p:nvPr/>
          </p:nvCxnSpPr>
          <p:spPr>
            <a:xfrm>
              <a:off x="3157455" y="4964550"/>
              <a:ext cx="1231665" cy="0"/>
            </a:xfrm>
            <a:prstGeom prst="line">
              <a:avLst/>
            </a:prstGeom>
            <a:ln w="28575"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69" name="直線接點 68"/>
            <p:cNvCxnSpPr/>
            <p:nvPr/>
          </p:nvCxnSpPr>
          <p:spPr>
            <a:xfrm flipV="1">
              <a:off x="4380808" y="3885231"/>
              <a:ext cx="0" cy="1078393"/>
            </a:xfrm>
            <a:prstGeom prst="line">
              <a:avLst/>
            </a:prstGeom>
            <a:ln w="28575"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1" name="直線單箭頭接點 70"/>
            <p:cNvCxnSpPr/>
            <p:nvPr/>
          </p:nvCxnSpPr>
          <p:spPr>
            <a:xfrm>
              <a:off x="4380807" y="3885231"/>
              <a:ext cx="513401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cxnSp>
        <p:nvCxnSpPr>
          <p:cNvPr id="78" name="直線單箭頭接點 77"/>
          <p:cNvCxnSpPr/>
          <p:nvPr/>
        </p:nvCxnSpPr>
        <p:spPr>
          <a:xfrm>
            <a:off x="1913408" y="1928911"/>
            <a:ext cx="1847022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5" name="直線單箭頭接點 104"/>
          <p:cNvCxnSpPr/>
          <p:nvPr/>
        </p:nvCxnSpPr>
        <p:spPr>
          <a:xfrm flipH="1">
            <a:off x="5101799" y="3510389"/>
            <a:ext cx="186426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9" name="直線單箭頭接點 108"/>
          <p:cNvCxnSpPr/>
          <p:nvPr/>
        </p:nvCxnSpPr>
        <p:spPr>
          <a:xfrm>
            <a:off x="7838901" y="3973484"/>
            <a:ext cx="0" cy="67124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34" name="群組 133"/>
          <p:cNvGrpSpPr/>
          <p:nvPr/>
        </p:nvGrpSpPr>
        <p:grpSpPr>
          <a:xfrm>
            <a:off x="6041435" y="856211"/>
            <a:ext cx="4149968" cy="1381046"/>
            <a:chOff x="7155341" y="856211"/>
            <a:chExt cx="4149968" cy="1381046"/>
          </a:xfrm>
        </p:grpSpPr>
        <p:sp>
          <p:nvSpPr>
            <p:cNvPr id="131" name="圓角矩形 130"/>
            <p:cNvSpPr/>
            <p:nvPr/>
          </p:nvSpPr>
          <p:spPr>
            <a:xfrm>
              <a:off x="9975283" y="1048959"/>
              <a:ext cx="1214695" cy="862886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30" name="圓角矩形 129"/>
            <p:cNvSpPr/>
            <p:nvPr/>
          </p:nvSpPr>
          <p:spPr>
            <a:xfrm>
              <a:off x="8698786" y="1048959"/>
              <a:ext cx="774361" cy="862886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29" name="圓角矩形 128"/>
            <p:cNvSpPr/>
            <p:nvPr/>
          </p:nvSpPr>
          <p:spPr>
            <a:xfrm>
              <a:off x="7228465" y="962817"/>
              <a:ext cx="968157" cy="949028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pic>
          <p:nvPicPr>
            <p:cNvPr id="41" name="圖片 40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16150" y="1075749"/>
              <a:ext cx="540000" cy="540000"/>
            </a:xfrm>
            <a:prstGeom prst="rect">
              <a:avLst/>
            </a:prstGeom>
          </p:spPr>
        </p:pic>
        <p:sp>
          <p:nvSpPr>
            <p:cNvPr id="43" name="文字方塊 42"/>
            <p:cNvSpPr txBox="1"/>
            <p:nvPr/>
          </p:nvSpPr>
          <p:spPr>
            <a:xfrm>
              <a:off x="7175650" y="1593752"/>
              <a:ext cx="10209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600" dirty="0" smtClean="0"/>
                <a:t>Facebook</a:t>
              </a:r>
              <a:endParaRPr lang="zh-TW" altLang="en-US" sz="1600" dirty="0"/>
            </a:p>
          </p:txBody>
        </p:sp>
        <p:pic>
          <p:nvPicPr>
            <p:cNvPr id="74" name="圖片 73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39630" y="1135297"/>
              <a:ext cx="540000" cy="540000"/>
            </a:xfrm>
            <a:prstGeom prst="rect">
              <a:avLst/>
            </a:prstGeom>
          </p:spPr>
        </p:pic>
        <p:sp>
          <p:nvSpPr>
            <p:cNvPr id="89" name="文字方塊 88"/>
            <p:cNvSpPr txBox="1"/>
            <p:nvPr/>
          </p:nvSpPr>
          <p:spPr>
            <a:xfrm>
              <a:off x="8608053" y="1588960"/>
              <a:ext cx="10209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600" dirty="0" smtClean="0"/>
                <a:t>Gmail</a:t>
              </a:r>
              <a:endParaRPr lang="zh-TW" altLang="en-US" sz="1600" dirty="0"/>
            </a:p>
          </p:txBody>
        </p:sp>
        <p:grpSp>
          <p:nvGrpSpPr>
            <p:cNvPr id="76" name="群組 75"/>
            <p:cNvGrpSpPr/>
            <p:nvPr/>
          </p:nvGrpSpPr>
          <p:grpSpPr>
            <a:xfrm>
              <a:off x="10263110" y="1135297"/>
              <a:ext cx="540000" cy="540000"/>
              <a:chOff x="8449979" y="1359855"/>
              <a:chExt cx="540000" cy="540000"/>
            </a:xfrm>
          </p:grpSpPr>
          <p:pic>
            <p:nvPicPr>
              <p:cNvPr id="75" name="圖片 74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49979" y="1359855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73" name="圖片 72"/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95766" y="1485855"/>
                <a:ext cx="288000" cy="288000"/>
              </a:xfrm>
              <a:prstGeom prst="rect">
                <a:avLst/>
              </a:prstGeom>
            </p:spPr>
          </p:pic>
        </p:grpSp>
        <p:sp>
          <p:nvSpPr>
            <p:cNvPr id="90" name="文字方塊 89"/>
            <p:cNvSpPr txBox="1"/>
            <p:nvPr/>
          </p:nvSpPr>
          <p:spPr>
            <a:xfrm>
              <a:off x="9915815" y="1588960"/>
              <a:ext cx="127416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600" dirty="0" smtClean="0"/>
                <a:t>Smart Device</a:t>
              </a:r>
              <a:endParaRPr lang="zh-TW" altLang="en-US" sz="1600" dirty="0"/>
            </a:p>
          </p:txBody>
        </p:sp>
        <p:sp>
          <p:nvSpPr>
            <p:cNvPr id="132" name="圓角矩形 131"/>
            <p:cNvSpPr/>
            <p:nvPr/>
          </p:nvSpPr>
          <p:spPr>
            <a:xfrm>
              <a:off x="7155341" y="856211"/>
              <a:ext cx="4149968" cy="1381046"/>
            </a:xfrm>
            <a:prstGeom prst="roundRect">
              <a:avLst/>
            </a:prstGeom>
            <a:noFill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3" name="文字方塊 132"/>
            <p:cNvSpPr txBox="1"/>
            <p:nvPr/>
          </p:nvSpPr>
          <p:spPr>
            <a:xfrm>
              <a:off x="8387044" y="1893369"/>
              <a:ext cx="146301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600" dirty="0" smtClean="0"/>
                <a:t>Alert Functions</a:t>
              </a:r>
              <a:endParaRPr lang="zh-TW" altLang="en-US" sz="1600" dirty="0"/>
            </a:p>
          </p:txBody>
        </p:sp>
      </p:grpSp>
      <p:cxnSp>
        <p:nvCxnSpPr>
          <p:cNvPr id="136" name="直線單箭頭接點 135"/>
          <p:cNvCxnSpPr/>
          <p:nvPr/>
        </p:nvCxnSpPr>
        <p:spPr>
          <a:xfrm flipV="1">
            <a:off x="7838900" y="2360815"/>
            <a:ext cx="0" cy="67333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群組 82"/>
          <p:cNvGrpSpPr/>
          <p:nvPr/>
        </p:nvGrpSpPr>
        <p:grpSpPr>
          <a:xfrm>
            <a:off x="4426177" y="1369054"/>
            <a:ext cx="1782543" cy="202788"/>
            <a:chOff x="5540089" y="1369054"/>
            <a:chExt cx="1724811" cy="202788"/>
          </a:xfrm>
        </p:grpSpPr>
        <p:cxnSp>
          <p:nvCxnSpPr>
            <p:cNvPr id="16" name="直線接點 15"/>
            <p:cNvCxnSpPr/>
            <p:nvPr/>
          </p:nvCxnSpPr>
          <p:spPr>
            <a:xfrm>
              <a:off x="5540089" y="1369054"/>
              <a:ext cx="1724811" cy="0"/>
            </a:xfrm>
            <a:prstGeom prst="line">
              <a:avLst/>
            </a:prstGeom>
            <a:ln w="28575"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線接點 81"/>
            <p:cNvCxnSpPr/>
            <p:nvPr/>
          </p:nvCxnSpPr>
          <p:spPr>
            <a:xfrm flipV="1">
              <a:off x="5540089" y="1372336"/>
              <a:ext cx="0" cy="199506"/>
            </a:xfrm>
            <a:prstGeom prst="line">
              <a:avLst/>
            </a:prstGeom>
            <a:ln w="28575"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3" name="群組 142"/>
          <p:cNvGrpSpPr/>
          <p:nvPr/>
        </p:nvGrpSpPr>
        <p:grpSpPr>
          <a:xfrm>
            <a:off x="5101799" y="1800022"/>
            <a:ext cx="1864266" cy="1553522"/>
            <a:chOff x="6215705" y="1800022"/>
            <a:chExt cx="1864266" cy="1553522"/>
          </a:xfrm>
        </p:grpSpPr>
        <p:cxnSp>
          <p:nvCxnSpPr>
            <p:cNvPr id="138" name="直線接點 137"/>
            <p:cNvCxnSpPr/>
            <p:nvPr/>
          </p:nvCxnSpPr>
          <p:spPr>
            <a:xfrm>
              <a:off x="6215705" y="1800022"/>
              <a:ext cx="733735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線接點 139"/>
            <p:cNvCxnSpPr/>
            <p:nvPr/>
          </p:nvCxnSpPr>
          <p:spPr>
            <a:xfrm>
              <a:off x="6949440" y="1800022"/>
              <a:ext cx="0" cy="154520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線單箭頭接點 141"/>
            <p:cNvCxnSpPr/>
            <p:nvPr/>
          </p:nvCxnSpPr>
          <p:spPr>
            <a:xfrm>
              <a:off x="6949440" y="3353544"/>
              <a:ext cx="1130531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" name="文字方塊 67"/>
          <p:cNvSpPr txBox="1"/>
          <p:nvPr/>
        </p:nvSpPr>
        <p:spPr>
          <a:xfrm>
            <a:off x="4714011" y="1116933"/>
            <a:ext cx="11211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 smtClean="0"/>
              <a:t>Authentication</a:t>
            </a:r>
          </a:p>
        </p:txBody>
      </p:sp>
      <p:cxnSp>
        <p:nvCxnSpPr>
          <p:cNvPr id="3" name="直線接點 2"/>
          <p:cNvCxnSpPr/>
          <p:nvPr/>
        </p:nvCxnSpPr>
        <p:spPr>
          <a:xfrm>
            <a:off x="9148718" y="4494518"/>
            <a:ext cx="41043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9148718" y="4821487"/>
            <a:ext cx="410439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7" name="直線接點 76"/>
          <p:cNvCxnSpPr/>
          <p:nvPr/>
        </p:nvCxnSpPr>
        <p:spPr>
          <a:xfrm>
            <a:off x="9148718" y="5137313"/>
            <a:ext cx="41043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文字方塊 78"/>
          <p:cNvSpPr txBox="1"/>
          <p:nvPr/>
        </p:nvSpPr>
        <p:spPr>
          <a:xfrm>
            <a:off x="9109493" y="4477441"/>
            <a:ext cx="14290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 smtClean="0"/>
              <a:t>User Information</a:t>
            </a:r>
          </a:p>
        </p:txBody>
      </p:sp>
      <p:sp>
        <p:nvSpPr>
          <p:cNvPr id="80" name="文字方塊 79"/>
          <p:cNvSpPr txBox="1"/>
          <p:nvPr/>
        </p:nvSpPr>
        <p:spPr>
          <a:xfrm>
            <a:off x="9109493" y="4804259"/>
            <a:ext cx="14290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 smtClean="0"/>
              <a:t>Environment Data</a:t>
            </a:r>
          </a:p>
        </p:txBody>
      </p:sp>
      <p:sp>
        <p:nvSpPr>
          <p:cNvPr id="81" name="文字方塊 80"/>
          <p:cNvSpPr txBox="1"/>
          <p:nvPr/>
        </p:nvSpPr>
        <p:spPr>
          <a:xfrm>
            <a:off x="9106057" y="5117588"/>
            <a:ext cx="14324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 smtClean="0"/>
              <a:t>Anomaly Event</a:t>
            </a:r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43613" y="3240389"/>
            <a:ext cx="840857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256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圓角矩形 4"/>
          <p:cNvSpPr/>
          <p:nvPr/>
        </p:nvSpPr>
        <p:spPr>
          <a:xfrm>
            <a:off x="6555969" y="1529541"/>
            <a:ext cx="1712422" cy="154963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" name="圓角矩形 3"/>
          <p:cNvSpPr/>
          <p:nvPr/>
        </p:nvSpPr>
        <p:spPr>
          <a:xfrm>
            <a:off x="2593571" y="1620981"/>
            <a:ext cx="1413163" cy="1458191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Spark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7" name="圓角矩形 16"/>
          <p:cNvSpPr/>
          <p:nvPr/>
        </p:nvSpPr>
        <p:spPr>
          <a:xfrm>
            <a:off x="2593570" y="3176847"/>
            <a:ext cx="1413163" cy="446117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HDFS</a:t>
            </a:r>
            <a:endParaRPr lang="zh-TW" altLang="en-US" dirty="0"/>
          </a:p>
        </p:txBody>
      </p:sp>
      <p:sp>
        <p:nvSpPr>
          <p:cNvPr id="21" name="圓角矩形 20"/>
          <p:cNvSpPr/>
          <p:nvPr/>
        </p:nvSpPr>
        <p:spPr>
          <a:xfrm>
            <a:off x="4649586" y="1620982"/>
            <a:ext cx="1413163" cy="914400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Spark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2" name="圓角矩形 21"/>
          <p:cNvSpPr/>
          <p:nvPr/>
        </p:nvSpPr>
        <p:spPr>
          <a:xfrm>
            <a:off x="6705601" y="1620982"/>
            <a:ext cx="1413163" cy="914400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Spark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圓角矩形 22"/>
          <p:cNvSpPr/>
          <p:nvPr/>
        </p:nvSpPr>
        <p:spPr>
          <a:xfrm>
            <a:off x="4649586" y="3176847"/>
            <a:ext cx="1413163" cy="446117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HDFS</a:t>
            </a:r>
            <a:endParaRPr lang="zh-TW" altLang="en-US" dirty="0"/>
          </a:p>
        </p:txBody>
      </p:sp>
      <p:sp>
        <p:nvSpPr>
          <p:cNvPr id="24" name="圓角矩形 23"/>
          <p:cNvSpPr/>
          <p:nvPr/>
        </p:nvSpPr>
        <p:spPr>
          <a:xfrm>
            <a:off x="4649586" y="2633056"/>
            <a:ext cx="1413163" cy="446117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Yarn</a:t>
            </a:r>
            <a:endParaRPr lang="zh-TW" altLang="en-US" dirty="0"/>
          </a:p>
        </p:txBody>
      </p:sp>
      <p:sp>
        <p:nvSpPr>
          <p:cNvPr id="25" name="圓角矩形 24"/>
          <p:cNvSpPr/>
          <p:nvPr/>
        </p:nvSpPr>
        <p:spPr>
          <a:xfrm>
            <a:off x="6705600" y="3176846"/>
            <a:ext cx="1413163" cy="446117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HDFS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6758412" y="2622611"/>
            <a:ext cx="1307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MapReduce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2679436" y="3720639"/>
            <a:ext cx="1241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Standalone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4615162" y="3720638"/>
            <a:ext cx="1482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Hadoop YARN</a:t>
            </a:r>
            <a:endParaRPr lang="zh-TW" altLang="en-US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7076992" y="3720636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SIMR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08576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圓角矩形 1"/>
          <p:cNvSpPr/>
          <p:nvPr/>
        </p:nvSpPr>
        <p:spPr>
          <a:xfrm>
            <a:off x="1660356" y="1189988"/>
            <a:ext cx="1368000" cy="432000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Web UI</a:t>
            </a:r>
            <a:endParaRPr lang="zh-TW" altLang="en-US" dirty="0"/>
          </a:p>
        </p:txBody>
      </p:sp>
      <p:sp>
        <p:nvSpPr>
          <p:cNvPr id="15" name="圓角矩形 14"/>
          <p:cNvSpPr/>
          <p:nvPr/>
        </p:nvSpPr>
        <p:spPr>
          <a:xfrm>
            <a:off x="4047621" y="1189988"/>
            <a:ext cx="1368000" cy="432000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Web Server</a:t>
            </a:r>
            <a:endParaRPr lang="zh-TW" altLang="en-US" dirty="0"/>
          </a:p>
        </p:txBody>
      </p:sp>
      <p:sp>
        <p:nvSpPr>
          <p:cNvPr id="16" name="圓角矩形 15"/>
          <p:cNvSpPr/>
          <p:nvPr/>
        </p:nvSpPr>
        <p:spPr>
          <a:xfrm>
            <a:off x="6434886" y="1189988"/>
            <a:ext cx="1368000" cy="432000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Facebook</a:t>
            </a:r>
            <a:endParaRPr lang="zh-TW" altLang="en-US" dirty="0"/>
          </a:p>
        </p:txBody>
      </p:sp>
      <p:sp>
        <p:nvSpPr>
          <p:cNvPr id="18" name="圓角矩形 17"/>
          <p:cNvSpPr/>
          <p:nvPr/>
        </p:nvSpPr>
        <p:spPr>
          <a:xfrm>
            <a:off x="8822151" y="1189988"/>
            <a:ext cx="1368000" cy="432000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MongoDB</a:t>
            </a:r>
            <a:endParaRPr lang="zh-TW" altLang="en-US" dirty="0"/>
          </a:p>
        </p:txBody>
      </p:sp>
      <p:cxnSp>
        <p:nvCxnSpPr>
          <p:cNvPr id="8" name="直線接點 7"/>
          <p:cNvCxnSpPr>
            <a:stCxn id="2" idx="2"/>
          </p:cNvCxnSpPr>
          <p:nvPr/>
        </p:nvCxnSpPr>
        <p:spPr>
          <a:xfrm flipH="1">
            <a:off x="2334126" y="1621988"/>
            <a:ext cx="10230" cy="2880000"/>
          </a:xfrm>
          <a:prstGeom prst="line">
            <a:avLst/>
          </a:prstGeom>
          <a:ln w="19050"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 flipH="1">
            <a:off x="4726506" y="1621988"/>
            <a:ext cx="10230" cy="2880000"/>
          </a:xfrm>
          <a:prstGeom prst="line">
            <a:avLst/>
          </a:prstGeom>
          <a:ln w="19050"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直線接點 25"/>
          <p:cNvCxnSpPr/>
          <p:nvPr/>
        </p:nvCxnSpPr>
        <p:spPr>
          <a:xfrm flipH="1">
            <a:off x="7113771" y="1621988"/>
            <a:ext cx="10230" cy="2880000"/>
          </a:xfrm>
          <a:prstGeom prst="line">
            <a:avLst/>
          </a:prstGeom>
          <a:ln w="19050"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 flipH="1">
            <a:off x="9501036" y="1621988"/>
            <a:ext cx="10230" cy="2880000"/>
          </a:xfrm>
          <a:prstGeom prst="line">
            <a:avLst/>
          </a:prstGeom>
          <a:ln w="19050"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>
            <a:off x="2334126" y="2161389"/>
            <a:ext cx="2382150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2354585" y="1861509"/>
            <a:ext cx="21959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 smtClean="0"/>
              <a:t>1.) POST authorization request.</a:t>
            </a:r>
            <a:endParaRPr lang="zh-TW" altLang="en-US" sz="1200" dirty="0"/>
          </a:p>
        </p:txBody>
      </p:sp>
      <p:cxnSp>
        <p:nvCxnSpPr>
          <p:cNvPr id="28" name="直線單箭頭接點 27"/>
          <p:cNvCxnSpPr/>
          <p:nvPr/>
        </p:nvCxnSpPr>
        <p:spPr>
          <a:xfrm flipH="1">
            <a:off x="2323897" y="2553330"/>
            <a:ext cx="2371921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2352668" y="2276331"/>
            <a:ext cx="21959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2</a:t>
            </a:r>
            <a:r>
              <a:rPr lang="en-US" altLang="zh-TW" sz="1200" dirty="0" smtClean="0"/>
              <a:t>.) Render to Login web page.</a:t>
            </a:r>
            <a:endParaRPr lang="zh-TW" altLang="en-US" sz="1200" dirty="0"/>
          </a:p>
        </p:txBody>
      </p:sp>
      <p:cxnSp>
        <p:nvCxnSpPr>
          <p:cNvPr id="32" name="直線單箭頭接點 31"/>
          <p:cNvCxnSpPr/>
          <p:nvPr/>
        </p:nvCxnSpPr>
        <p:spPr>
          <a:xfrm>
            <a:off x="2323897" y="2964717"/>
            <a:ext cx="2382150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3" name="文字方塊 32"/>
          <p:cNvSpPr txBox="1"/>
          <p:nvPr/>
        </p:nvSpPr>
        <p:spPr>
          <a:xfrm>
            <a:off x="2350105" y="2687718"/>
            <a:ext cx="21959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 smtClean="0"/>
              <a:t>3.) Getting User information. </a:t>
            </a:r>
            <a:endParaRPr lang="zh-TW" altLang="en-US" sz="1200" dirty="0"/>
          </a:p>
        </p:txBody>
      </p:sp>
      <p:cxnSp>
        <p:nvCxnSpPr>
          <p:cNvPr id="34" name="直線單箭頭接點 33"/>
          <p:cNvCxnSpPr/>
          <p:nvPr/>
        </p:nvCxnSpPr>
        <p:spPr>
          <a:xfrm>
            <a:off x="4750411" y="3176923"/>
            <a:ext cx="2382150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5" name="文字方塊 34"/>
          <p:cNvSpPr txBox="1"/>
          <p:nvPr/>
        </p:nvSpPr>
        <p:spPr>
          <a:xfrm>
            <a:off x="4756560" y="2894144"/>
            <a:ext cx="21959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4</a:t>
            </a:r>
            <a:r>
              <a:rPr lang="en-US" altLang="zh-TW" sz="1200" dirty="0" smtClean="0"/>
              <a:t>.) User authenticates request.</a:t>
            </a:r>
            <a:endParaRPr lang="zh-TW" altLang="en-US" sz="1200" dirty="0"/>
          </a:p>
        </p:txBody>
      </p:sp>
      <p:cxnSp>
        <p:nvCxnSpPr>
          <p:cNvPr id="38" name="直線單箭頭接點 37"/>
          <p:cNvCxnSpPr/>
          <p:nvPr/>
        </p:nvCxnSpPr>
        <p:spPr>
          <a:xfrm flipH="1">
            <a:off x="4721640" y="3766751"/>
            <a:ext cx="2371921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9" name="文字方塊 38"/>
          <p:cNvSpPr txBox="1"/>
          <p:nvPr/>
        </p:nvSpPr>
        <p:spPr>
          <a:xfrm>
            <a:off x="4750411" y="3305086"/>
            <a:ext cx="21959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 smtClean="0"/>
              <a:t>5.) Access token return </a:t>
            </a:r>
            <a:r>
              <a:rPr lang="en-US" altLang="zh-TW" sz="1200" dirty="0"/>
              <a:t>and approves permissions.</a:t>
            </a:r>
            <a:r>
              <a:rPr lang="en-US" altLang="zh-TW" sz="1200" dirty="0" smtClean="0"/>
              <a:t>.</a:t>
            </a:r>
            <a:endParaRPr lang="zh-TW" altLang="en-US" sz="1200" dirty="0"/>
          </a:p>
        </p:txBody>
      </p:sp>
      <p:cxnSp>
        <p:nvCxnSpPr>
          <p:cNvPr id="40" name="直線單箭頭接點 39"/>
          <p:cNvCxnSpPr/>
          <p:nvPr/>
        </p:nvCxnSpPr>
        <p:spPr>
          <a:xfrm>
            <a:off x="4720758" y="4228416"/>
            <a:ext cx="4780278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1" name="文字方塊 40"/>
          <p:cNvSpPr txBox="1"/>
          <p:nvPr/>
        </p:nvSpPr>
        <p:spPr>
          <a:xfrm>
            <a:off x="4746965" y="3951417"/>
            <a:ext cx="40751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6</a:t>
            </a:r>
            <a:r>
              <a:rPr lang="en-US" altLang="zh-TW" sz="1200" dirty="0" smtClean="0"/>
              <a:t>.) User information and Access token are stored to database. 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947393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圓角矩形 1"/>
          <p:cNvSpPr/>
          <p:nvPr/>
        </p:nvSpPr>
        <p:spPr>
          <a:xfrm>
            <a:off x="3452301" y="1191256"/>
            <a:ext cx="1296000" cy="432000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Web UI</a:t>
            </a:r>
            <a:endParaRPr lang="zh-TW" altLang="en-US" sz="1600" dirty="0"/>
          </a:p>
        </p:txBody>
      </p:sp>
      <p:sp>
        <p:nvSpPr>
          <p:cNvPr id="3" name="圓角矩形 2"/>
          <p:cNvSpPr/>
          <p:nvPr/>
        </p:nvSpPr>
        <p:spPr>
          <a:xfrm>
            <a:off x="5577455" y="1184422"/>
            <a:ext cx="1296000" cy="432000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Web Server</a:t>
            </a:r>
            <a:endParaRPr lang="zh-TW" altLang="en-US" sz="1600" dirty="0"/>
          </a:p>
        </p:txBody>
      </p:sp>
      <p:sp>
        <p:nvSpPr>
          <p:cNvPr id="4" name="圓角矩形 3"/>
          <p:cNvSpPr/>
          <p:nvPr/>
        </p:nvSpPr>
        <p:spPr>
          <a:xfrm>
            <a:off x="7673627" y="1191256"/>
            <a:ext cx="1296000" cy="432000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Firebase</a:t>
            </a:r>
            <a:endParaRPr lang="zh-TW" altLang="en-US" sz="1600" dirty="0"/>
          </a:p>
        </p:txBody>
      </p:sp>
      <p:sp>
        <p:nvSpPr>
          <p:cNvPr id="5" name="圓角矩形 4"/>
          <p:cNvSpPr/>
          <p:nvPr/>
        </p:nvSpPr>
        <p:spPr>
          <a:xfrm>
            <a:off x="9769800" y="1191256"/>
            <a:ext cx="1296000" cy="432000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MongoDB</a:t>
            </a:r>
            <a:endParaRPr lang="zh-TW" altLang="en-US" sz="1600" dirty="0"/>
          </a:p>
        </p:txBody>
      </p:sp>
      <p:cxnSp>
        <p:nvCxnSpPr>
          <p:cNvPr id="6" name="直線接點 5"/>
          <p:cNvCxnSpPr>
            <a:stCxn id="2" idx="2"/>
          </p:cNvCxnSpPr>
          <p:nvPr/>
        </p:nvCxnSpPr>
        <p:spPr>
          <a:xfrm>
            <a:off x="4100301" y="1623256"/>
            <a:ext cx="25770" cy="2880000"/>
          </a:xfrm>
          <a:prstGeom prst="line">
            <a:avLst/>
          </a:prstGeom>
          <a:ln w="19050"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 flipH="1">
            <a:off x="6256340" y="1616422"/>
            <a:ext cx="10230" cy="2880000"/>
          </a:xfrm>
          <a:prstGeom prst="line">
            <a:avLst/>
          </a:prstGeom>
          <a:ln w="19050"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H="1">
            <a:off x="8310685" y="1617690"/>
            <a:ext cx="10230" cy="2880000"/>
          </a:xfrm>
          <a:prstGeom prst="line">
            <a:avLst/>
          </a:prstGeom>
          <a:ln w="19050"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H="1">
            <a:off x="10417800" y="1616422"/>
            <a:ext cx="10230" cy="2880000"/>
          </a:xfrm>
          <a:prstGeom prst="line">
            <a:avLst/>
          </a:prstGeom>
          <a:ln w="19050"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>
            <a:off x="2003416" y="2149379"/>
            <a:ext cx="2088000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1953897" y="1872380"/>
            <a:ext cx="21959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 smtClean="0"/>
              <a:t>1.) Login or Sign up request.</a:t>
            </a:r>
            <a:endParaRPr lang="zh-TW" altLang="en-US" sz="1200" dirty="0"/>
          </a:p>
        </p:txBody>
      </p:sp>
      <p:cxnSp>
        <p:nvCxnSpPr>
          <p:cNvPr id="12" name="直線單箭頭接點 11"/>
          <p:cNvCxnSpPr/>
          <p:nvPr/>
        </p:nvCxnSpPr>
        <p:spPr>
          <a:xfrm flipH="1">
            <a:off x="1990531" y="3505596"/>
            <a:ext cx="6300000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1941380" y="2284405"/>
            <a:ext cx="21959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2</a:t>
            </a:r>
            <a:r>
              <a:rPr lang="en-US" altLang="zh-TW" sz="1200" dirty="0" smtClean="0"/>
              <a:t>.) Call the token transport function.</a:t>
            </a:r>
            <a:endParaRPr lang="zh-TW" altLang="en-US" sz="1200" dirty="0"/>
          </a:p>
        </p:txBody>
      </p:sp>
      <p:cxnSp>
        <p:nvCxnSpPr>
          <p:cNvPr id="14" name="直線單箭頭接點 13"/>
          <p:cNvCxnSpPr/>
          <p:nvPr/>
        </p:nvCxnSpPr>
        <p:spPr>
          <a:xfrm>
            <a:off x="2020071" y="4207929"/>
            <a:ext cx="4212000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/>
          <p:cNvSpPr txBox="1"/>
          <p:nvPr/>
        </p:nvSpPr>
        <p:spPr>
          <a:xfrm>
            <a:off x="1958340" y="3946167"/>
            <a:ext cx="21959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5</a:t>
            </a:r>
            <a:r>
              <a:rPr lang="en-US" altLang="zh-TW" sz="1200" dirty="0" smtClean="0"/>
              <a:t>.) POST device token. </a:t>
            </a:r>
            <a:endParaRPr lang="zh-TW" altLang="en-US" sz="1200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1953897" y="3216468"/>
            <a:ext cx="39564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4</a:t>
            </a:r>
            <a:r>
              <a:rPr lang="en-US" altLang="zh-TW" sz="1200" dirty="0" smtClean="0"/>
              <a:t>.) Authorizing the Application, and generate device token.</a:t>
            </a:r>
            <a:endParaRPr lang="zh-TW" altLang="en-US" sz="1200" dirty="0"/>
          </a:p>
        </p:txBody>
      </p:sp>
      <p:cxnSp>
        <p:nvCxnSpPr>
          <p:cNvPr id="18" name="直線單箭頭接點 17"/>
          <p:cNvCxnSpPr/>
          <p:nvPr/>
        </p:nvCxnSpPr>
        <p:spPr>
          <a:xfrm flipH="1">
            <a:off x="1990531" y="2694408"/>
            <a:ext cx="2088000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/>
          <p:cNvSpPr txBox="1"/>
          <p:nvPr/>
        </p:nvSpPr>
        <p:spPr>
          <a:xfrm>
            <a:off x="6222956" y="4157392"/>
            <a:ext cx="40693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6</a:t>
            </a:r>
            <a:r>
              <a:rPr lang="en-US" altLang="zh-TW" sz="1200" dirty="0" smtClean="0"/>
              <a:t>.) Storing User information and device token to database.</a:t>
            </a:r>
            <a:endParaRPr lang="zh-TW" altLang="en-US" sz="1200" dirty="0"/>
          </a:p>
        </p:txBody>
      </p:sp>
      <p:cxnSp>
        <p:nvCxnSpPr>
          <p:cNvPr id="20" name="直線單箭頭接點 19"/>
          <p:cNvCxnSpPr/>
          <p:nvPr/>
        </p:nvCxnSpPr>
        <p:spPr>
          <a:xfrm>
            <a:off x="2003416" y="3122824"/>
            <a:ext cx="6300000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/>
          <p:cNvSpPr txBox="1"/>
          <p:nvPr/>
        </p:nvSpPr>
        <p:spPr>
          <a:xfrm>
            <a:off x="1941380" y="2845825"/>
            <a:ext cx="40751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3</a:t>
            </a:r>
            <a:r>
              <a:rPr lang="en-US" altLang="zh-TW" sz="1200" dirty="0" smtClean="0"/>
              <a:t>.) Requiring device token through FCM SDK. </a:t>
            </a:r>
            <a:endParaRPr lang="zh-TW" altLang="en-US" sz="1200" dirty="0"/>
          </a:p>
        </p:txBody>
      </p:sp>
      <p:sp>
        <p:nvSpPr>
          <p:cNvPr id="23" name="圓角矩形 22"/>
          <p:cNvSpPr/>
          <p:nvPr/>
        </p:nvSpPr>
        <p:spPr>
          <a:xfrm>
            <a:off x="1329646" y="1189988"/>
            <a:ext cx="1296000" cy="432000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/>
              <a:t>Android Device</a:t>
            </a:r>
            <a:endParaRPr lang="zh-TW" altLang="en-US" sz="1400" dirty="0"/>
          </a:p>
        </p:txBody>
      </p:sp>
      <p:cxnSp>
        <p:nvCxnSpPr>
          <p:cNvPr id="24" name="直線接點 23"/>
          <p:cNvCxnSpPr>
            <a:stCxn id="23" idx="2"/>
          </p:cNvCxnSpPr>
          <p:nvPr/>
        </p:nvCxnSpPr>
        <p:spPr>
          <a:xfrm>
            <a:off x="1977646" y="1621988"/>
            <a:ext cx="25770" cy="2880000"/>
          </a:xfrm>
          <a:prstGeom prst="line">
            <a:avLst/>
          </a:prstGeom>
          <a:ln w="19050"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>
          <a:xfrm>
            <a:off x="2012301" y="3889510"/>
            <a:ext cx="2088000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/>
          <p:cNvSpPr txBox="1"/>
          <p:nvPr/>
        </p:nvSpPr>
        <p:spPr>
          <a:xfrm>
            <a:off x="1948713" y="3621629"/>
            <a:ext cx="21959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5</a:t>
            </a:r>
            <a:r>
              <a:rPr lang="en-US" altLang="zh-TW" sz="1200" dirty="0" smtClean="0"/>
              <a:t>.) Return User information.</a:t>
            </a:r>
            <a:endParaRPr lang="zh-TW" altLang="en-US" sz="1200" dirty="0"/>
          </a:p>
        </p:txBody>
      </p:sp>
      <p:cxnSp>
        <p:nvCxnSpPr>
          <p:cNvPr id="33" name="直線單箭頭接點 32"/>
          <p:cNvCxnSpPr/>
          <p:nvPr/>
        </p:nvCxnSpPr>
        <p:spPr>
          <a:xfrm>
            <a:off x="4154262" y="3889510"/>
            <a:ext cx="2088000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4" name="文字方塊 33"/>
          <p:cNvSpPr txBox="1"/>
          <p:nvPr/>
        </p:nvSpPr>
        <p:spPr>
          <a:xfrm>
            <a:off x="4090674" y="3621629"/>
            <a:ext cx="21959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5</a:t>
            </a:r>
            <a:r>
              <a:rPr lang="en-US" altLang="zh-TW" sz="1200" dirty="0" smtClean="0"/>
              <a:t>.) POST User information.</a:t>
            </a:r>
            <a:endParaRPr lang="zh-TW" altLang="en-US" sz="1200" dirty="0"/>
          </a:p>
        </p:txBody>
      </p:sp>
      <p:cxnSp>
        <p:nvCxnSpPr>
          <p:cNvPr id="36" name="直線單箭頭接點 35"/>
          <p:cNvCxnSpPr/>
          <p:nvPr/>
        </p:nvCxnSpPr>
        <p:spPr>
          <a:xfrm>
            <a:off x="6286596" y="4410206"/>
            <a:ext cx="4104000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1617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圓角矩形 1"/>
          <p:cNvSpPr/>
          <p:nvPr/>
        </p:nvSpPr>
        <p:spPr>
          <a:xfrm>
            <a:off x="4131540" y="3346030"/>
            <a:ext cx="1368000" cy="648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/>
              <a:t>Problem specification</a:t>
            </a:r>
            <a:endParaRPr lang="zh-TW" altLang="en-US" sz="1400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9290" y="4395036"/>
            <a:ext cx="952500" cy="952500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3338" y="4395036"/>
            <a:ext cx="952500" cy="952500"/>
          </a:xfrm>
          <a:prstGeom prst="rect">
            <a:avLst/>
          </a:prstGeom>
        </p:spPr>
      </p:pic>
      <p:sp>
        <p:nvSpPr>
          <p:cNvPr id="5" name="圓角矩形 4"/>
          <p:cNvSpPr/>
          <p:nvPr/>
        </p:nvSpPr>
        <p:spPr>
          <a:xfrm>
            <a:off x="4131540" y="2297024"/>
            <a:ext cx="1368000" cy="648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/>
              <a:t>Problem understanding</a:t>
            </a:r>
            <a:endParaRPr lang="zh-TW" altLang="en-US" sz="1400" dirty="0"/>
          </a:p>
        </p:txBody>
      </p:sp>
      <p:sp>
        <p:nvSpPr>
          <p:cNvPr id="6" name="圓角矩形 5"/>
          <p:cNvSpPr/>
          <p:nvPr/>
        </p:nvSpPr>
        <p:spPr>
          <a:xfrm>
            <a:off x="4131540" y="1248018"/>
            <a:ext cx="1368000" cy="648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/>
              <a:t>Data preprocessing</a:t>
            </a:r>
            <a:endParaRPr lang="zh-TW" altLang="en-US" sz="1400" dirty="0"/>
          </a:p>
        </p:txBody>
      </p:sp>
      <p:sp>
        <p:nvSpPr>
          <p:cNvPr id="7" name="圓角矩形 6"/>
          <p:cNvSpPr/>
          <p:nvPr/>
        </p:nvSpPr>
        <p:spPr>
          <a:xfrm>
            <a:off x="6595588" y="1248018"/>
            <a:ext cx="1368000" cy="648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/>
              <a:t>Data mining</a:t>
            </a:r>
            <a:endParaRPr lang="zh-TW" altLang="en-US" sz="1400" dirty="0"/>
          </a:p>
        </p:txBody>
      </p:sp>
      <p:sp>
        <p:nvSpPr>
          <p:cNvPr id="8" name="圓角矩形 7"/>
          <p:cNvSpPr/>
          <p:nvPr/>
        </p:nvSpPr>
        <p:spPr>
          <a:xfrm>
            <a:off x="6595588" y="2297024"/>
            <a:ext cx="1368000" cy="648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/>
              <a:t>Evaluation</a:t>
            </a:r>
            <a:endParaRPr lang="zh-TW" altLang="en-US" sz="1400" dirty="0"/>
          </a:p>
        </p:txBody>
      </p:sp>
      <p:sp>
        <p:nvSpPr>
          <p:cNvPr id="9" name="圓角矩形 8"/>
          <p:cNvSpPr/>
          <p:nvPr/>
        </p:nvSpPr>
        <p:spPr>
          <a:xfrm>
            <a:off x="6595588" y="3346030"/>
            <a:ext cx="1368000" cy="648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/>
              <a:t>Result exploitation</a:t>
            </a:r>
            <a:endParaRPr lang="zh-TW" altLang="en-US" sz="1400" dirty="0"/>
          </a:p>
        </p:txBody>
      </p:sp>
      <p:cxnSp>
        <p:nvCxnSpPr>
          <p:cNvPr id="11" name="直線單箭頭接點 10"/>
          <p:cNvCxnSpPr>
            <a:stCxn id="3" idx="0"/>
            <a:endCxn id="2" idx="2"/>
          </p:cNvCxnSpPr>
          <p:nvPr/>
        </p:nvCxnSpPr>
        <p:spPr>
          <a:xfrm flipV="1">
            <a:off x="4815540" y="3994030"/>
            <a:ext cx="0" cy="401006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>
            <a:stCxn id="2" idx="0"/>
            <a:endCxn id="5" idx="2"/>
          </p:cNvCxnSpPr>
          <p:nvPr/>
        </p:nvCxnSpPr>
        <p:spPr>
          <a:xfrm flipV="1">
            <a:off x="4815540" y="2945024"/>
            <a:ext cx="0" cy="401006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>
            <a:stCxn id="5" idx="0"/>
            <a:endCxn id="6" idx="2"/>
          </p:cNvCxnSpPr>
          <p:nvPr/>
        </p:nvCxnSpPr>
        <p:spPr>
          <a:xfrm flipV="1">
            <a:off x="4815540" y="1896018"/>
            <a:ext cx="0" cy="401006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>
            <a:stCxn id="6" idx="3"/>
            <a:endCxn id="7" idx="1"/>
          </p:cNvCxnSpPr>
          <p:nvPr/>
        </p:nvCxnSpPr>
        <p:spPr>
          <a:xfrm>
            <a:off x="5499540" y="1572018"/>
            <a:ext cx="1096048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>
            <a:stCxn id="7" idx="2"/>
            <a:endCxn id="8" idx="0"/>
          </p:cNvCxnSpPr>
          <p:nvPr/>
        </p:nvCxnSpPr>
        <p:spPr>
          <a:xfrm>
            <a:off x="7279588" y="1896018"/>
            <a:ext cx="0" cy="401006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>
            <a:stCxn id="8" idx="2"/>
          </p:cNvCxnSpPr>
          <p:nvPr/>
        </p:nvCxnSpPr>
        <p:spPr>
          <a:xfrm>
            <a:off x="7279588" y="2945024"/>
            <a:ext cx="0" cy="401006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>
            <a:stCxn id="9" idx="2"/>
            <a:endCxn id="4" idx="0"/>
          </p:cNvCxnSpPr>
          <p:nvPr/>
        </p:nvCxnSpPr>
        <p:spPr>
          <a:xfrm>
            <a:off x="7279588" y="3994030"/>
            <a:ext cx="0" cy="401006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/>
          <p:cNvSpPr txBox="1"/>
          <p:nvPr/>
        </p:nvSpPr>
        <p:spPr>
          <a:xfrm>
            <a:off x="3767915" y="4871286"/>
            <a:ext cx="5713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 smtClean="0"/>
              <a:t>Data</a:t>
            </a:r>
            <a:endParaRPr lang="zh-TW" altLang="en-US" sz="1600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7755838" y="4871286"/>
            <a:ext cx="11054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 smtClean="0"/>
              <a:t>Knowledge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290663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流程圖: 程序 5"/>
          <p:cNvSpPr/>
          <p:nvPr/>
        </p:nvSpPr>
        <p:spPr>
          <a:xfrm>
            <a:off x="1810138" y="1399593"/>
            <a:ext cx="900000" cy="540000"/>
          </a:xfrm>
          <a:prstGeom prst="flowChartProcess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流程圖: 程序 6"/>
          <p:cNvSpPr/>
          <p:nvPr/>
        </p:nvSpPr>
        <p:spPr>
          <a:xfrm>
            <a:off x="3688702" y="1399593"/>
            <a:ext cx="900000" cy="540000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流程圖: 程序 8"/>
          <p:cNvSpPr/>
          <p:nvPr/>
        </p:nvSpPr>
        <p:spPr>
          <a:xfrm>
            <a:off x="1810138" y="2559699"/>
            <a:ext cx="900000" cy="540000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流程圖: 資料 9"/>
          <p:cNvSpPr/>
          <p:nvPr/>
        </p:nvSpPr>
        <p:spPr>
          <a:xfrm>
            <a:off x="3684612" y="2559699"/>
            <a:ext cx="900000" cy="558000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流程圖: 程序 11"/>
          <p:cNvSpPr/>
          <p:nvPr/>
        </p:nvSpPr>
        <p:spPr>
          <a:xfrm>
            <a:off x="3684612" y="3719805"/>
            <a:ext cx="900000" cy="540000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流程圖: 程序 12"/>
          <p:cNvSpPr/>
          <p:nvPr/>
        </p:nvSpPr>
        <p:spPr>
          <a:xfrm>
            <a:off x="1884698" y="3806889"/>
            <a:ext cx="140045" cy="117601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流程圖: 程序 13"/>
          <p:cNvSpPr/>
          <p:nvPr/>
        </p:nvSpPr>
        <p:spPr>
          <a:xfrm>
            <a:off x="1919708" y="3968032"/>
            <a:ext cx="70023" cy="248231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流程圖: 程序 14"/>
          <p:cNvSpPr/>
          <p:nvPr/>
        </p:nvSpPr>
        <p:spPr>
          <a:xfrm>
            <a:off x="2099301" y="4092147"/>
            <a:ext cx="475948" cy="124116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流程圖: 程序 15"/>
          <p:cNvSpPr/>
          <p:nvPr/>
        </p:nvSpPr>
        <p:spPr>
          <a:xfrm>
            <a:off x="2190115" y="3765869"/>
            <a:ext cx="319638" cy="28525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流程圖: 程序 16"/>
          <p:cNvSpPr/>
          <p:nvPr/>
        </p:nvSpPr>
        <p:spPr>
          <a:xfrm>
            <a:off x="5117266" y="1763484"/>
            <a:ext cx="900000" cy="180000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流程圖: 程序 17"/>
          <p:cNvSpPr/>
          <p:nvPr/>
        </p:nvSpPr>
        <p:spPr>
          <a:xfrm>
            <a:off x="5297266" y="1579593"/>
            <a:ext cx="540000" cy="180000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流程圖: 程序 18"/>
          <p:cNvSpPr/>
          <p:nvPr/>
        </p:nvSpPr>
        <p:spPr>
          <a:xfrm>
            <a:off x="5477266" y="1399593"/>
            <a:ext cx="180000" cy="180000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流程圖: 程序 19"/>
          <p:cNvSpPr/>
          <p:nvPr/>
        </p:nvSpPr>
        <p:spPr>
          <a:xfrm>
            <a:off x="6995830" y="1399593"/>
            <a:ext cx="900000" cy="540000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流程圖: 程序 20"/>
          <p:cNvSpPr/>
          <p:nvPr/>
        </p:nvSpPr>
        <p:spPr>
          <a:xfrm>
            <a:off x="5117266" y="2559699"/>
            <a:ext cx="900000" cy="540000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流程圖: 程序 21"/>
          <p:cNvSpPr/>
          <p:nvPr/>
        </p:nvSpPr>
        <p:spPr>
          <a:xfrm>
            <a:off x="6995830" y="2559699"/>
            <a:ext cx="900000" cy="540000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流程圖: 接點 22"/>
          <p:cNvSpPr/>
          <p:nvPr/>
        </p:nvSpPr>
        <p:spPr>
          <a:xfrm>
            <a:off x="5837266" y="3715914"/>
            <a:ext cx="900000" cy="900000"/>
          </a:xfrm>
          <a:prstGeom prst="flowChartConnector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流程圖: 程序 23"/>
          <p:cNvSpPr/>
          <p:nvPr/>
        </p:nvSpPr>
        <p:spPr>
          <a:xfrm>
            <a:off x="6053975" y="4202797"/>
            <a:ext cx="143291" cy="105160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9" name="直線接點 28"/>
          <p:cNvCxnSpPr/>
          <p:nvPr/>
        </p:nvCxnSpPr>
        <p:spPr>
          <a:xfrm flipV="1">
            <a:off x="6197266" y="3865689"/>
            <a:ext cx="1296709" cy="3371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>
            <a:off x="6197266" y="4307957"/>
            <a:ext cx="1296709" cy="701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流程圖: 程序 24"/>
          <p:cNvSpPr/>
          <p:nvPr/>
        </p:nvSpPr>
        <p:spPr>
          <a:xfrm>
            <a:off x="6593975" y="3843036"/>
            <a:ext cx="900000" cy="540000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7" name="直線接點 26"/>
          <p:cNvCxnSpPr/>
          <p:nvPr/>
        </p:nvCxnSpPr>
        <p:spPr>
          <a:xfrm flipV="1">
            <a:off x="6053975" y="3865689"/>
            <a:ext cx="540000" cy="3371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線接點 30"/>
          <p:cNvCxnSpPr/>
          <p:nvPr/>
        </p:nvCxnSpPr>
        <p:spPr>
          <a:xfrm>
            <a:off x="6053975" y="4307957"/>
            <a:ext cx="540000" cy="701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文字方塊 40"/>
          <p:cNvSpPr txBox="1"/>
          <p:nvPr/>
        </p:nvSpPr>
        <p:spPr>
          <a:xfrm>
            <a:off x="5178483" y="2617198"/>
            <a:ext cx="2439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 smtClean="0"/>
              <a:t>?</a:t>
            </a:r>
            <a:endParaRPr lang="zh-TW" altLang="en-US" sz="1000" dirty="0"/>
          </a:p>
        </p:txBody>
      </p:sp>
      <p:sp>
        <p:nvSpPr>
          <p:cNvPr id="42" name="文字方塊 41"/>
          <p:cNvSpPr txBox="1"/>
          <p:nvPr/>
        </p:nvSpPr>
        <p:spPr>
          <a:xfrm>
            <a:off x="5333994" y="2802195"/>
            <a:ext cx="2439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 smtClean="0"/>
              <a:t>?</a:t>
            </a:r>
            <a:endParaRPr lang="zh-TW" altLang="en-US" sz="1000" dirty="0"/>
          </a:p>
        </p:txBody>
      </p:sp>
      <p:sp>
        <p:nvSpPr>
          <p:cNvPr id="43" name="文字方塊 42"/>
          <p:cNvSpPr txBox="1"/>
          <p:nvPr/>
        </p:nvSpPr>
        <p:spPr>
          <a:xfrm>
            <a:off x="5711137" y="2718953"/>
            <a:ext cx="2439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 smtClean="0"/>
              <a:t>?</a:t>
            </a:r>
            <a:endParaRPr lang="zh-TW" altLang="en-US" sz="1000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7041965" y="2640349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/>
              <a:t>3</a:t>
            </a:r>
            <a:endParaRPr lang="zh-TW" altLang="en-US" sz="1000" dirty="0"/>
          </a:p>
        </p:txBody>
      </p:sp>
      <p:sp>
        <p:nvSpPr>
          <p:cNvPr id="45" name="文字方塊 44"/>
          <p:cNvSpPr txBox="1"/>
          <p:nvPr/>
        </p:nvSpPr>
        <p:spPr>
          <a:xfrm>
            <a:off x="7197476" y="2825346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 smtClean="0"/>
              <a:t>9</a:t>
            </a:r>
            <a:endParaRPr lang="zh-TW" altLang="en-US" sz="1000" dirty="0"/>
          </a:p>
        </p:txBody>
      </p:sp>
      <p:sp>
        <p:nvSpPr>
          <p:cNvPr id="46" name="文字方塊 45"/>
          <p:cNvSpPr txBox="1"/>
          <p:nvPr/>
        </p:nvSpPr>
        <p:spPr>
          <a:xfrm>
            <a:off x="7574619" y="2742104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 smtClean="0"/>
              <a:t>6</a:t>
            </a:r>
            <a:endParaRPr lang="zh-TW" altLang="en-US" sz="1000" dirty="0"/>
          </a:p>
        </p:txBody>
      </p:sp>
      <p:sp>
        <p:nvSpPr>
          <p:cNvPr id="47" name="流程圖: 接點 46"/>
          <p:cNvSpPr/>
          <p:nvPr/>
        </p:nvSpPr>
        <p:spPr>
          <a:xfrm>
            <a:off x="6670937" y="3948047"/>
            <a:ext cx="36000" cy="36000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流程圖: 接點 47"/>
          <p:cNvSpPr/>
          <p:nvPr/>
        </p:nvSpPr>
        <p:spPr>
          <a:xfrm>
            <a:off x="6739356" y="4063123"/>
            <a:ext cx="36000" cy="36000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流程圖: 接點 48"/>
          <p:cNvSpPr/>
          <p:nvPr/>
        </p:nvSpPr>
        <p:spPr>
          <a:xfrm>
            <a:off x="6929083" y="4271509"/>
            <a:ext cx="36000" cy="36000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流程圖: 接點 49"/>
          <p:cNvSpPr/>
          <p:nvPr/>
        </p:nvSpPr>
        <p:spPr>
          <a:xfrm>
            <a:off x="7305419" y="3994703"/>
            <a:ext cx="36000" cy="36000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流程圖: 接點 50"/>
          <p:cNvSpPr/>
          <p:nvPr/>
        </p:nvSpPr>
        <p:spPr>
          <a:xfrm>
            <a:off x="6711366" y="4175092"/>
            <a:ext cx="36000" cy="36000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流程圖: 接點 51"/>
          <p:cNvSpPr/>
          <p:nvPr/>
        </p:nvSpPr>
        <p:spPr>
          <a:xfrm>
            <a:off x="7003724" y="3898286"/>
            <a:ext cx="36000" cy="36000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流程圖: 接點 52"/>
          <p:cNvSpPr/>
          <p:nvPr/>
        </p:nvSpPr>
        <p:spPr>
          <a:xfrm>
            <a:off x="6866878" y="3994701"/>
            <a:ext cx="36000" cy="36000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4" name="流程圖: 接點 53"/>
          <p:cNvSpPr/>
          <p:nvPr/>
        </p:nvSpPr>
        <p:spPr>
          <a:xfrm>
            <a:off x="7373845" y="4296387"/>
            <a:ext cx="36000" cy="36000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流程圖: 接點 54"/>
          <p:cNvSpPr/>
          <p:nvPr/>
        </p:nvSpPr>
        <p:spPr>
          <a:xfrm>
            <a:off x="7031718" y="4038244"/>
            <a:ext cx="36000" cy="36000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文字方塊 55"/>
          <p:cNvSpPr txBox="1"/>
          <p:nvPr/>
        </p:nvSpPr>
        <p:spPr>
          <a:xfrm>
            <a:off x="2545042" y="1061039"/>
            <a:ext cx="13087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 smtClean="0"/>
              <a:t>Data cleaning</a:t>
            </a:r>
            <a:endParaRPr lang="zh-TW" altLang="en-US" sz="1600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2260138" y="2220168"/>
            <a:ext cx="18686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 smtClean="0"/>
              <a:t>Data transformation</a:t>
            </a:r>
            <a:endParaRPr lang="zh-TW" altLang="en-US" sz="16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2435440" y="3377360"/>
            <a:ext cx="15309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 smtClean="0"/>
              <a:t>Data integration</a:t>
            </a:r>
            <a:endParaRPr lang="zh-TW" altLang="en-US" sz="1600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5577972" y="1028543"/>
            <a:ext cx="17667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 smtClean="0"/>
              <a:t>Data normalization</a:t>
            </a:r>
            <a:endParaRPr lang="zh-TW" altLang="en-US" sz="1600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5407509" y="2220921"/>
            <a:ext cx="21076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 smtClean="0"/>
              <a:t>Data values imputation</a:t>
            </a:r>
            <a:endParaRPr lang="zh-TW" altLang="en-US" sz="1600" dirty="0"/>
          </a:p>
        </p:txBody>
      </p:sp>
      <p:sp>
        <p:nvSpPr>
          <p:cNvPr id="62" name="文字方塊 61"/>
          <p:cNvSpPr txBox="1"/>
          <p:nvPr/>
        </p:nvSpPr>
        <p:spPr>
          <a:xfrm>
            <a:off x="5560659" y="3377360"/>
            <a:ext cx="18013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 smtClean="0"/>
              <a:t>Noise identification</a:t>
            </a:r>
            <a:endParaRPr lang="zh-TW" altLang="en-US" sz="1600" dirty="0"/>
          </a:p>
        </p:txBody>
      </p:sp>
      <p:cxnSp>
        <p:nvCxnSpPr>
          <p:cNvPr id="64" name="直線單箭頭接點 63"/>
          <p:cNvCxnSpPr/>
          <p:nvPr/>
        </p:nvCxnSpPr>
        <p:spPr>
          <a:xfrm>
            <a:off x="2817845" y="1669593"/>
            <a:ext cx="79310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單箭頭接點 64"/>
          <p:cNvCxnSpPr/>
          <p:nvPr/>
        </p:nvCxnSpPr>
        <p:spPr>
          <a:xfrm>
            <a:off x="2817845" y="2847281"/>
            <a:ext cx="79310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單箭頭接點 65"/>
          <p:cNvCxnSpPr/>
          <p:nvPr/>
        </p:nvCxnSpPr>
        <p:spPr>
          <a:xfrm>
            <a:off x="2817845" y="4005232"/>
            <a:ext cx="79310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單箭頭接點 66"/>
          <p:cNvCxnSpPr/>
          <p:nvPr/>
        </p:nvCxnSpPr>
        <p:spPr>
          <a:xfrm>
            <a:off x="6135981" y="1669593"/>
            <a:ext cx="79310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單箭頭接點 67"/>
          <p:cNvCxnSpPr/>
          <p:nvPr/>
        </p:nvCxnSpPr>
        <p:spPr>
          <a:xfrm>
            <a:off x="6125620" y="2847281"/>
            <a:ext cx="79310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2247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流程圖: 替代程序 1"/>
          <p:cNvSpPr/>
          <p:nvPr/>
        </p:nvSpPr>
        <p:spPr>
          <a:xfrm>
            <a:off x="3050770" y="756460"/>
            <a:ext cx="1368000" cy="382385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MQTT Broker</a:t>
            </a:r>
            <a:endParaRPr lang="zh-TW" altLang="en-US" sz="1600" dirty="0"/>
          </a:p>
        </p:txBody>
      </p:sp>
      <p:sp>
        <p:nvSpPr>
          <p:cNvPr id="3" name="流程圖: 替代程序 2"/>
          <p:cNvSpPr/>
          <p:nvPr/>
        </p:nvSpPr>
        <p:spPr>
          <a:xfrm>
            <a:off x="2834770" y="1496190"/>
            <a:ext cx="1800000" cy="382385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Spark Streaming</a:t>
            </a:r>
            <a:endParaRPr lang="zh-TW" altLang="en-US" sz="1600" dirty="0"/>
          </a:p>
        </p:txBody>
      </p:sp>
      <p:sp>
        <p:nvSpPr>
          <p:cNvPr id="4" name="流程圖: 替代程序 3"/>
          <p:cNvSpPr/>
          <p:nvPr/>
        </p:nvSpPr>
        <p:spPr>
          <a:xfrm>
            <a:off x="2834770" y="2235920"/>
            <a:ext cx="1800000" cy="382385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Data Transform</a:t>
            </a:r>
            <a:endParaRPr lang="zh-TW" altLang="en-US" sz="1600" dirty="0"/>
          </a:p>
        </p:txBody>
      </p:sp>
      <p:sp>
        <p:nvSpPr>
          <p:cNvPr id="5" name="流程圖: 決策 4"/>
          <p:cNvSpPr/>
          <p:nvPr/>
        </p:nvSpPr>
        <p:spPr>
          <a:xfrm>
            <a:off x="2370958" y="2975650"/>
            <a:ext cx="2724218" cy="1014153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Out of Normal Range</a:t>
            </a:r>
            <a:endParaRPr lang="zh-TW" altLang="en-US" sz="1600" dirty="0"/>
          </a:p>
        </p:txBody>
      </p:sp>
      <p:sp>
        <p:nvSpPr>
          <p:cNvPr id="6" name="流程圖: 替代程序 5"/>
          <p:cNvSpPr/>
          <p:nvPr/>
        </p:nvSpPr>
        <p:spPr>
          <a:xfrm>
            <a:off x="5929209" y="3122726"/>
            <a:ext cx="1967347" cy="720000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D</a:t>
            </a:r>
            <a:r>
              <a:rPr lang="en-US" altLang="zh-TW" sz="1600" dirty="0" smtClean="0"/>
              <a:t>o Nothing</a:t>
            </a:r>
            <a:r>
              <a:rPr lang="en-US" altLang="zh-TW" sz="1600" dirty="0"/>
              <a:t>, </a:t>
            </a:r>
            <a:endParaRPr lang="en-US" altLang="zh-TW" sz="1600" dirty="0" smtClean="0"/>
          </a:p>
          <a:p>
            <a:pPr algn="ctr"/>
            <a:r>
              <a:rPr lang="en-US" altLang="zh-TW" sz="1600" dirty="0" smtClean="0"/>
              <a:t>waiting </a:t>
            </a:r>
            <a:r>
              <a:rPr lang="en-US" altLang="zh-TW" sz="1600" dirty="0"/>
              <a:t>for next data</a:t>
            </a:r>
            <a:endParaRPr lang="zh-TW" altLang="en-US" sz="1600" dirty="0"/>
          </a:p>
        </p:txBody>
      </p:sp>
      <p:sp>
        <p:nvSpPr>
          <p:cNvPr id="7" name="流程圖: 替代程序 6"/>
          <p:cNvSpPr/>
          <p:nvPr/>
        </p:nvSpPr>
        <p:spPr>
          <a:xfrm>
            <a:off x="2527067" y="4514032"/>
            <a:ext cx="2412000" cy="720000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trigger the alert functions, sending warning message</a:t>
            </a:r>
            <a:endParaRPr lang="zh-TW" altLang="en-US" sz="1600" dirty="0"/>
          </a:p>
        </p:txBody>
      </p:sp>
      <p:cxnSp>
        <p:nvCxnSpPr>
          <p:cNvPr id="9" name="直線單箭頭接點 8"/>
          <p:cNvCxnSpPr>
            <a:stCxn id="2" idx="2"/>
          </p:cNvCxnSpPr>
          <p:nvPr/>
        </p:nvCxnSpPr>
        <p:spPr>
          <a:xfrm flipH="1">
            <a:off x="3733067" y="1138845"/>
            <a:ext cx="1703" cy="3573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>
            <a:stCxn id="3" idx="2"/>
            <a:endCxn id="4" idx="0"/>
          </p:cNvCxnSpPr>
          <p:nvPr/>
        </p:nvCxnSpPr>
        <p:spPr>
          <a:xfrm>
            <a:off x="3734770" y="1878575"/>
            <a:ext cx="0" cy="3573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>
            <a:stCxn id="4" idx="2"/>
            <a:endCxn id="5" idx="0"/>
          </p:cNvCxnSpPr>
          <p:nvPr/>
        </p:nvCxnSpPr>
        <p:spPr>
          <a:xfrm flipH="1">
            <a:off x="3733067" y="2618305"/>
            <a:ext cx="1703" cy="3573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>
            <a:stCxn id="5" idx="2"/>
            <a:endCxn id="7" idx="0"/>
          </p:cNvCxnSpPr>
          <p:nvPr/>
        </p:nvCxnSpPr>
        <p:spPr>
          <a:xfrm>
            <a:off x="3733067" y="3989803"/>
            <a:ext cx="0" cy="5242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>
            <a:stCxn id="5" idx="3"/>
            <a:endCxn id="6" idx="1"/>
          </p:cNvCxnSpPr>
          <p:nvPr/>
        </p:nvCxnSpPr>
        <p:spPr>
          <a:xfrm flipV="1">
            <a:off x="5095176" y="3482726"/>
            <a:ext cx="83403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文字方塊 17"/>
          <p:cNvSpPr txBox="1"/>
          <p:nvPr/>
        </p:nvSpPr>
        <p:spPr>
          <a:xfrm>
            <a:off x="5212954" y="3144172"/>
            <a:ext cx="6007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 smtClean="0"/>
              <a:t>False</a:t>
            </a:r>
            <a:endParaRPr lang="zh-TW" altLang="en-US" sz="1600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3733067" y="4082640"/>
            <a:ext cx="5534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 smtClean="0"/>
              <a:t>True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152133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流程圖: 替代程序 1"/>
          <p:cNvSpPr/>
          <p:nvPr/>
        </p:nvSpPr>
        <p:spPr>
          <a:xfrm>
            <a:off x="3691831" y="373311"/>
            <a:ext cx="1080000" cy="288000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MQTT Broker</a:t>
            </a:r>
            <a:endParaRPr lang="zh-TW" altLang="en-US" sz="1200" dirty="0"/>
          </a:p>
        </p:txBody>
      </p:sp>
      <p:sp>
        <p:nvSpPr>
          <p:cNvPr id="3" name="流程圖: 替代程序 2"/>
          <p:cNvSpPr/>
          <p:nvPr/>
        </p:nvSpPr>
        <p:spPr>
          <a:xfrm>
            <a:off x="3547831" y="914274"/>
            <a:ext cx="1368000" cy="288000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Spark Streaming</a:t>
            </a:r>
            <a:endParaRPr lang="zh-TW" altLang="en-US" sz="1200" dirty="0"/>
          </a:p>
        </p:txBody>
      </p:sp>
      <p:sp>
        <p:nvSpPr>
          <p:cNvPr id="4" name="流程圖: 替代程序 3"/>
          <p:cNvSpPr/>
          <p:nvPr/>
        </p:nvSpPr>
        <p:spPr>
          <a:xfrm>
            <a:off x="3331831" y="1455237"/>
            <a:ext cx="1800000" cy="432000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Data Transform</a:t>
            </a:r>
          </a:p>
          <a:p>
            <a:pPr algn="ctr"/>
            <a:r>
              <a:rPr lang="en-US" altLang="zh-TW" sz="1200" dirty="0" smtClean="0"/>
              <a:t>(mapWithState)</a:t>
            </a:r>
            <a:endParaRPr lang="zh-TW" altLang="en-US" sz="1200" dirty="0"/>
          </a:p>
        </p:txBody>
      </p:sp>
      <p:sp>
        <p:nvSpPr>
          <p:cNvPr id="5" name="流程圖: 決策 4"/>
          <p:cNvSpPr/>
          <p:nvPr/>
        </p:nvSpPr>
        <p:spPr>
          <a:xfrm>
            <a:off x="2869722" y="2140200"/>
            <a:ext cx="2724218" cy="522029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Check Previous </a:t>
            </a:r>
            <a:r>
              <a:rPr lang="en-US" altLang="zh-TW" sz="1200" dirty="0"/>
              <a:t>S</a:t>
            </a:r>
            <a:r>
              <a:rPr lang="en-US" altLang="zh-TW" sz="1200" dirty="0" smtClean="0"/>
              <a:t>tate</a:t>
            </a:r>
            <a:endParaRPr lang="zh-TW" altLang="en-US" sz="1200" dirty="0"/>
          </a:p>
        </p:txBody>
      </p:sp>
      <p:sp>
        <p:nvSpPr>
          <p:cNvPr id="6" name="流程圖: 替代程序 5"/>
          <p:cNvSpPr/>
          <p:nvPr/>
        </p:nvSpPr>
        <p:spPr>
          <a:xfrm>
            <a:off x="6460766" y="2221214"/>
            <a:ext cx="1260000" cy="360000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Initial Data </a:t>
            </a:r>
            <a:r>
              <a:rPr lang="en-US" altLang="zh-TW" sz="1200" dirty="0"/>
              <a:t>S</a:t>
            </a:r>
            <a:r>
              <a:rPr lang="en-US" altLang="zh-TW" sz="1200" dirty="0" smtClean="0"/>
              <a:t>tate</a:t>
            </a:r>
            <a:endParaRPr lang="zh-TW" altLang="en-US" sz="1200" dirty="0"/>
          </a:p>
        </p:txBody>
      </p:sp>
      <p:sp>
        <p:nvSpPr>
          <p:cNvPr id="7" name="流程圖: 替代程序 6"/>
          <p:cNvSpPr/>
          <p:nvPr/>
        </p:nvSpPr>
        <p:spPr>
          <a:xfrm>
            <a:off x="3700144" y="5273097"/>
            <a:ext cx="2412000" cy="720000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trigger the alert functions, sending warning message</a:t>
            </a:r>
            <a:endParaRPr lang="zh-TW" altLang="en-US" sz="1200" dirty="0"/>
          </a:p>
        </p:txBody>
      </p:sp>
      <p:cxnSp>
        <p:nvCxnSpPr>
          <p:cNvPr id="8" name="直線單箭頭接點 7"/>
          <p:cNvCxnSpPr>
            <a:stCxn id="2" idx="2"/>
            <a:endCxn id="3" idx="0"/>
          </p:cNvCxnSpPr>
          <p:nvPr/>
        </p:nvCxnSpPr>
        <p:spPr>
          <a:xfrm>
            <a:off x="4231831" y="661311"/>
            <a:ext cx="0" cy="252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線單箭頭接點 8"/>
          <p:cNvCxnSpPr>
            <a:stCxn id="3" idx="2"/>
            <a:endCxn id="4" idx="0"/>
          </p:cNvCxnSpPr>
          <p:nvPr/>
        </p:nvCxnSpPr>
        <p:spPr>
          <a:xfrm>
            <a:off x="4231831" y="1202274"/>
            <a:ext cx="0" cy="252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>
            <a:stCxn id="4" idx="2"/>
            <a:endCxn id="5" idx="0"/>
          </p:cNvCxnSpPr>
          <p:nvPr/>
        </p:nvCxnSpPr>
        <p:spPr>
          <a:xfrm>
            <a:off x="4231831" y="1887237"/>
            <a:ext cx="0" cy="252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>
            <a:stCxn id="5" idx="2"/>
            <a:endCxn id="15" idx="0"/>
          </p:cNvCxnSpPr>
          <p:nvPr/>
        </p:nvCxnSpPr>
        <p:spPr>
          <a:xfrm>
            <a:off x="4231831" y="2662229"/>
            <a:ext cx="0" cy="252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>
            <a:stCxn id="5" idx="3"/>
            <a:endCxn id="6" idx="1"/>
          </p:cNvCxnSpPr>
          <p:nvPr/>
        </p:nvCxnSpPr>
        <p:spPr>
          <a:xfrm flipV="1">
            <a:off x="5593940" y="2401214"/>
            <a:ext cx="86682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5661373" y="4340867"/>
            <a:ext cx="4979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False</a:t>
            </a:r>
            <a:endParaRPr lang="zh-TW" altLang="en-US" sz="12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2433398" y="4572845"/>
            <a:ext cx="4604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True</a:t>
            </a:r>
            <a:endParaRPr lang="zh-TW" altLang="en-US" sz="1200" dirty="0"/>
          </a:p>
        </p:txBody>
      </p:sp>
      <p:sp>
        <p:nvSpPr>
          <p:cNvPr id="15" name="流程圖: 決策 14"/>
          <p:cNvSpPr/>
          <p:nvPr/>
        </p:nvSpPr>
        <p:spPr>
          <a:xfrm>
            <a:off x="2869722" y="2915192"/>
            <a:ext cx="2724218" cy="522029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Check the Number of </a:t>
            </a:r>
            <a:r>
              <a:rPr lang="en-US" altLang="zh-TW" sz="1200" dirty="0"/>
              <a:t>T</a:t>
            </a:r>
            <a:r>
              <a:rPr lang="en-US" altLang="zh-TW" sz="1200" dirty="0" smtClean="0"/>
              <a:t>raining Sample</a:t>
            </a:r>
            <a:endParaRPr lang="zh-TW" altLang="en-US" sz="1200" dirty="0"/>
          </a:p>
        </p:txBody>
      </p:sp>
      <p:sp>
        <p:nvSpPr>
          <p:cNvPr id="16" name="流程圖: 替代程序 15"/>
          <p:cNvSpPr/>
          <p:nvPr/>
        </p:nvSpPr>
        <p:spPr>
          <a:xfrm>
            <a:off x="1601216" y="3683210"/>
            <a:ext cx="1152000" cy="360000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Previous State</a:t>
            </a:r>
            <a:endParaRPr lang="zh-TW" altLang="en-US" sz="1200" dirty="0"/>
          </a:p>
        </p:txBody>
      </p:sp>
      <p:sp>
        <p:nvSpPr>
          <p:cNvPr id="17" name="流程圖: 替代程序 16"/>
          <p:cNvSpPr/>
          <p:nvPr/>
        </p:nvSpPr>
        <p:spPr>
          <a:xfrm>
            <a:off x="6226766" y="2906206"/>
            <a:ext cx="1728000" cy="540000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Compute Mean and SD, Update Data State</a:t>
            </a:r>
            <a:endParaRPr lang="zh-TW" altLang="en-US" sz="1200" dirty="0"/>
          </a:p>
        </p:txBody>
      </p:sp>
      <p:sp>
        <p:nvSpPr>
          <p:cNvPr id="18" name="流程圖: 替代程序 17"/>
          <p:cNvSpPr/>
          <p:nvPr/>
        </p:nvSpPr>
        <p:spPr>
          <a:xfrm>
            <a:off x="3421831" y="3678385"/>
            <a:ext cx="1620000" cy="360000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Get Mean and SD Set</a:t>
            </a:r>
            <a:endParaRPr lang="zh-TW" altLang="en-US" sz="1200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1733729" y="3437221"/>
            <a:ext cx="8869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Checkpoint</a:t>
            </a:r>
            <a:endParaRPr lang="zh-TW" altLang="en-US" sz="1200" dirty="0"/>
          </a:p>
        </p:txBody>
      </p:sp>
      <p:sp>
        <p:nvSpPr>
          <p:cNvPr id="20" name="流程圖: 決策 19"/>
          <p:cNvSpPr/>
          <p:nvPr/>
        </p:nvSpPr>
        <p:spPr>
          <a:xfrm>
            <a:off x="2869722" y="4303147"/>
            <a:ext cx="2724218" cy="522029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SH &gt; +H or SL &lt; -H</a:t>
            </a:r>
            <a:endParaRPr lang="zh-TW" altLang="en-US" sz="1200" dirty="0"/>
          </a:p>
        </p:txBody>
      </p:sp>
      <p:cxnSp>
        <p:nvCxnSpPr>
          <p:cNvPr id="21" name="直線單箭頭接點 20"/>
          <p:cNvCxnSpPr>
            <a:stCxn id="15" idx="2"/>
            <a:endCxn id="18" idx="0"/>
          </p:cNvCxnSpPr>
          <p:nvPr/>
        </p:nvCxnSpPr>
        <p:spPr>
          <a:xfrm>
            <a:off x="4231831" y="3437221"/>
            <a:ext cx="0" cy="241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>
            <a:stCxn id="18" idx="2"/>
            <a:endCxn id="20" idx="0"/>
          </p:cNvCxnSpPr>
          <p:nvPr/>
        </p:nvCxnSpPr>
        <p:spPr>
          <a:xfrm>
            <a:off x="4231831" y="4038385"/>
            <a:ext cx="0" cy="2647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>
            <a:stCxn id="15" idx="3"/>
            <a:endCxn id="17" idx="1"/>
          </p:cNvCxnSpPr>
          <p:nvPr/>
        </p:nvCxnSpPr>
        <p:spPr>
          <a:xfrm flipV="1">
            <a:off x="5593940" y="3176206"/>
            <a:ext cx="63282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>
            <a:stCxn id="16" idx="3"/>
            <a:endCxn id="18" idx="1"/>
          </p:cNvCxnSpPr>
          <p:nvPr/>
        </p:nvCxnSpPr>
        <p:spPr>
          <a:xfrm flipV="1">
            <a:off x="2753216" y="3858385"/>
            <a:ext cx="668615" cy="48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>
            <a:stCxn id="20" idx="3"/>
            <a:endCxn id="31" idx="1"/>
          </p:cNvCxnSpPr>
          <p:nvPr/>
        </p:nvCxnSpPr>
        <p:spPr>
          <a:xfrm flipV="1">
            <a:off x="5593940" y="4564161"/>
            <a:ext cx="63282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文字方塊 26"/>
          <p:cNvSpPr txBox="1"/>
          <p:nvPr/>
        </p:nvSpPr>
        <p:spPr>
          <a:xfrm>
            <a:off x="5661374" y="2173191"/>
            <a:ext cx="4979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False</a:t>
            </a:r>
            <a:endParaRPr lang="zh-TW" altLang="en-US" sz="1200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4231831" y="2618754"/>
            <a:ext cx="4730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Exist</a:t>
            </a:r>
            <a:endParaRPr lang="zh-TW" altLang="en-US" sz="12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5661374" y="2948444"/>
            <a:ext cx="4979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False</a:t>
            </a:r>
            <a:endParaRPr lang="zh-TW" altLang="en-US" sz="1200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4206952" y="3401386"/>
            <a:ext cx="6543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Enough</a:t>
            </a:r>
            <a:endParaRPr lang="zh-TW" altLang="en-US" sz="1200" dirty="0"/>
          </a:p>
        </p:txBody>
      </p:sp>
      <p:sp>
        <p:nvSpPr>
          <p:cNvPr id="31" name="流程圖: 替代程序 30"/>
          <p:cNvSpPr/>
          <p:nvPr/>
        </p:nvSpPr>
        <p:spPr>
          <a:xfrm>
            <a:off x="6226762" y="4294161"/>
            <a:ext cx="1886459" cy="540000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Compute Mean, SD, SH and SL, Update Data State</a:t>
            </a:r>
            <a:endParaRPr lang="zh-TW" altLang="en-US" sz="1200" dirty="0"/>
          </a:p>
        </p:txBody>
      </p:sp>
      <p:sp>
        <p:nvSpPr>
          <p:cNvPr id="54" name="流程圖: 替代程序 53"/>
          <p:cNvSpPr/>
          <p:nvPr/>
        </p:nvSpPr>
        <p:spPr>
          <a:xfrm>
            <a:off x="1827523" y="4923013"/>
            <a:ext cx="1260000" cy="360000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Reset SH and SL</a:t>
            </a:r>
            <a:endParaRPr lang="zh-TW" altLang="en-US" sz="1200" dirty="0"/>
          </a:p>
        </p:txBody>
      </p:sp>
      <p:grpSp>
        <p:nvGrpSpPr>
          <p:cNvPr id="58" name="群組 57"/>
          <p:cNvGrpSpPr/>
          <p:nvPr/>
        </p:nvGrpSpPr>
        <p:grpSpPr>
          <a:xfrm>
            <a:off x="2457523" y="4564160"/>
            <a:ext cx="412199" cy="344158"/>
            <a:chOff x="2457523" y="4564160"/>
            <a:chExt cx="412199" cy="344158"/>
          </a:xfrm>
        </p:grpSpPr>
        <p:cxnSp>
          <p:nvCxnSpPr>
            <p:cNvPr id="23" name="直線單箭頭接點 22"/>
            <p:cNvCxnSpPr/>
            <p:nvPr/>
          </p:nvCxnSpPr>
          <p:spPr>
            <a:xfrm>
              <a:off x="2457523" y="4564160"/>
              <a:ext cx="0" cy="3441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直線接點 56"/>
            <p:cNvCxnSpPr>
              <a:endCxn id="20" idx="1"/>
            </p:cNvCxnSpPr>
            <p:nvPr/>
          </p:nvCxnSpPr>
          <p:spPr>
            <a:xfrm>
              <a:off x="2457523" y="4564160"/>
              <a:ext cx="412199" cy="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60" name="直線接點 59"/>
          <p:cNvCxnSpPr>
            <a:stCxn id="54" idx="2"/>
          </p:cNvCxnSpPr>
          <p:nvPr/>
        </p:nvCxnSpPr>
        <p:spPr>
          <a:xfrm>
            <a:off x="2457523" y="5283013"/>
            <a:ext cx="0" cy="3588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>
            <a:endCxn id="7" idx="1"/>
          </p:cNvCxnSpPr>
          <p:nvPr/>
        </p:nvCxnSpPr>
        <p:spPr>
          <a:xfrm flipV="1">
            <a:off x="2458235" y="5633097"/>
            <a:ext cx="1241909" cy="83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2858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189614" y="1720734"/>
            <a:ext cx="3600000" cy="360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流程圖: 接點 2"/>
          <p:cNvSpPr/>
          <p:nvPr/>
        </p:nvSpPr>
        <p:spPr>
          <a:xfrm>
            <a:off x="4314300" y="1828801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流程圖: 接點 3"/>
          <p:cNvSpPr/>
          <p:nvPr/>
        </p:nvSpPr>
        <p:spPr>
          <a:xfrm>
            <a:off x="7367839" y="4782585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流程圖: 接點 4"/>
          <p:cNvSpPr/>
          <p:nvPr/>
        </p:nvSpPr>
        <p:spPr>
          <a:xfrm>
            <a:off x="7362298" y="4868483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流程圖: 接點 5"/>
          <p:cNvSpPr/>
          <p:nvPr/>
        </p:nvSpPr>
        <p:spPr>
          <a:xfrm>
            <a:off x="7304109" y="4835232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流程圖: 接點 6"/>
          <p:cNvSpPr/>
          <p:nvPr/>
        </p:nvSpPr>
        <p:spPr>
          <a:xfrm>
            <a:off x="7412174" y="4860168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流程圖: 接點 7"/>
          <p:cNvSpPr/>
          <p:nvPr/>
        </p:nvSpPr>
        <p:spPr>
          <a:xfrm>
            <a:off x="7329047" y="4934985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流程圖: 接點 8"/>
          <p:cNvSpPr/>
          <p:nvPr/>
        </p:nvSpPr>
        <p:spPr>
          <a:xfrm>
            <a:off x="7370612" y="4918359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流程圖: 接點 9"/>
          <p:cNvSpPr/>
          <p:nvPr/>
        </p:nvSpPr>
        <p:spPr>
          <a:xfrm>
            <a:off x="7312422" y="4710542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流程圖: 接點 10"/>
          <p:cNvSpPr/>
          <p:nvPr/>
        </p:nvSpPr>
        <p:spPr>
          <a:xfrm>
            <a:off x="7179417" y="4793669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流程圖: 接點 11"/>
          <p:cNvSpPr/>
          <p:nvPr/>
        </p:nvSpPr>
        <p:spPr>
          <a:xfrm>
            <a:off x="7220981" y="4901733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流程圖: 接點 12"/>
          <p:cNvSpPr/>
          <p:nvPr/>
        </p:nvSpPr>
        <p:spPr>
          <a:xfrm>
            <a:off x="7220981" y="4768732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流程圖: 接點 13"/>
          <p:cNvSpPr/>
          <p:nvPr/>
        </p:nvSpPr>
        <p:spPr>
          <a:xfrm>
            <a:off x="7270858" y="4851857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流程圖: 接點 14"/>
          <p:cNvSpPr/>
          <p:nvPr/>
        </p:nvSpPr>
        <p:spPr>
          <a:xfrm>
            <a:off x="7470362" y="4768729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流程圖: 接點 15"/>
          <p:cNvSpPr/>
          <p:nvPr/>
        </p:nvSpPr>
        <p:spPr>
          <a:xfrm>
            <a:off x="7503613" y="4826920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流程圖: 接點 16"/>
          <p:cNvSpPr/>
          <p:nvPr/>
        </p:nvSpPr>
        <p:spPr>
          <a:xfrm>
            <a:off x="7428799" y="4702229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流程圖: 接點 17"/>
          <p:cNvSpPr/>
          <p:nvPr/>
        </p:nvSpPr>
        <p:spPr>
          <a:xfrm>
            <a:off x="7486987" y="4934985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流程圖: 接點 18"/>
          <p:cNvSpPr/>
          <p:nvPr/>
        </p:nvSpPr>
        <p:spPr>
          <a:xfrm>
            <a:off x="7470362" y="4818607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流程圖: 接點 19"/>
          <p:cNvSpPr/>
          <p:nvPr/>
        </p:nvSpPr>
        <p:spPr>
          <a:xfrm>
            <a:off x="7229294" y="4635727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流程圖: 接點 20"/>
          <p:cNvSpPr/>
          <p:nvPr/>
        </p:nvSpPr>
        <p:spPr>
          <a:xfrm>
            <a:off x="7329047" y="4984862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流程圖: 接點 21"/>
          <p:cNvSpPr/>
          <p:nvPr/>
        </p:nvSpPr>
        <p:spPr>
          <a:xfrm>
            <a:off x="7378923" y="4635727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流程圖: 接點 22"/>
          <p:cNvSpPr/>
          <p:nvPr/>
        </p:nvSpPr>
        <p:spPr>
          <a:xfrm>
            <a:off x="7137854" y="4885108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流程圖: 接點 23"/>
          <p:cNvSpPr/>
          <p:nvPr/>
        </p:nvSpPr>
        <p:spPr>
          <a:xfrm>
            <a:off x="7553491" y="4693917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流程圖: 接點 24"/>
          <p:cNvSpPr/>
          <p:nvPr/>
        </p:nvSpPr>
        <p:spPr>
          <a:xfrm>
            <a:off x="7570116" y="4818606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流程圖: 接點 25"/>
          <p:cNvSpPr/>
          <p:nvPr/>
        </p:nvSpPr>
        <p:spPr>
          <a:xfrm>
            <a:off x="7387236" y="4810295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流程圖: 接點 26"/>
          <p:cNvSpPr/>
          <p:nvPr/>
        </p:nvSpPr>
        <p:spPr>
          <a:xfrm>
            <a:off x="7262545" y="4768731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流程圖: 接點 27"/>
          <p:cNvSpPr/>
          <p:nvPr/>
        </p:nvSpPr>
        <p:spPr>
          <a:xfrm>
            <a:off x="7445424" y="4710542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流程圖: 接點 28"/>
          <p:cNvSpPr/>
          <p:nvPr/>
        </p:nvSpPr>
        <p:spPr>
          <a:xfrm>
            <a:off x="7453736" y="4743793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流程圖: 接點 29"/>
          <p:cNvSpPr/>
          <p:nvPr/>
        </p:nvSpPr>
        <p:spPr>
          <a:xfrm>
            <a:off x="7412173" y="4777044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流程圖: 接點 30"/>
          <p:cNvSpPr/>
          <p:nvPr/>
        </p:nvSpPr>
        <p:spPr>
          <a:xfrm>
            <a:off x="7304108" y="4851857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流程圖: 接點 31"/>
          <p:cNvSpPr/>
          <p:nvPr/>
        </p:nvSpPr>
        <p:spPr>
          <a:xfrm>
            <a:off x="7312421" y="4910049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流程圖: 接點 32"/>
          <p:cNvSpPr/>
          <p:nvPr/>
        </p:nvSpPr>
        <p:spPr>
          <a:xfrm>
            <a:off x="7320735" y="4777045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流程圖: 接點 33"/>
          <p:cNvSpPr/>
          <p:nvPr/>
        </p:nvSpPr>
        <p:spPr>
          <a:xfrm>
            <a:off x="7370609" y="4826917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流程圖: 接點 34"/>
          <p:cNvSpPr/>
          <p:nvPr/>
        </p:nvSpPr>
        <p:spPr>
          <a:xfrm>
            <a:off x="7329048" y="4826918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流程圖: 接點 35"/>
          <p:cNvSpPr/>
          <p:nvPr/>
        </p:nvSpPr>
        <p:spPr>
          <a:xfrm>
            <a:off x="7462049" y="4851856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流程圖: 接點 36"/>
          <p:cNvSpPr/>
          <p:nvPr/>
        </p:nvSpPr>
        <p:spPr>
          <a:xfrm>
            <a:off x="7437110" y="4826920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流程圖: 接點 37"/>
          <p:cNvSpPr/>
          <p:nvPr/>
        </p:nvSpPr>
        <p:spPr>
          <a:xfrm>
            <a:off x="7412174" y="4934985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流程圖: 接點 38"/>
          <p:cNvSpPr/>
          <p:nvPr/>
        </p:nvSpPr>
        <p:spPr>
          <a:xfrm>
            <a:off x="7403862" y="4901734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流程圖: 接點 39"/>
          <p:cNvSpPr/>
          <p:nvPr/>
        </p:nvSpPr>
        <p:spPr>
          <a:xfrm>
            <a:off x="7478675" y="4685602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流程圖: 接點 40"/>
          <p:cNvSpPr/>
          <p:nvPr/>
        </p:nvSpPr>
        <p:spPr>
          <a:xfrm>
            <a:off x="7262542" y="4810293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流程圖: 接點 41"/>
          <p:cNvSpPr/>
          <p:nvPr/>
        </p:nvSpPr>
        <p:spPr>
          <a:xfrm>
            <a:off x="7179417" y="5001488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流程圖: 接點 42"/>
          <p:cNvSpPr/>
          <p:nvPr/>
        </p:nvSpPr>
        <p:spPr>
          <a:xfrm>
            <a:off x="7437112" y="5001487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流程圖: 接點 43"/>
          <p:cNvSpPr/>
          <p:nvPr/>
        </p:nvSpPr>
        <p:spPr>
          <a:xfrm>
            <a:off x="7295796" y="4934985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流程圖: 接點 44"/>
          <p:cNvSpPr/>
          <p:nvPr/>
        </p:nvSpPr>
        <p:spPr>
          <a:xfrm>
            <a:off x="7171106" y="4868482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流程圖: 接點 45"/>
          <p:cNvSpPr/>
          <p:nvPr/>
        </p:nvSpPr>
        <p:spPr>
          <a:xfrm>
            <a:off x="7220981" y="4843544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流程圖: 接點 46"/>
          <p:cNvSpPr/>
          <p:nvPr/>
        </p:nvSpPr>
        <p:spPr>
          <a:xfrm>
            <a:off x="7345671" y="5101241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流程圖: 接點 47"/>
          <p:cNvSpPr/>
          <p:nvPr/>
        </p:nvSpPr>
        <p:spPr>
          <a:xfrm>
            <a:off x="7270856" y="5001487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流程圖: 接點 48"/>
          <p:cNvSpPr/>
          <p:nvPr/>
        </p:nvSpPr>
        <p:spPr>
          <a:xfrm>
            <a:off x="7370605" y="4702226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流程圖: 接點 49"/>
          <p:cNvSpPr/>
          <p:nvPr/>
        </p:nvSpPr>
        <p:spPr>
          <a:xfrm>
            <a:off x="7403859" y="4735481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流程圖: 接點 50"/>
          <p:cNvSpPr/>
          <p:nvPr/>
        </p:nvSpPr>
        <p:spPr>
          <a:xfrm>
            <a:off x="7179417" y="4735478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流程圖: 接點 51"/>
          <p:cNvSpPr/>
          <p:nvPr/>
        </p:nvSpPr>
        <p:spPr>
          <a:xfrm>
            <a:off x="7262545" y="4702230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流程圖: 接點 52"/>
          <p:cNvSpPr/>
          <p:nvPr/>
        </p:nvSpPr>
        <p:spPr>
          <a:xfrm>
            <a:off x="7320733" y="4727169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4" name="流程圖: 接點 53"/>
          <p:cNvSpPr/>
          <p:nvPr/>
        </p:nvSpPr>
        <p:spPr>
          <a:xfrm>
            <a:off x="7403858" y="4660668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流程圖: 接點 54"/>
          <p:cNvSpPr/>
          <p:nvPr/>
        </p:nvSpPr>
        <p:spPr>
          <a:xfrm>
            <a:off x="7345672" y="4677290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流程圖: 接點 55"/>
          <p:cNvSpPr/>
          <p:nvPr/>
        </p:nvSpPr>
        <p:spPr>
          <a:xfrm>
            <a:off x="6738843" y="4710541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7" name="流程圖: 接點 56"/>
          <p:cNvSpPr/>
          <p:nvPr/>
        </p:nvSpPr>
        <p:spPr>
          <a:xfrm>
            <a:off x="5051362" y="5126178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8" name="流程圖: 接點 57"/>
          <p:cNvSpPr/>
          <p:nvPr/>
        </p:nvSpPr>
        <p:spPr>
          <a:xfrm>
            <a:off x="4469473" y="2008910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流程圖: 接點 58"/>
          <p:cNvSpPr/>
          <p:nvPr/>
        </p:nvSpPr>
        <p:spPr>
          <a:xfrm>
            <a:off x="5306285" y="1981201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0" name="流程圖: 接點 59"/>
          <p:cNvSpPr/>
          <p:nvPr/>
        </p:nvSpPr>
        <p:spPr>
          <a:xfrm>
            <a:off x="4957151" y="1873134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流程圖: 接點 60"/>
          <p:cNvSpPr/>
          <p:nvPr/>
        </p:nvSpPr>
        <p:spPr>
          <a:xfrm>
            <a:off x="4466700" y="2962103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流程圖: 接點 61"/>
          <p:cNvSpPr/>
          <p:nvPr/>
        </p:nvSpPr>
        <p:spPr>
          <a:xfrm>
            <a:off x="6378626" y="1981201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流程圖: 接點 62"/>
          <p:cNvSpPr/>
          <p:nvPr/>
        </p:nvSpPr>
        <p:spPr>
          <a:xfrm>
            <a:off x="4940525" y="2513215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流程圖: 接點 63"/>
          <p:cNvSpPr/>
          <p:nvPr/>
        </p:nvSpPr>
        <p:spPr>
          <a:xfrm>
            <a:off x="6012867" y="2704407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流程圖: 接點 64"/>
          <p:cNvSpPr/>
          <p:nvPr/>
        </p:nvSpPr>
        <p:spPr>
          <a:xfrm>
            <a:off x="4383571" y="2637905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6" name="流程圖: 接點 65"/>
          <p:cNvSpPr/>
          <p:nvPr/>
        </p:nvSpPr>
        <p:spPr>
          <a:xfrm>
            <a:off x="4466700" y="3610495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流程圖: 接點 66"/>
          <p:cNvSpPr/>
          <p:nvPr/>
        </p:nvSpPr>
        <p:spPr>
          <a:xfrm>
            <a:off x="4807521" y="3311238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8" name="流程圖: 接點 67"/>
          <p:cNvSpPr/>
          <p:nvPr/>
        </p:nvSpPr>
        <p:spPr>
          <a:xfrm>
            <a:off x="5447602" y="2696095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9" name="流程圖: 接點 68"/>
          <p:cNvSpPr/>
          <p:nvPr/>
        </p:nvSpPr>
        <p:spPr>
          <a:xfrm>
            <a:off x="5879864" y="2155769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0" name="流程圖: 接點 69"/>
          <p:cNvSpPr/>
          <p:nvPr/>
        </p:nvSpPr>
        <p:spPr>
          <a:xfrm>
            <a:off x="7018704" y="1981201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1" name="流程圖: 接點 70"/>
          <p:cNvSpPr/>
          <p:nvPr/>
        </p:nvSpPr>
        <p:spPr>
          <a:xfrm>
            <a:off x="4898962" y="2180705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2" name="流程圖: 接點 71"/>
          <p:cNvSpPr/>
          <p:nvPr/>
        </p:nvSpPr>
        <p:spPr>
          <a:xfrm>
            <a:off x="4641266" y="2280459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3" name="流程圖: 接點 72"/>
          <p:cNvSpPr/>
          <p:nvPr/>
        </p:nvSpPr>
        <p:spPr>
          <a:xfrm>
            <a:off x="5015342" y="2887288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4" name="流程圖: 接點 73"/>
          <p:cNvSpPr/>
          <p:nvPr/>
        </p:nvSpPr>
        <p:spPr>
          <a:xfrm>
            <a:off x="5696982" y="1923013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5" name="流程圖: 接點 74"/>
          <p:cNvSpPr/>
          <p:nvPr/>
        </p:nvSpPr>
        <p:spPr>
          <a:xfrm>
            <a:off x="5148345" y="2280459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6" name="流程圖: 接點 75"/>
          <p:cNvSpPr/>
          <p:nvPr/>
        </p:nvSpPr>
        <p:spPr>
          <a:xfrm>
            <a:off x="5838300" y="3111732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7" name="流程圖: 接點 76"/>
          <p:cNvSpPr/>
          <p:nvPr/>
        </p:nvSpPr>
        <p:spPr>
          <a:xfrm>
            <a:off x="4458387" y="3336175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8" name="流程圖: 接點 77"/>
          <p:cNvSpPr/>
          <p:nvPr/>
        </p:nvSpPr>
        <p:spPr>
          <a:xfrm>
            <a:off x="4258881" y="2056017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9" name="流程圖: 接點 78"/>
          <p:cNvSpPr/>
          <p:nvPr/>
        </p:nvSpPr>
        <p:spPr>
          <a:xfrm>
            <a:off x="4466700" y="1756758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0" name="流程圖: 接點 79"/>
          <p:cNvSpPr/>
          <p:nvPr/>
        </p:nvSpPr>
        <p:spPr>
          <a:xfrm>
            <a:off x="4608016" y="2654531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1" name="流程圖: 接點 80"/>
          <p:cNvSpPr/>
          <p:nvPr/>
        </p:nvSpPr>
        <p:spPr>
          <a:xfrm>
            <a:off x="4483325" y="2405150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2" name="流程圖: 接點 81"/>
          <p:cNvSpPr/>
          <p:nvPr/>
        </p:nvSpPr>
        <p:spPr>
          <a:xfrm>
            <a:off x="4258881" y="2330336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3" name="流程圖: 接點 82"/>
          <p:cNvSpPr/>
          <p:nvPr/>
        </p:nvSpPr>
        <p:spPr>
          <a:xfrm>
            <a:off x="4242254" y="3244736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4" name="流程圖: 接點 83"/>
          <p:cNvSpPr/>
          <p:nvPr/>
        </p:nvSpPr>
        <p:spPr>
          <a:xfrm>
            <a:off x="4699457" y="3111732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5" name="流程圖: 接點 84"/>
          <p:cNvSpPr/>
          <p:nvPr/>
        </p:nvSpPr>
        <p:spPr>
          <a:xfrm>
            <a:off x="4699456" y="2039390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6" name="流程圖: 接點 85"/>
          <p:cNvSpPr/>
          <p:nvPr/>
        </p:nvSpPr>
        <p:spPr>
          <a:xfrm>
            <a:off x="4716082" y="1848197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7" name="流程圖: 接點 86"/>
          <p:cNvSpPr/>
          <p:nvPr/>
        </p:nvSpPr>
        <p:spPr>
          <a:xfrm>
            <a:off x="5597232" y="2164080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8" name="流程圖: 接點 87"/>
          <p:cNvSpPr/>
          <p:nvPr/>
        </p:nvSpPr>
        <p:spPr>
          <a:xfrm>
            <a:off x="5314599" y="2338648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9" name="流程圖: 接點 88"/>
          <p:cNvSpPr/>
          <p:nvPr/>
        </p:nvSpPr>
        <p:spPr>
          <a:xfrm>
            <a:off x="5381100" y="1806634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0" name="流程圖: 接點 89"/>
          <p:cNvSpPr/>
          <p:nvPr/>
        </p:nvSpPr>
        <p:spPr>
          <a:xfrm>
            <a:off x="6087681" y="1889761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1" name="流程圖: 接點 90"/>
          <p:cNvSpPr/>
          <p:nvPr/>
        </p:nvSpPr>
        <p:spPr>
          <a:xfrm>
            <a:off x="6129245" y="2172393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流程圖: 接點 91"/>
          <p:cNvSpPr/>
          <p:nvPr/>
        </p:nvSpPr>
        <p:spPr>
          <a:xfrm>
            <a:off x="5854926" y="1814946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3" name="流程圖: 接點 92"/>
          <p:cNvSpPr/>
          <p:nvPr/>
        </p:nvSpPr>
        <p:spPr>
          <a:xfrm>
            <a:off x="5672046" y="2297084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4" name="流程圖: 接點 93"/>
          <p:cNvSpPr/>
          <p:nvPr/>
        </p:nvSpPr>
        <p:spPr>
          <a:xfrm>
            <a:off x="5115092" y="2629592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5" name="流程圖: 接點 94"/>
          <p:cNvSpPr/>
          <p:nvPr/>
        </p:nvSpPr>
        <p:spPr>
          <a:xfrm>
            <a:off x="5339538" y="3261362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6" name="流程圖: 接點 95"/>
          <p:cNvSpPr/>
          <p:nvPr/>
        </p:nvSpPr>
        <p:spPr>
          <a:xfrm>
            <a:off x="5173285" y="2496589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7" name="流程圖: 接點 96"/>
          <p:cNvSpPr/>
          <p:nvPr/>
        </p:nvSpPr>
        <p:spPr>
          <a:xfrm>
            <a:off x="5622170" y="3070167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8" name="流程圖: 接點 97"/>
          <p:cNvSpPr/>
          <p:nvPr/>
        </p:nvSpPr>
        <p:spPr>
          <a:xfrm>
            <a:off x="6253935" y="1773384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9" name="流程圖: 接點 98"/>
          <p:cNvSpPr/>
          <p:nvPr/>
        </p:nvSpPr>
        <p:spPr>
          <a:xfrm>
            <a:off x="4466700" y="1981201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0" name="流程圖: 接點 99"/>
          <p:cNvSpPr/>
          <p:nvPr/>
        </p:nvSpPr>
        <p:spPr>
          <a:xfrm>
            <a:off x="5101238" y="2017222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1" name="流程圖: 接點 100"/>
          <p:cNvSpPr/>
          <p:nvPr/>
        </p:nvSpPr>
        <p:spPr>
          <a:xfrm>
            <a:off x="4910045" y="3114503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2" name="流程圖: 接點 101"/>
          <p:cNvSpPr/>
          <p:nvPr/>
        </p:nvSpPr>
        <p:spPr>
          <a:xfrm>
            <a:off x="6580902" y="2216728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3" name="流程圖: 接點 102"/>
          <p:cNvSpPr/>
          <p:nvPr/>
        </p:nvSpPr>
        <p:spPr>
          <a:xfrm>
            <a:off x="5982388" y="2416233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4" name="流程圖: 接點 103"/>
          <p:cNvSpPr/>
          <p:nvPr/>
        </p:nvSpPr>
        <p:spPr>
          <a:xfrm>
            <a:off x="6880159" y="1751216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5" name="流程圖: 接點 104"/>
          <p:cNvSpPr/>
          <p:nvPr/>
        </p:nvSpPr>
        <p:spPr>
          <a:xfrm>
            <a:off x="6664030" y="1900845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6" name="流程圖: 接點 105"/>
          <p:cNvSpPr/>
          <p:nvPr/>
        </p:nvSpPr>
        <p:spPr>
          <a:xfrm>
            <a:off x="5708069" y="2624050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7" name="流程圖: 接點 106"/>
          <p:cNvSpPr/>
          <p:nvPr/>
        </p:nvSpPr>
        <p:spPr>
          <a:xfrm>
            <a:off x="5284117" y="2948252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8" name="流程圖: 接點 107"/>
          <p:cNvSpPr/>
          <p:nvPr/>
        </p:nvSpPr>
        <p:spPr>
          <a:xfrm>
            <a:off x="6364772" y="2399607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9" name="流程圖: 接點 108"/>
          <p:cNvSpPr/>
          <p:nvPr/>
        </p:nvSpPr>
        <p:spPr>
          <a:xfrm>
            <a:off x="5092927" y="3056315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0" name="流程圖: 接點 109"/>
          <p:cNvSpPr/>
          <p:nvPr/>
        </p:nvSpPr>
        <p:spPr>
          <a:xfrm>
            <a:off x="4710540" y="3596641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1" name="流程圖: 接點 110"/>
          <p:cNvSpPr/>
          <p:nvPr/>
        </p:nvSpPr>
        <p:spPr>
          <a:xfrm>
            <a:off x="6863534" y="2225041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2" name="流程圖: 接點 111"/>
          <p:cNvSpPr/>
          <p:nvPr/>
        </p:nvSpPr>
        <p:spPr>
          <a:xfrm>
            <a:off x="5832758" y="2831869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3" name="流程圖: 接點 112"/>
          <p:cNvSpPr/>
          <p:nvPr/>
        </p:nvSpPr>
        <p:spPr>
          <a:xfrm>
            <a:off x="6389710" y="2690553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4" name="流程圖: 接點 113"/>
          <p:cNvSpPr/>
          <p:nvPr/>
        </p:nvSpPr>
        <p:spPr>
          <a:xfrm>
            <a:off x="5059677" y="3430386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5" name="流程圖: 接點 114"/>
          <p:cNvSpPr/>
          <p:nvPr/>
        </p:nvSpPr>
        <p:spPr>
          <a:xfrm>
            <a:off x="4718853" y="2881742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6" name="流程圖: 接點 115"/>
          <p:cNvSpPr/>
          <p:nvPr/>
        </p:nvSpPr>
        <p:spPr>
          <a:xfrm>
            <a:off x="4419596" y="2266604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7" name="文字方塊 116"/>
          <p:cNvSpPr txBox="1"/>
          <p:nvPr/>
        </p:nvSpPr>
        <p:spPr>
          <a:xfrm>
            <a:off x="7082916" y="2028285"/>
            <a:ext cx="3978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 smtClean="0"/>
              <a:t>C1</a:t>
            </a:r>
            <a:endParaRPr lang="zh-TW" altLang="en-US" sz="1600" dirty="0"/>
          </a:p>
        </p:txBody>
      </p:sp>
      <p:sp>
        <p:nvSpPr>
          <p:cNvPr id="118" name="文字方塊 117"/>
          <p:cNvSpPr txBox="1"/>
          <p:nvPr/>
        </p:nvSpPr>
        <p:spPr>
          <a:xfrm>
            <a:off x="7351663" y="4301054"/>
            <a:ext cx="3978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 smtClean="0"/>
              <a:t>C2</a:t>
            </a:r>
            <a:endParaRPr lang="zh-TW" altLang="en-US" sz="1600" dirty="0"/>
          </a:p>
        </p:txBody>
      </p:sp>
      <p:sp>
        <p:nvSpPr>
          <p:cNvPr id="119" name="文字方塊 118"/>
          <p:cNvSpPr txBox="1"/>
          <p:nvPr/>
        </p:nvSpPr>
        <p:spPr>
          <a:xfrm>
            <a:off x="6578124" y="4366446"/>
            <a:ext cx="3978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 smtClean="0"/>
              <a:t>o1</a:t>
            </a:r>
            <a:endParaRPr lang="zh-TW" altLang="en-US" sz="1600" dirty="0"/>
          </a:p>
        </p:txBody>
      </p:sp>
      <p:sp>
        <p:nvSpPr>
          <p:cNvPr id="120" name="文字方塊 119"/>
          <p:cNvSpPr txBox="1"/>
          <p:nvPr/>
        </p:nvSpPr>
        <p:spPr>
          <a:xfrm>
            <a:off x="4908388" y="4782541"/>
            <a:ext cx="3978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/>
              <a:t>o</a:t>
            </a:r>
            <a:r>
              <a:rPr lang="en-US" altLang="zh-TW" sz="1600" dirty="0" smtClean="0"/>
              <a:t>1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132181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流程圖: 替代程序 1"/>
          <p:cNvSpPr/>
          <p:nvPr/>
        </p:nvSpPr>
        <p:spPr>
          <a:xfrm>
            <a:off x="3691831" y="373311"/>
            <a:ext cx="1080000" cy="288000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MQTT Broker</a:t>
            </a:r>
            <a:endParaRPr lang="zh-TW" altLang="en-US" sz="1200" dirty="0"/>
          </a:p>
        </p:txBody>
      </p:sp>
      <p:sp>
        <p:nvSpPr>
          <p:cNvPr id="3" name="流程圖: 替代程序 2"/>
          <p:cNvSpPr/>
          <p:nvPr/>
        </p:nvSpPr>
        <p:spPr>
          <a:xfrm>
            <a:off x="3475831" y="908009"/>
            <a:ext cx="1512000" cy="288000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Streaming Windows</a:t>
            </a:r>
            <a:endParaRPr lang="zh-TW" altLang="en-US" sz="1200" dirty="0"/>
          </a:p>
        </p:txBody>
      </p:sp>
      <p:sp>
        <p:nvSpPr>
          <p:cNvPr id="4" name="流程圖: 替代程序 3"/>
          <p:cNvSpPr/>
          <p:nvPr/>
        </p:nvSpPr>
        <p:spPr>
          <a:xfrm>
            <a:off x="3331831" y="1455237"/>
            <a:ext cx="1800000" cy="432000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Data Transform</a:t>
            </a:r>
          </a:p>
          <a:p>
            <a:pPr algn="ctr"/>
            <a:r>
              <a:rPr lang="en-US" altLang="zh-TW" sz="1200" dirty="0" smtClean="0"/>
              <a:t>(</a:t>
            </a:r>
            <a:r>
              <a:rPr lang="en-US" altLang="zh-TW" sz="1200" dirty="0" err="1" smtClean="0"/>
              <a:t>foreachRDD</a:t>
            </a:r>
            <a:r>
              <a:rPr lang="en-US" altLang="zh-TW" sz="1200" dirty="0" smtClean="0"/>
              <a:t>)</a:t>
            </a:r>
            <a:endParaRPr lang="zh-TW" altLang="en-US" sz="1200" dirty="0"/>
          </a:p>
        </p:txBody>
      </p:sp>
      <p:sp>
        <p:nvSpPr>
          <p:cNvPr id="5" name="流程圖: 決策 4"/>
          <p:cNvSpPr/>
          <p:nvPr/>
        </p:nvSpPr>
        <p:spPr>
          <a:xfrm>
            <a:off x="2748369" y="2140200"/>
            <a:ext cx="2966924" cy="60400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Check Data Segments numbers</a:t>
            </a:r>
            <a:endParaRPr lang="zh-TW" altLang="en-US" sz="1200" dirty="0"/>
          </a:p>
        </p:txBody>
      </p:sp>
      <p:cxnSp>
        <p:nvCxnSpPr>
          <p:cNvPr id="8" name="直線單箭頭接點 7"/>
          <p:cNvCxnSpPr>
            <a:stCxn id="2" idx="2"/>
            <a:endCxn id="3" idx="0"/>
          </p:cNvCxnSpPr>
          <p:nvPr/>
        </p:nvCxnSpPr>
        <p:spPr>
          <a:xfrm>
            <a:off x="4231831" y="661311"/>
            <a:ext cx="0" cy="2466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線單箭頭接點 8"/>
          <p:cNvCxnSpPr>
            <a:stCxn id="3" idx="2"/>
            <a:endCxn id="4" idx="0"/>
          </p:cNvCxnSpPr>
          <p:nvPr/>
        </p:nvCxnSpPr>
        <p:spPr>
          <a:xfrm>
            <a:off x="4231831" y="1196009"/>
            <a:ext cx="0" cy="259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>
            <a:stCxn id="4" idx="2"/>
            <a:endCxn id="5" idx="0"/>
          </p:cNvCxnSpPr>
          <p:nvPr/>
        </p:nvCxnSpPr>
        <p:spPr>
          <a:xfrm>
            <a:off x="4231831" y="1887237"/>
            <a:ext cx="0" cy="252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>
            <a:stCxn id="5" idx="2"/>
          </p:cNvCxnSpPr>
          <p:nvPr/>
        </p:nvCxnSpPr>
        <p:spPr>
          <a:xfrm>
            <a:off x="4231831" y="2744206"/>
            <a:ext cx="0" cy="2548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文字方塊 13"/>
          <p:cNvSpPr txBox="1"/>
          <p:nvPr/>
        </p:nvSpPr>
        <p:spPr>
          <a:xfrm>
            <a:off x="5088318" y="2915224"/>
            <a:ext cx="7603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Near at 1</a:t>
            </a:r>
            <a:endParaRPr lang="zh-TW" altLang="en-US" sz="1200" dirty="0"/>
          </a:p>
        </p:txBody>
      </p:sp>
      <p:sp>
        <p:nvSpPr>
          <p:cNvPr id="17" name="流程圖: 替代程序 16"/>
          <p:cNvSpPr/>
          <p:nvPr/>
        </p:nvSpPr>
        <p:spPr>
          <a:xfrm>
            <a:off x="3421831" y="2997169"/>
            <a:ext cx="1620000" cy="360000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Training LOF Module</a:t>
            </a:r>
            <a:endParaRPr lang="zh-TW" altLang="en-US" sz="1200" dirty="0"/>
          </a:p>
        </p:txBody>
      </p:sp>
      <p:sp>
        <p:nvSpPr>
          <p:cNvPr id="20" name="流程圖: 決策 19"/>
          <p:cNvSpPr/>
          <p:nvPr/>
        </p:nvSpPr>
        <p:spPr>
          <a:xfrm>
            <a:off x="2869722" y="3610132"/>
            <a:ext cx="2724218" cy="522029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LOF Value</a:t>
            </a:r>
            <a:endParaRPr lang="zh-TW" altLang="en-US" sz="1200" dirty="0"/>
          </a:p>
        </p:txBody>
      </p:sp>
      <p:cxnSp>
        <p:nvCxnSpPr>
          <p:cNvPr id="22" name="直線單箭頭接點 21"/>
          <p:cNvCxnSpPr>
            <a:stCxn id="17" idx="2"/>
            <a:endCxn id="20" idx="0"/>
          </p:cNvCxnSpPr>
          <p:nvPr/>
        </p:nvCxnSpPr>
        <p:spPr>
          <a:xfrm>
            <a:off x="4231831" y="3357169"/>
            <a:ext cx="0" cy="252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文字方塊 26"/>
          <p:cNvSpPr txBox="1"/>
          <p:nvPr/>
        </p:nvSpPr>
        <p:spPr>
          <a:xfrm>
            <a:off x="5150287" y="1446026"/>
            <a:ext cx="9220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Not Enough</a:t>
            </a:r>
            <a:endParaRPr lang="zh-TW" altLang="en-US" sz="1200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4183592" y="2687428"/>
            <a:ext cx="6543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Enough</a:t>
            </a:r>
            <a:endParaRPr lang="zh-TW" altLang="en-US" sz="1200" dirty="0"/>
          </a:p>
        </p:txBody>
      </p:sp>
      <p:grpSp>
        <p:nvGrpSpPr>
          <p:cNvPr id="55" name="群組 54"/>
          <p:cNvGrpSpPr/>
          <p:nvPr/>
        </p:nvGrpSpPr>
        <p:grpSpPr>
          <a:xfrm>
            <a:off x="5131831" y="1671237"/>
            <a:ext cx="583462" cy="770966"/>
            <a:chOff x="5131831" y="1671237"/>
            <a:chExt cx="583462" cy="770966"/>
          </a:xfrm>
        </p:grpSpPr>
        <p:cxnSp>
          <p:nvCxnSpPr>
            <p:cNvPr id="52" name="直線接點 51"/>
            <p:cNvCxnSpPr>
              <a:stCxn id="5" idx="3"/>
            </p:cNvCxnSpPr>
            <p:nvPr/>
          </p:nvCxnSpPr>
          <p:spPr>
            <a:xfrm flipV="1">
              <a:off x="5715293" y="1671237"/>
              <a:ext cx="0" cy="77096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直線單箭頭接點 53"/>
            <p:cNvCxnSpPr/>
            <p:nvPr/>
          </p:nvCxnSpPr>
          <p:spPr>
            <a:xfrm flipH="1">
              <a:off x="5131831" y="1671237"/>
              <a:ext cx="58346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8" name="群組 67"/>
          <p:cNvGrpSpPr/>
          <p:nvPr/>
        </p:nvGrpSpPr>
        <p:grpSpPr>
          <a:xfrm>
            <a:off x="5041831" y="3177169"/>
            <a:ext cx="552109" cy="693978"/>
            <a:chOff x="5041831" y="3177169"/>
            <a:chExt cx="552109" cy="693978"/>
          </a:xfrm>
        </p:grpSpPr>
        <p:cxnSp>
          <p:nvCxnSpPr>
            <p:cNvPr id="26" name="直線單箭頭接點 25"/>
            <p:cNvCxnSpPr>
              <a:endCxn id="17" idx="3"/>
            </p:cNvCxnSpPr>
            <p:nvPr/>
          </p:nvCxnSpPr>
          <p:spPr>
            <a:xfrm flipH="1">
              <a:off x="5041831" y="3177169"/>
              <a:ext cx="55210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直線接點 66"/>
            <p:cNvCxnSpPr>
              <a:stCxn id="20" idx="3"/>
            </p:cNvCxnSpPr>
            <p:nvPr/>
          </p:nvCxnSpPr>
          <p:spPr>
            <a:xfrm flipV="1">
              <a:off x="5593940" y="3177169"/>
              <a:ext cx="0" cy="69397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70" name="直線接點 69"/>
          <p:cNvCxnSpPr>
            <a:stCxn id="4" idx="1"/>
          </p:cNvCxnSpPr>
          <p:nvPr/>
        </p:nvCxnSpPr>
        <p:spPr>
          <a:xfrm flipH="1">
            <a:off x="2344189" y="1671237"/>
            <a:ext cx="98764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直線接點 71"/>
          <p:cNvCxnSpPr/>
          <p:nvPr/>
        </p:nvCxnSpPr>
        <p:spPr>
          <a:xfrm>
            <a:off x="2335877" y="1671237"/>
            <a:ext cx="0" cy="21999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直線單箭頭接點 73"/>
          <p:cNvCxnSpPr>
            <a:endCxn id="20" idx="1"/>
          </p:cNvCxnSpPr>
          <p:nvPr/>
        </p:nvCxnSpPr>
        <p:spPr>
          <a:xfrm>
            <a:off x="2335877" y="3871146"/>
            <a:ext cx="53384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" name="流程圖: 替代程序 106"/>
          <p:cNvSpPr/>
          <p:nvPr/>
        </p:nvSpPr>
        <p:spPr>
          <a:xfrm>
            <a:off x="6226763" y="4601546"/>
            <a:ext cx="2412000" cy="720000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trigger the alert functions, sending warning message</a:t>
            </a:r>
            <a:endParaRPr lang="zh-TW" altLang="en-US" sz="1200" dirty="0"/>
          </a:p>
        </p:txBody>
      </p:sp>
      <p:sp>
        <p:nvSpPr>
          <p:cNvPr id="108" name="文字方塊 107"/>
          <p:cNvSpPr txBox="1"/>
          <p:nvPr/>
        </p:nvSpPr>
        <p:spPr>
          <a:xfrm>
            <a:off x="4206952" y="4304109"/>
            <a:ext cx="17493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Significant greater than 1</a:t>
            </a:r>
            <a:endParaRPr lang="zh-TW" altLang="en-US" sz="1200" dirty="0"/>
          </a:p>
        </p:txBody>
      </p:sp>
      <p:cxnSp>
        <p:nvCxnSpPr>
          <p:cNvPr id="109" name="直線單箭頭接點 108"/>
          <p:cNvCxnSpPr>
            <a:endCxn id="110" idx="0"/>
          </p:cNvCxnSpPr>
          <p:nvPr/>
        </p:nvCxnSpPr>
        <p:spPr>
          <a:xfrm>
            <a:off x="4231831" y="4144858"/>
            <a:ext cx="0" cy="5556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0" name="流程圖: 決策 109"/>
          <p:cNvSpPr/>
          <p:nvPr/>
        </p:nvSpPr>
        <p:spPr>
          <a:xfrm>
            <a:off x="2869722" y="4700532"/>
            <a:ext cx="2724218" cy="522029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Up to Warning Threshold</a:t>
            </a:r>
            <a:endParaRPr lang="zh-TW" altLang="en-US" sz="1200" dirty="0"/>
          </a:p>
        </p:txBody>
      </p:sp>
      <p:cxnSp>
        <p:nvCxnSpPr>
          <p:cNvPr id="111" name="直線單箭頭接點 110"/>
          <p:cNvCxnSpPr>
            <a:stCxn id="110" idx="3"/>
            <a:endCxn id="107" idx="1"/>
          </p:cNvCxnSpPr>
          <p:nvPr/>
        </p:nvCxnSpPr>
        <p:spPr>
          <a:xfrm flipV="1">
            <a:off x="5593940" y="4961546"/>
            <a:ext cx="63282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" name="流程圖: 替代程序 111"/>
          <p:cNvSpPr/>
          <p:nvPr/>
        </p:nvSpPr>
        <p:spPr>
          <a:xfrm>
            <a:off x="3403830" y="5598235"/>
            <a:ext cx="1656002" cy="360000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Reset Warning Counter</a:t>
            </a:r>
            <a:endParaRPr lang="zh-TW" altLang="en-US" sz="1200" dirty="0"/>
          </a:p>
        </p:txBody>
      </p:sp>
      <p:cxnSp>
        <p:nvCxnSpPr>
          <p:cNvPr id="113" name="直線單箭頭接點 112"/>
          <p:cNvCxnSpPr>
            <a:stCxn id="110" idx="2"/>
            <a:endCxn id="112" idx="0"/>
          </p:cNvCxnSpPr>
          <p:nvPr/>
        </p:nvCxnSpPr>
        <p:spPr>
          <a:xfrm>
            <a:off x="4231831" y="5222561"/>
            <a:ext cx="0" cy="3756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4" name="文字方塊 113"/>
          <p:cNvSpPr txBox="1"/>
          <p:nvPr/>
        </p:nvSpPr>
        <p:spPr>
          <a:xfrm>
            <a:off x="5661372" y="4733785"/>
            <a:ext cx="4979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False</a:t>
            </a:r>
            <a:endParaRPr lang="zh-TW" altLang="en-US" sz="1200" dirty="0"/>
          </a:p>
        </p:txBody>
      </p:sp>
      <p:sp>
        <p:nvSpPr>
          <p:cNvPr id="115" name="文字方塊 114"/>
          <p:cNvSpPr txBox="1"/>
          <p:nvPr/>
        </p:nvSpPr>
        <p:spPr>
          <a:xfrm>
            <a:off x="4211841" y="5271898"/>
            <a:ext cx="4604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True</a:t>
            </a:r>
            <a:endParaRPr lang="zh-TW" altLang="en-US" sz="1200" dirty="0"/>
          </a:p>
        </p:txBody>
      </p:sp>
      <p:cxnSp>
        <p:nvCxnSpPr>
          <p:cNvPr id="119" name="直線接點 118"/>
          <p:cNvCxnSpPr/>
          <p:nvPr/>
        </p:nvCxnSpPr>
        <p:spPr>
          <a:xfrm>
            <a:off x="5593940" y="3177169"/>
            <a:ext cx="315936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" name="直線接點 120"/>
          <p:cNvCxnSpPr/>
          <p:nvPr/>
        </p:nvCxnSpPr>
        <p:spPr>
          <a:xfrm>
            <a:off x="8753302" y="3168856"/>
            <a:ext cx="0" cy="2610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直線接點 125"/>
          <p:cNvCxnSpPr>
            <a:stCxn id="112" idx="3"/>
          </p:cNvCxnSpPr>
          <p:nvPr/>
        </p:nvCxnSpPr>
        <p:spPr>
          <a:xfrm flipV="1">
            <a:off x="5059832" y="5777345"/>
            <a:ext cx="3693470" cy="89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0008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流程圖: 替代程序 1"/>
          <p:cNvSpPr/>
          <p:nvPr/>
        </p:nvSpPr>
        <p:spPr>
          <a:xfrm>
            <a:off x="3691831" y="373311"/>
            <a:ext cx="1080000" cy="288000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MQTT Broker</a:t>
            </a:r>
            <a:endParaRPr lang="zh-TW" altLang="en-US" sz="1200" dirty="0"/>
          </a:p>
        </p:txBody>
      </p:sp>
      <p:sp>
        <p:nvSpPr>
          <p:cNvPr id="3" name="流程圖: 替代程序 2"/>
          <p:cNvSpPr/>
          <p:nvPr/>
        </p:nvSpPr>
        <p:spPr>
          <a:xfrm>
            <a:off x="3547831" y="914274"/>
            <a:ext cx="1368000" cy="288000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Spark Streaming</a:t>
            </a:r>
            <a:endParaRPr lang="zh-TW" altLang="en-US" sz="1200" dirty="0"/>
          </a:p>
        </p:txBody>
      </p:sp>
      <p:sp>
        <p:nvSpPr>
          <p:cNvPr id="4" name="流程圖: 替代程序 3"/>
          <p:cNvSpPr/>
          <p:nvPr/>
        </p:nvSpPr>
        <p:spPr>
          <a:xfrm>
            <a:off x="3331831" y="1455237"/>
            <a:ext cx="1800000" cy="432000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Data Transform</a:t>
            </a:r>
          </a:p>
          <a:p>
            <a:pPr algn="ctr"/>
            <a:r>
              <a:rPr lang="en-US" altLang="zh-TW" sz="1200" dirty="0" smtClean="0"/>
              <a:t>(mapWithState)</a:t>
            </a:r>
            <a:endParaRPr lang="zh-TW" altLang="en-US" sz="1200" dirty="0"/>
          </a:p>
        </p:txBody>
      </p:sp>
      <p:sp>
        <p:nvSpPr>
          <p:cNvPr id="5" name="流程圖: 決策 4"/>
          <p:cNvSpPr/>
          <p:nvPr/>
        </p:nvSpPr>
        <p:spPr>
          <a:xfrm>
            <a:off x="2869722" y="2140200"/>
            <a:ext cx="2724218" cy="522029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Check Previous </a:t>
            </a:r>
            <a:r>
              <a:rPr lang="en-US" altLang="zh-TW" sz="1200" dirty="0"/>
              <a:t>S</a:t>
            </a:r>
            <a:r>
              <a:rPr lang="en-US" altLang="zh-TW" sz="1200" dirty="0" smtClean="0"/>
              <a:t>tate</a:t>
            </a:r>
            <a:endParaRPr lang="zh-TW" altLang="en-US" sz="1200" dirty="0"/>
          </a:p>
        </p:txBody>
      </p:sp>
      <p:sp>
        <p:nvSpPr>
          <p:cNvPr id="6" name="流程圖: 替代程序 5"/>
          <p:cNvSpPr/>
          <p:nvPr/>
        </p:nvSpPr>
        <p:spPr>
          <a:xfrm>
            <a:off x="6460766" y="2221214"/>
            <a:ext cx="1260000" cy="360000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Initial Data </a:t>
            </a:r>
            <a:r>
              <a:rPr lang="en-US" altLang="zh-TW" sz="1200" dirty="0"/>
              <a:t>S</a:t>
            </a:r>
            <a:r>
              <a:rPr lang="en-US" altLang="zh-TW" sz="1200" dirty="0" smtClean="0"/>
              <a:t>tate</a:t>
            </a:r>
            <a:endParaRPr lang="zh-TW" altLang="en-US" sz="1200" dirty="0"/>
          </a:p>
        </p:txBody>
      </p:sp>
      <p:sp>
        <p:nvSpPr>
          <p:cNvPr id="7" name="流程圖: 替代程序 6"/>
          <p:cNvSpPr/>
          <p:nvPr/>
        </p:nvSpPr>
        <p:spPr>
          <a:xfrm>
            <a:off x="6209419" y="5120999"/>
            <a:ext cx="2412000" cy="720000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trigger the alert functions, sending warning message</a:t>
            </a:r>
            <a:endParaRPr lang="zh-TW" altLang="en-US" sz="1200" dirty="0"/>
          </a:p>
        </p:txBody>
      </p:sp>
      <p:cxnSp>
        <p:nvCxnSpPr>
          <p:cNvPr id="8" name="直線單箭頭接點 7"/>
          <p:cNvCxnSpPr>
            <a:stCxn id="2" idx="2"/>
            <a:endCxn id="3" idx="0"/>
          </p:cNvCxnSpPr>
          <p:nvPr/>
        </p:nvCxnSpPr>
        <p:spPr>
          <a:xfrm>
            <a:off x="4231831" y="661311"/>
            <a:ext cx="0" cy="252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線單箭頭接點 8"/>
          <p:cNvCxnSpPr>
            <a:stCxn id="3" idx="2"/>
            <a:endCxn id="4" idx="0"/>
          </p:cNvCxnSpPr>
          <p:nvPr/>
        </p:nvCxnSpPr>
        <p:spPr>
          <a:xfrm>
            <a:off x="4231831" y="1202274"/>
            <a:ext cx="0" cy="252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>
            <a:stCxn id="4" idx="2"/>
            <a:endCxn id="5" idx="0"/>
          </p:cNvCxnSpPr>
          <p:nvPr/>
        </p:nvCxnSpPr>
        <p:spPr>
          <a:xfrm>
            <a:off x="4231831" y="1887237"/>
            <a:ext cx="0" cy="252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>
            <a:stCxn id="5" idx="2"/>
            <a:endCxn id="21" idx="0"/>
          </p:cNvCxnSpPr>
          <p:nvPr/>
        </p:nvCxnSpPr>
        <p:spPr>
          <a:xfrm>
            <a:off x="4231831" y="2662229"/>
            <a:ext cx="0" cy="252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>
            <a:stCxn id="5" idx="3"/>
            <a:endCxn id="6" idx="1"/>
          </p:cNvCxnSpPr>
          <p:nvPr/>
        </p:nvCxnSpPr>
        <p:spPr>
          <a:xfrm flipV="1">
            <a:off x="5593940" y="2401214"/>
            <a:ext cx="86682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5661373" y="4340867"/>
            <a:ext cx="4979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False</a:t>
            </a:r>
            <a:endParaRPr lang="zh-TW" altLang="en-US" sz="12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4206952" y="4825176"/>
            <a:ext cx="4604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True</a:t>
            </a:r>
            <a:endParaRPr lang="zh-TW" altLang="en-US" sz="1200" dirty="0"/>
          </a:p>
        </p:txBody>
      </p:sp>
      <p:sp>
        <p:nvSpPr>
          <p:cNvPr id="21" name="流程圖: 決策 20"/>
          <p:cNvSpPr/>
          <p:nvPr/>
        </p:nvSpPr>
        <p:spPr>
          <a:xfrm>
            <a:off x="2869722" y="2915192"/>
            <a:ext cx="2724218" cy="522029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Check the Number of </a:t>
            </a:r>
            <a:r>
              <a:rPr lang="en-US" altLang="zh-TW" sz="1200" dirty="0"/>
              <a:t>T</a:t>
            </a:r>
            <a:r>
              <a:rPr lang="en-US" altLang="zh-TW" sz="1200" dirty="0" smtClean="0"/>
              <a:t>raining Sample</a:t>
            </a:r>
            <a:endParaRPr lang="zh-TW" altLang="en-US" sz="1200" dirty="0"/>
          </a:p>
        </p:txBody>
      </p:sp>
      <p:sp>
        <p:nvSpPr>
          <p:cNvPr id="22" name="流程圖: 替代程序 21"/>
          <p:cNvSpPr/>
          <p:nvPr/>
        </p:nvSpPr>
        <p:spPr>
          <a:xfrm>
            <a:off x="1509150" y="3690184"/>
            <a:ext cx="1152000" cy="360000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Previous State</a:t>
            </a:r>
            <a:endParaRPr lang="zh-TW" altLang="en-US" sz="1200" dirty="0"/>
          </a:p>
        </p:txBody>
      </p:sp>
      <p:sp>
        <p:nvSpPr>
          <p:cNvPr id="23" name="流程圖: 替代程序 22"/>
          <p:cNvSpPr/>
          <p:nvPr/>
        </p:nvSpPr>
        <p:spPr>
          <a:xfrm>
            <a:off x="6226766" y="2906206"/>
            <a:ext cx="1728000" cy="540000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Compute Mean and SD, Update Data State</a:t>
            </a:r>
            <a:endParaRPr lang="zh-TW" altLang="en-US" sz="1200" dirty="0"/>
          </a:p>
        </p:txBody>
      </p:sp>
      <p:sp>
        <p:nvSpPr>
          <p:cNvPr id="24" name="流程圖: 替代程序 23"/>
          <p:cNvSpPr/>
          <p:nvPr/>
        </p:nvSpPr>
        <p:spPr>
          <a:xfrm>
            <a:off x="3547831" y="3690184"/>
            <a:ext cx="1368000" cy="360000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Get Normal Range</a:t>
            </a:r>
            <a:endParaRPr lang="zh-TW" altLang="en-US" sz="1200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1641663" y="3413185"/>
            <a:ext cx="8869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Checkpoint</a:t>
            </a:r>
            <a:endParaRPr lang="zh-TW" altLang="en-US" sz="1200" dirty="0"/>
          </a:p>
        </p:txBody>
      </p:sp>
      <p:sp>
        <p:nvSpPr>
          <p:cNvPr id="26" name="流程圖: 決策 25"/>
          <p:cNvSpPr/>
          <p:nvPr/>
        </p:nvSpPr>
        <p:spPr>
          <a:xfrm>
            <a:off x="2869722" y="4303147"/>
            <a:ext cx="2724218" cy="522029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Out of </a:t>
            </a:r>
            <a:r>
              <a:rPr lang="en-US" altLang="zh-TW" sz="1200" dirty="0" smtClean="0"/>
              <a:t>3*SD </a:t>
            </a:r>
            <a:r>
              <a:rPr lang="en-US" altLang="zh-TW" sz="1200" dirty="0"/>
              <a:t>Range</a:t>
            </a:r>
            <a:endParaRPr lang="zh-TW" altLang="en-US" sz="1200" dirty="0"/>
          </a:p>
        </p:txBody>
      </p:sp>
      <p:cxnSp>
        <p:nvCxnSpPr>
          <p:cNvPr id="36" name="直線單箭頭接點 35"/>
          <p:cNvCxnSpPr>
            <a:endCxn id="24" idx="0"/>
          </p:cNvCxnSpPr>
          <p:nvPr/>
        </p:nvCxnSpPr>
        <p:spPr>
          <a:xfrm>
            <a:off x="4231831" y="3446206"/>
            <a:ext cx="0" cy="2439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線單箭頭接點 38"/>
          <p:cNvCxnSpPr>
            <a:stCxn id="24" idx="2"/>
            <a:endCxn id="26" idx="0"/>
          </p:cNvCxnSpPr>
          <p:nvPr/>
        </p:nvCxnSpPr>
        <p:spPr>
          <a:xfrm>
            <a:off x="4231831" y="4050184"/>
            <a:ext cx="0" cy="252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>
            <a:stCxn id="26" idx="2"/>
            <a:endCxn id="66" idx="0"/>
          </p:cNvCxnSpPr>
          <p:nvPr/>
        </p:nvCxnSpPr>
        <p:spPr>
          <a:xfrm>
            <a:off x="4231831" y="4825176"/>
            <a:ext cx="0" cy="302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線單箭頭接點 46"/>
          <p:cNvCxnSpPr>
            <a:stCxn id="21" idx="3"/>
            <a:endCxn id="23" idx="1"/>
          </p:cNvCxnSpPr>
          <p:nvPr/>
        </p:nvCxnSpPr>
        <p:spPr>
          <a:xfrm flipV="1">
            <a:off x="5593940" y="3176206"/>
            <a:ext cx="63282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直線單箭頭接點 49"/>
          <p:cNvCxnSpPr>
            <a:stCxn id="22" idx="3"/>
            <a:endCxn id="24" idx="1"/>
          </p:cNvCxnSpPr>
          <p:nvPr/>
        </p:nvCxnSpPr>
        <p:spPr>
          <a:xfrm>
            <a:off x="2661150" y="3870184"/>
            <a:ext cx="8866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線單箭頭接點 52"/>
          <p:cNvCxnSpPr>
            <a:stCxn id="26" idx="3"/>
            <a:endCxn id="63" idx="1"/>
          </p:cNvCxnSpPr>
          <p:nvPr/>
        </p:nvCxnSpPr>
        <p:spPr>
          <a:xfrm flipV="1">
            <a:off x="5593940" y="4564161"/>
            <a:ext cx="63282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文字方塊 56"/>
          <p:cNvSpPr txBox="1"/>
          <p:nvPr/>
        </p:nvSpPr>
        <p:spPr>
          <a:xfrm>
            <a:off x="5661374" y="2173191"/>
            <a:ext cx="4979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False</a:t>
            </a:r>
            <a:endParaRPr lang="zh-TW" altLang="en-US" sz="12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4231831" y="2618754"/>
            <a:ext cx="4730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Exist</a:t>
            </a:r>
            <a:endParaRPr lang="zh-TW" altLang="en-US" sz="12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5661374" y="2948444"/>
            <a:ext cx="4979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False</a:t>
            </a:r>
            <a:endParaRPr lang="zh-TW" altLang="en-US" sz="1200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4206952" y="3401386"/>
            <a:ext cx="6543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Enough</a:t>
            </a:r>
            <a:endParaRPr lang="zh-TW" altLang="en-US" sz="1200" dirty="0"/>
          </a:p>
        </p:txBody>
      </p:sp>
      <p:sp>
        <p:nvSpPr>
          <p:cNvPr id="63" name="流程圖: 替代程序 62"/>
          <p:cNvSpPr/>
          <p:nvPr/>
        </p:nvSpPr>
        <p:spPr>
          <a:xfrm>
            <a:off x="6226763" y="4294161"/>
            <a:ext cx="1728000" cy="540000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Compute Mean and SD, Update Data State</a:t>
            </a:r>
            <a:endParaRPr lang="zh-TW" altLang="en-US" sz="1200" dirty="0"/>
          </a:p>
        </p:txBody>
      </p:sp>
      <p:sp>
        <p:nvSpPr>
          <p:cNvPr id="66" name="流程圖: 決策 65"/>
          <p:cNvSpPr/>
          <p:nvPr/>
        </p:nvSpPr>
        <p:spPr>
          <a:xfrm>
            <a:off x="2869722" y="5127887"/>
            <a:ext cx="2724218" cy="706225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100" dirty="0" smtClean="0"/>
              <a:t>Previous Warning type = This Warning Type</a:t>
            </a:r>
            <a:endParaRPr lang="zh-TW" altLang="en-US" sz="1100" dirty="0"/>
          </a:p>
        </p:txBody>
      </p:sp>
      <p:sp>
        <p:nvSpPr>
          <p:cNvPr id="75" name="流程圖: 替代程序 74"/>
          <p:cNvSpPr/>
          <p:nvPr/>
        </p:nvSpPr>
        <p:spPr>
          <a:xfrm>
            <a:off x="3403830" y="6278553"/>
            <a:ext cx="1656002" cy="360000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Reset Warning Counter</a:t>
            </a:r>
            <a:endParaRPr lang="zh-TW" altLang="en-US" sz="1200" dirty="0"/>
          </a:p>
        </p:txBody>
      </p:sp>
      <p:cxnSp>
        <p:nvCxnSpPr>
          <p:cNvPr id="76" name="直線單箭頭接點 75"/>
          <p:cNvCxnSpPr>
            <a:stCxn id="67" idx="2"/>
            <a:endCxn id="49" idx="0"/>
          </p:cNvCxnSpPr>
          <p:nvPr/>
        </p:nvCxnSpPr>
        <p:spPr>
          <a:xfrm>
            <a:off x="1598211" y="5226843"/>
            <a:ext cx="1422" cy="566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0" name="文字方塊 79"/>
          <p:cNvSpPr txBox="1"/>
          <p:nvPr/>
        </p:nvSpPr>
        <p:spPr>
          <a:xfrm>
            <a:off x="2833370" y="4945186"/>
            <a:ext cx="4604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True</a:t>
            </a:r>
            <a:endParaRPr lang="zh-TW" altLang="en-US" sz="1200" dirty="0"/>
          </a:p>
        </p:txBody>
      </p:sp>
      <p:cxnSp>
        <p:nvCxnSpPr>
          <p:cNvPr id="82" name="直線接點 81"/>
          <p:cNvCxnSpPr/>
          <p:nvPr/>
        </p:nvCxnSpPr>
        <p:spPr>
          <a:xfrm>
            <a:off x="1598211" y="6744174"/>
            <a:ext cx="727972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直線接點 83"/>
          <p:cNvCxnSpPr/>
          <p:nvPr/>
        </p:nvCxnSpPr>
        <p:spPr>
          <a:xfrm flipV="1">
            <a:off x="8886246" y="4617865"/>
            <a:ext cx="0" cy="21263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直線單箭頭接點 85"/>
          <p:cNvCxnSpPr/>
          <p:nvPr/>
        </p:nvCxnSpPr>
        <p:spPr>
          <a:xfrm flipH="1">
            <a:off x="7963075" y="4617866"/>
            <a:ext cx="9231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流程圖: 決策 48"/>
          <p:cNvSpPr/>
          <p:nvPr/>
        </p:nvSpPr>
        <p:spPr>
          <a:xfrm>
            <a:off x="333735" y="5793569"/>
            <a:ext cx="2531795" cy="522029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Warning Counter Threshold</a:t>
            </a:r>
            <a:endParaRPr lang="zh-TW" altLang="en-US" sz="1200" dirty="0"/>
          </a:p>
        </p:txBody>
      </p:sp>
      <p:cxnSp>
        <p:nvCxnSpPr>
          <p:cNvPr id="34" name="直線接點 33"/>
          <p:cNvCxnSpPr>
            <a:stCxn id="49" idx="2"/>
          </p:cNvCxnSpPr>
          <p:nvPr/>
        </p:nvCxnSpPr>
        <p:spPr>
          <a:xfrm>
            <a:off x="1599633" y="6315598"/>
            <a:ext cx="0" cy="42857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>
            <a:endCxn id="75" idx="1"/>
          </p:cNvCxnSpPr>
          <p:nvPr/>
        </p:nvCxnSpPr>
        <p:spPr>
          <a:xfrm>
            <a:off x="1598211" y="6458553"/>
            <a:ext cx="18056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文字方塊 60"/>
          <p:cNvSpPr txBox="1"/>
          <p:nvPr/>
        </p:nvSpPr>
        <p:spPr>
          <a:xfrm>
            <a:off x="1175754" y="6259333"/>
            <a:ext cx="4604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True</a:t>
            </a:r>
            <a:endParaRPr lang="zh-TW" altLang="en-US" sz="1200" dirty="0"/>
          </a:p>
        </p:txBody>
      </p:sp>
      <p:cxnSp>
        <p:nvCxnSpPr>
          <p:cNvPr id="20" name="直線單箭頭接點 19"/>
          <p:cNvCxnSpPr/>
          <p:nvPr/>
        </p:nvCxnSpPr>
        <p:spPr>
          <a:xfrm>
            <a:off x="5593940" y="5480999"/>
            <a:ext cx="632821" cy="51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文字方塊 63"/>
          <p:cNvSpPr txBox="1"/>
          <p:nvPr/>
        </p:nvSpPr>
        <p:spPr>
          <a:xfrm>
            <a:off x="5529396" y="5467337"/>
            <a:ext cx="4979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False</a:t>
            </a:r>
            <a:endParaRPr lang="zh-TW" altLang="en-US" sz="1200" dirty="0"/>
          </a:p>
        </p:txBody>
      </p:sp>
      <p:sp>
        <p:nvSpPr>
          <p:cNvPr id="67" name="流程圖: 替代程序 66"/>
          <p:cNvSpPr/>
          <p:nvPr/>
        </p:nvSpPr>
        <p:spPr>
          <a:xfrm>
            <a:off x="856558" y="4866843"/>
            <a:ext cx="1483306" cy="360000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Warning Counter+1</a:t>
            </a:r>
            <a:endParaRPr lang="zh-TW" altLang="en-US" sz="1200" dirty="0"/>
          </a:p>
        </p:txBody>
      </p:sp>
      <p:cxnSp>
        <p:nvCxnSpPr>
          <p:cNvPr id="51" name="直線接點 50"/>
          <p:cNvCxnSpPr>
            <a:stCxn id="66" idx="1"/>
          </p:cNvCxnSpPr>
          <p:nvPr/>
        </p:nvCxnSpPr>
        <p:spPr>
          <a:xfrm flipV="1">
            <a:off x="2869722" y="5046843"/>
            <a:ext cx="0" cy="4341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直線單箭頭接點 54"/>
          <p:cNvCxnSpPr/>
          <p:nvPr/>
        </p:nvCxnSpPr>
        <p:spPr>
          <a:xfrm flipH="1">
            <a:off x="2339864" y="5046843"/>
            <a:ext cx="5298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直線接點 86"/>
          <p:cNvCxnSpPr/>
          <p:nvPr/>
        </p:nvCxnSpPr>
        <p:spPr>
          <a:xfrm>
            <a:off x="5593940" y="5480999"/>
            <a:ext cx="0" cy="9775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直線單箭頭接點 88"/>
          <p:cNvCxnSpPr>
            <a:endCxn id="75" idx="3"/>
          </p:cNvCxnSpPr>
          <p:nvPr/>
        </p:nvCxnSpPr>
        <p:spPr>
          <a:xfrm flipH="1">
            <a:off x="5059832" y="6458553"/>
            <a:ext cx="5341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直線接點 91"/>
          <p:cNvCxnSpPr>
            <a:stCxn id="49" idx="3"/>
          </p:cNvCxnSpPr>
          <p:nvPr/>
        </p:nvCxnSpPr>
        <p:spPr>
          <a:xfrm flipV="1">
            <a:off x="2865530" y="6054583"/>
            <a:ext cx="4549889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直線單箭頭接點 93"/>
          <p:cNvCxnSpPr>
            <a:endCxn id="7" idx="2"/>
          </p:cNvCxnSpPr>
          <p:nvPr/>
        </p:nvCxnSpPr>
        <p:spPr>
          <a:xfrm flipV="1">
            <a:off x="7415419" y="5840999"/>
            <a:ext cx="0" cy="2205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文字方塊 94"/>
          <p:cNvSpPr txBox="1"/>
          <p:nvPr/>
        </p:nvSpPr>
        <p:spPr>
          <a:xfrm>
            <a:off x="2721165" y="5821835"/>
            <a:ext cx="4979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False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900957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流程圖: 替代程序 12"/>
          <p:cNvSpPr/>
          <p:nvPr/>
        </p:nvSpPr>
        <p:spPr>
          <a:xfrm>
            <a:off x="3691831" y="373311"/>
            <a:ext cx="1080000" cy="288000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MQTT Broker</a:t>
            </a:r>
            <a:endParaRPr lang="zh-TW" altLang="en-US" sz="1200" dirty="0"/>
          </a:p>
        </p:txBody>
      </p:sp>
      <p:sp>
        <p:nvSpPr>
          <p:cNvPr id="14" name="流程圖: 替代程序 13"/>
          <p:cNvSpPr/>
          <p:nvPr/>
        </p:nvSpPr>
        <p:spPr>
          <a:xfrm>
            <a:off x="3475831" y="908009"/>
            <a:ext cx="1512000" cy="288000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Streaming Windows</a:t>
            </a:r>
            <a:endParaRPr lang="zh-TW" altLang="en-US" sz="1200" dirty="0"/>
          </a:p>
        </p:txBody>
      </p:sp>
      <p:sp>
        <p:nvSpPr>
          <p:cNvPr id="15" name="流程圖: 替代程序 14"/>
          <p:cNvSpPr/>
          <p:nvPr/>
        </p:nvSpPr>
        <p:spPr>
          <a:xfrm>
            <a:off x="3331831" y="1455237"/>
            <a:ext cx="1800000" cy="432000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Data Transform</a:t>
            </a:r>
          </a:p>
          <a:p>
            <a:pPr algn="ctr"/>
            <a:r>
              <a:rPr lang="en-US" altLang="zh-TW" sz="1200" dirty="0" smtClean="0"/>
              <a:t>(</a:t>
            </a:r>
            <a:r>
              <a:rPr lang="en-US" altLang="zh-TW" sz="1200" dirty="0" err="1" smtClean="0"/>
              <a:t>foreachRDD</a:t>
            </a:r>
            <a:r>
              <a:rPr lang="en-US" altLang="zh-TW" sz="1200" dirty="0" smtClean="0"/>
              <a:t>)</a:t>
            </a:r>
            <a:endParaRPr lang="zh-TW" altLang="en-US" sz="1200" dirty="0"/>
          </a:p>
        </p:txBody>
      </p:sp>
      <p:sp>
        <p:nvSpPr>
          <p:cNvPr id="16" name="流程圖: 決策 15"/>
          <p:cNvSpPr/>
          <p:nvPr/>
        </p:nvSpPr>
        <p:spPr>
          <a:xfrm>
            <a:off x="2748369" y="2140200"/>
            <a:ext cx="2966924" cy="60400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Check Data Segments numbers</a:t>
            </a:r>
            <a:endParaRPr lang="zh-TW" altLang="en-US" sz="1200" dirty="0"/>
          </a:p>
        </p:txBody>
      </p:sp>
      <p:cxnSp>
        <p:nvCxnSpPr>
          <p:cNvPr id="17" name="直線單箭頭接點 16"/>
          <p:cNvCxnSpPr>
            <a:stCxn id="13" idx="2"/>
            <a:endCxn id="14" idx="0"/>
          </p:cNvCxnSpPr>
          <p:nvPr/>
        </p:nvCxnSpPr>
        <p:spPr>
          <a:xfrm>
            <a:off x="4231831" y="661311"/>
            <a:ext cx="0" cy="2466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>
            <a:stCxn id="14" idx="2"/>
            <a:endCxn id="15" idx="0"/>
          </p:cNvCxnSpPr>
          <p:nvPr/>
        </p:nvCxnSpPr>
        <p:spPr>
          <a:xfrm>
            <a:off x="4231831" y="1196009"/>
            <a:ext cx="0" cy="259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>
            <a:stCxn id="15" idx="2"/>
            <a:endCxn id="16" idx="0"/>
          </p:cNvCxnSpPr>
          <p:nvPr/>
        </p:nvCxnSpPr>
        <p:spPr>
          <a:xfrm>
            <a:off x="4231831" y="1887237"/>
            <a:ext cx="0" cy="252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>
            <a:stCxn id="16" idx="2"/>
          </p:cNvCxnSpPr>
          <p:nvPr/>
        </p:nvCxnSpPr>
        <p:spPr>
          <a:xfrm>
            <a:off x="4231831" y="2744206"/>
            <a:ext cx="0" cy="2548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文字方塊 20"/>
          <p:cNvSpPr txBox="1"/>
          <p:nvPr/>
        </p:nvSpPr>
        <p:spPr>
          <a:xfrm>
            <a:off x="5088318" y="2915224"/>
            <a:ext cx="7603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Near at 1</a:t>
            </a:r>
            <a:endParaRPr lang="zh-TW" altLang="en-US" sz="1200" dirty="0"/>
          </a:p>
        </p:txBody>
      </p:sp>
      <p:sp>
        <p:nvSpPr>
          <p:cNvPr id="22" name="流程圖: 替代程序 21"/>
          <p:cNvSpPr/>
          <p:nvPr/>
        </p:nvSpPr>
        <p:spPr>
          <a:xfrm>
            <a:off x="3421831" y="2997169"/>
            <a:ext cx="1620000" cy="360000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Training LOF Module</a:t>
            </a:r>
            <a:endParaRPr lang="zh-TW" altLang="en-US" sz="1200" dirty="0"/>
          </a:p>
        </p:txBody>
      </p:sp>
      <p:sp>
        <p:nvSpPr>
          <p:cNvPr id="23" name="流程圖: 決策 22"/>
          <p:cNvSpPr/>
          <p:nvPr/>
        </p:nvSpPr>
        <p:spPr>
          <a:xfrm>
            <a:off x="2869722" y="3610132"/>
            <a:ext cx="2724218" cy="522029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LOF Value</a:t>
            </a:r>
            <a:endParaRPr lang="zh-TW" altLang="en-US" sz="1200" dirty="0"/>
          </a:p>
        </p:txBody>
      </p:sp>
      <p:cxnSp>
        <p:nvCxnSpPr>
          <p:cNvPr id="24" name="直線單箭頭接點 23"/>
          <p:cNvCxnSpPr>
            <a:stCxn id="22" idx="2"/>
            <a:endCxn id="23" idx="0"/>
          </p:cNvCxnSpPr>
          <p:nvPr/>
        </p:nvCxnSpPr>
        <p:spPr>
          <a:xfrm>
            <a:off x="4231831" y="3357169"/>
            <a:ext cx="0" cy="252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文字方塊 24"/>
          <p:cNvSpPr txBox="1"/>
          <p:nvPr/>
        </p:nvSpPr>
        <p:spPr>
          <a:xfrm>
            <a:off x="5150287" y="1446026"/>
            <a:ext cx="9220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Not Enough</a:t>
            </a:r>
            <a:endParaRPr lang="zh-TW" altLang="en-US" sz="12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4183592" y="2687428"/>
            <a:ext cx="6543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Enough</a:t>
            </a:r>
            <a:endParaRPr lang="zh-TW" altLang="en-US" sz="1200" dirty="0"/>
          </a:p>
        </p:txBody>
      </p:sp>
      <p:grpSp>
        <p:nvGrpSpPr>
          <p:cNvPr id="27" name="群組 26"/>
          <p:cNvGrpSpPr/>
          <p:nvPr/>
        </p:nvGrpSpPr>
        <p:grpSpPr>
          <a:xfrm>
            <a:off x="5131831" y="1671237"/>
            <a:ext cx="583462" cy="770966"/>
            <a:chOff x="5131831" y="1671237"/>
            <a:chExt cx="583462" cy="770966"/>
          </a:xfrm>
        </p:grpSpPr>
        <p:cxnSp>
          <p:nvCxnSpPr>
            <p:cNvPr id="28" name="直線接點 27"/>
            <p:cNvCxnSpPr>
              <a:stCxn id="16" idx="3"/>
            </p:cNvCxnSpPr>
            <p:nvPr/>
          </p:nvCxnSpPr>
          <p:spPr>
            <a:xfrm flipV="1">
              <a:off x="5715293" y="1671237"/>
              <a:ext cx="0" cy="77096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線單箭頭接點 28"/>
            <p:cNvCxnSpPr/>
            <p:nvPr/>
          </p:nvCxnSpPr>
          <p:spPr>
            <a:xfrm flipH="1">
              <a:off x="5131831" y="1671237"/>
              <a:ext cx="58346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0" name="群組 29"/>
          <p:cNvGrpSpPr/>
          <p:nvPr/>
        </p:nvGrpSpPr>
        <p:grpSpPr>
          <a:xfrm>
            <a:off x="5041831" y="3177169"/>
            <a:ext cx="552109" cy="693978"/>
            <a:chOff x="5041831" y="3177169"/>
            <a:chExt cx="552109" cy="693978"/>
          </a:xfrm>
        </p:grpSpPr>
        <p:cxnSp>
          <p:nvCxnSpPr>
            <p:cNvPr id="31" name="直線單箭頭接點 30"/>
            <p:cNvCxnSpPr>
              <a:endCxn id="22" idx="3"/>
            </p:cNvCxnSpPr>
            <p:nvPr/>
          </p:nvCxnSpPr>
          <p:spPr>
            <a:xfrm flipH="1">
              <a:off x="5041831" y="3177169"/>
              <a:ext cx="55210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直線接點 31"/>
            <p:cNvCxnSpPr>
              <a:stCxn id="23" idx="3"/>
            </p:cNvCxnSpPr>
            <p:nvPr/>
          </p:nvCxnSpPr>
          <p:spPr>
            <a:xfrm flipV="1">
              <a:off x="5593940" y="3177169"/>
              <a:ext cx="0" cy="69397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3" name="直線接點 32"/>
          <p:cNvCxnSpPr>
            <a:stCxn id="15" idx="1"/>
          </p:cNvCxnSpPr>
          <p:nvPr/>
        </p:nvCxnSpPr>
        <p:spPr>
          <a:xfrm flipH="1">
            <a:off x="2344189" y="1671237"/>
            <a:ext cx="98764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>
            <a:off x="2335877" y="1671237"/>
            <a:ext cx="0" cy="21999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>
            <a:endCxn id="23" idx="1"/>
          </p:cNvCxnSpPr>
          <p:nvPr/>
        </p:nvCxnSpPr>
        <p:spPr>
          <a:xfrm>
            <a:off x="2335877" y="3871146"/>
            <a:ext cx="53384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流程圖: 替代程序 35"/>
          <p:cNvSpPr/>
          <p:nvPr/>
        </p:nvSpPr>
        <p:spPr>
          <a:xfrm>
            <a:off x="6226763" y="4601546"/>
            <a:ext cx="2412000" cy="720000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trigger the alert functions, sending warning message</a:t>
            </a:r>
            <a:endParaRPr lang="zh-TW" altLang="en-US" sz="1200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4206952" y="4304109"/>
            <a:ext cx="17493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Significant greater than 1</a:t>
            </a:r>
            <a:endParaRPr lang="zh-TW" altLang="en-US" sz="1200" dirty="0"/>
          </a:p>
        </p:txBody>
      </p:sp>
      <p:cxnSp>
        <p:nvCxnSpPr>
          <p:cNvPr id="38" name="直線單箭頭接點 37"/>
          <p:cNvCxnSpPr/>
          <p:nvPr/>
        </p:nvCxnSpPr>
        <p:spPr>
          <a:xfrm>
            <a:off x="4231831" y="4144858"/>
            <a:ext cx="0" cy="5556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線接點 44"/>
          <p:cNvCxnSpPr/>
          <p:nvPr/>
        </p:nvCxnSpPr>
        <p:spPr>
          <a:xfrm>
            <a:off x="5593940" y="3177169"/>
            <a:ext cx="315936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8753302" y="3168856"/>
            <a:ext cx="0" cy="317812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流程圖: 決策 54"/>
          <p:cNvSpPr/>
          <p:nvPr/>
        </p:nvSpPr>
        <p:spPr>
          <a:xfrm>
            <a:off x="2869722" y="4730695"/>
            <a:ext cx="2724218" cy="706225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100" dirty="0" smtClean="0"/>
              <a:t>Previous Warning type = This Warning Type</a:t>
            </a:r>
            <a:endParaRPr lang="zh-TW" altLang="en-US" sz="1100" dirty="0"/>
          </a:p>
        </p:txBody>
      </p:sp>
      <p:sp>
        <p:nvSpPr>
          <p:cNvPr id="56" name="流程圖: 替代程序 55"/>
          <p:cNvSpPr/>
          <p:nvPr/>
        </p:nvSpPr>
        <p:spPr>
          <a:xfrm>
            <a:off x="3403830" y="5881361"/>
            <a:ext cx="1656002" cy="360000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Reset Warning Counter</a:t>
            </a:r>
            <a:endParaRPr lang="zh-TW" altLang="en-US" sz="1200" dirty="0"/>
          </a:p>
        </p:txBody>
      </p:sp>
      <p:cxnSp>
        <p:nvCxnSpPr>
          <p:cNvPr id="57" name="直線單箭頭接點 56"/>
          <p:cNvCxnSpPr>
            <a:stCxn id="65" idx="2"/>
            <a:endCxn id="59" idx="0"/>
          </p:cNvCxnSpPr>
          <p:nvPr/>
        </p:nvCxnSpPr>
        <p:spPr>
          <a:xfrm>
            <a:off x="1598211" y="4829651"/>
            <a:ext cx="1422" cy="566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文字方塊 57"/>
          <p:cNvSpPr txBox="1"/>
          <p:nvPr/>
        </p:nvSpPr>
        <p:spPr>
          <a:xfrm>
            <a:off x="2833370" y="4547994"/>
            <a:ext cx="4604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True</a:t>
            </a:r>
            <a:endParaRPr lang="zh-TW" altLang="en-US" sz="1200" dirty="0"/>
          </a:p>
        </p:txBody>
      </p:sp>
      <p:sp>
        <p:nvSpPr>
          <p:cNvPr id="59" name="流程圖: 決策 58"/>
          <p:cNvSpPr/>
          <p:nvPr/>
        </p:nvSpPr>
        <p:spPr>
          <a:xfrm>
            <a:off x="333735" y="5396377"/>
            <a:ext cx="2531795" cy="522029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Warning Counter Threshold</a:t>
            </a:r>
            <a:endParaRPr lang="zh-TW" altLang="en-US" sz="1200" dirty="0"/>
          </a:p>
        </p:txBody>
      </p:sp>
      <p:cxnSp>
        <p:nvCxnSpPr>
          <p:cNvPr id="60" name="直線接點 59"/>
          <p:cNvCxnSpPr>
            <a:stCxn id="59" idx="2"/>
          </p:cNvCxnSpPr>
          <p:nvPr/>
        </p:nvCxnSpPr>
        <p:spPr>
          <a:xfrm>
            <a:off x="1599633" y="5918406"/>
            <a:ext cx="0" cy="42857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直線單箭頭接點 60"/>
          <p:cNvCxnSpPr>
            <a:endCxn id="56" idx="1"/>
          </p:cNvCxnSpPr>
          <p:nvPr/>
        </p:nvCxnSpPr>
        <p:spPr>
          <a:xfrm>
            <a:off x="1598211" y="6061361"/>
            <a:ext cx="18056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文字方塊 61"/>
          <p:cNvSpPr txBox="1"/>
          <p:nvPr/>
        </p:nvSpPr>
        <p:spPr>
          <a:xfrm>
            <a:off x="1175754" y="5862141"/>
            <a:ext cx="4604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True</a:t>
            </a:r>
            <a:endParaRPr lang="zh-TW" altLang="en-US" sz="1200" dirty="0"/>
          </a:p>
        </p:txBody>
      </p:sp>
      <p:cxnSp>
        <p:nvCxnSpPr>
          <p:cNvPr id="63" name="直線單箭頭接點 62"/>
          <p:cNvCxnSpPr/>
          <p:nvPr/>
        </p:nvCxnSpPr>
        <p:spPr>
          <a:xfrm>
            <a:off x="5593940" y="5083807"/>
            <a:ext cx="632821" cy="51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文字方塊 63"/>
          <p:cNvSpPr txBox="1"/>
          <p:nvPr/>
        </p:nvSpPr>
        <p:spPr>
          <a:xfrm>
            <a:off x="5529396" y="5070145"/>
            <a:ext cx="4979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False</a:t>
            </a:r>
            <a:endParaRPr lang="zh-TW" altLang="en-US" sz="1200" dirty="0"/>
          </a:p>
        </p:txBody>
      </p:sp>
      <p:sp>
        <p:nvSpPr>
          <p:cNvPr id="65" name="流程圖: 替代程序 64"/>
          <p:cNvSpPr/>
          <p:nvPr/>
        </p:nvSpPr>
        <p:spPr>
          <a:xfrm>
            <a:off x="856558" y="4469651"/>
            <a:ext cx="1483306" cy="360000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Warning Counter+1</a:t>
            </a:r>
            <a:endParaRPr lang="zh-TW" altLang="en-US" sz="1200" dirty="0"/>
          </a:p>
        </p:txBody>
      </p:sp>
      <p:cxnSp>
        <p:nvCxnSpPr>
          <p:cNvPr id="66" name="直線接點 65"/>
          <p:cNvCxnSpPr>
            <a:stCxn id="55" idx="1"/>
          </p:cNvCxnSpPr>
          <p:nvPr/>
        </p:nvCxnSpPr>
        <p:spPr>
          <a:xfrm flipV="1">
            <a:off x="2869722" y="4649651"/>
            <a:ext cx="0" cy="4341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直線單箭頭接點 66"/>
          <p:cNvCxnSpPr/>
          <p:nvPr/>
        </p:nvCxnSpPr>
        <p:spPr>
          <a:xfrm flipH="1">
            <a:off x="2339864" y="4649651"/>
            <a:ext cx="5298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直線接點 67"/>
          <p:cNvCxnSpPr/>
          <p:nvPr/>
        </p:nvCxnSpPr>
        <p:spPr>
          <a:xfrm>
            <a:off x="5593940" y="5083807"/>
            <a:ext cx="0" cy="9775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>
            <a:endCxn id="56" idx="3"/>
          </p:cNvCxnSpPr>
          <p:nvPr/>
        </p:nvCxnSpPr>
        <p:spPr>
          <a:xfrm flipH="1">
            <a:off x="5059832" y="6061361"/>
            <a:ext cx="5341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文字方塊 69"/>
          <p:cNvSpPr txBox="1"/>
          <p:nvPr/>
        </p:nvSpPr>
        <p:spPr>
          <a:xfrm>
            <a:off x="2681095" y="5257877"/>
            <a:ext cx="4979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False</a:t>
            </a:r>
            <a:endParaRPr lang="zh-TW" altLang="en-US" sz="1200" dirty="0"/>
          </a:p>
        </p:txBody>
      </p:sp>
      <p:cxnSp>
        <p:nvCxnSpPr>
          <p:cNvPr id="40" name="直線接點 39"/>
          <p:cNvCxnSpPr/>
          <p:nvPr/>
        </p:nvCxnSpPr>
        <p:spPr>
          <a:xfrm>
            <a:off x="1598211" y="6346982"/>
            <a:ext cx="715509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直線接點 71"/>
          <p:cNvCxnSpPr>
            <a:stCxn id="59" idx="3"/>
          </p:cNvCxnSpPr>
          <p:nvPr/>
        </p:nvCxnSpPr>
        <p:spPr>
          <a:xfrm flipV="1">
            <a:off x="2865530" y="5644686"/>
            <a:ext cx="4567233" cy="127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>
            <a:endCxn id="36" idx="2"/>
          </p:cNvCxnSpPr>
          <p:nvPr/>
        </p:nvCxnSpPr>
        <p:spPr>
          <a:xfrm flipV="1">
            <a:off x="7432763" y="5321546"/>
            <a:ext cx="0" cy="335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3010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652" y="1040129"/>
            <a:ext cx="2505075" cy="571500"/>
          </a:xfrm>
          <a:prstGeom prst="rect">
            <a:avLst/>
          </a:prstGeom>
        </p:spPr>
      </p:pic>
      <p:sp>
        <p:nvSpPr>
          <p:cNvPr id="3" name="圓角矩形 2"/>
          <p:cNvSpPr/>
          <p:nvPr/>
        </p:nvSpPr>
        <p:spPr>
          <a:xfrm>
            <a:off x="5470189" y="1704109"/>
            <a:ext cx="1368000" cy="648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User sessions (state)</a:t>
            </a:r>
            <a:endParaRPr lang="zh-TW" altLang="en-US" sz="1600" dirty="0"/>
          </a:p>
        </p:txBody>
      </p:sp>
      <p:sp>
        <p:nvSpPr>
          <p:cNvPr id="4" name="圓角矩形 3"/>
          <p:cNvSpPr/>
          <p:nvPr/>
        </p:nvSpPr>
        <p:spPr>
          <a:xfrm>
            <a:off x="5435137" y="3113024"/>
            <a:ext cx="1438102" cy="648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mapWithState operation</a:t>
            </a:r>
            <a:endParaRPr lang="zh-TW" altLang="en-US" sz="16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5162218" y="2440179"/>
            <a:ext cx="19839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600" dirty="0" smtClean="0"/>
              <a:t>Update user sessions </a:t>
            </a:r>
          </a:p>
          <a:p>
            <a:pPr algn="ctr"/>
            <a:r>
              <a:rPr lang="en-US" altLang="zh-TW" sz="1600" dirty="0" smtClean="0"/>
              <a:t>with user actions</a:t>
            </a:r>
            <a:endParaRPr lang="zh-TW" altLang="en-US" sz="1600" dirty="0"/>
          </a:p>
        </p:txBody>
      </p:sp>
      <p:cxnSp>
        <p:nvCxnSpPr>
          <p:cNvPr id="7" name="弧形接點 6"/>
          <p:cNvCxnSpPr>
            <a:stCxn id="3" idx="3"/>
            <a:endCxn id="4" idx="3"/>
          </p:cNvCxnSpPr>
          <p:nvPr/>
        </p:nvCxnSpPr>
        <p:spPr>
          <a:xfrm>
            <a:off x="6838189" y="2028109"/>
            <a:ext cx="35050" cy="1408915"/>
          </a:xfrm>
          <a:prstGeom prst="curvedConnector3">
            <a:avLst>
              <a:gd name="adj1" fmla="val 1297698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弧形接點 12"/>
          <p:cNvCxnSpPr>
            <a:stCxn id="4" idx="1"/>
            <a:endCxn id="3" idx="1"/>
          </p:cNvCxnSpPr>
          <p:nvPr/>
        </p:nvCxnSpPr>
        <p:spPr>
          <a:xfrm rot="10800000" flipH="1">
            <a:off x="5435137" y="2028110"/>
            <a:ext cx="35052" cy="1408915"/>
          </a:xfrm>
          <a:prstGeom prst="curvedConnector3">
            <a:avLst>
              <a:gd name="adj1" fmla="val -1245062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/>
          <p:nvPr/>
        </p:nvCxnSpPr>
        <p:spPr>
          <a:xfrm>
            <a:off x="3940233" y="3674225"/>
            <a:ext cx="149490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/>
          <p:nvPr/>
        </p:nvCxnSpPr>
        <p:spPr>
          <a:xfrm>
            <a:off x="6873239" y="3674225"/>
            <a:ext cx="149490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文字方塊 26"/>
          <p:cNvSpPr txBox="1"/>
          <p:nvPr/>
        </p:nvSpPr>
        <p:spPr>
          <a:xfrm>
            <a:off x="3247604" y="3344483"/>
            <a:ext cx="20510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 smtClean="0"/>
              <a:t>Stream of user actions</a:t>
            </a:r>
            <a:endParaRPr lang="zh-TW" altLang="en-US" sz="1600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7146158" y="3344483"/>
            <a:ext cx="20638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 smtClean="0"/>
              <a:t>Stream of user models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183840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圖: 替代程序 4"/>
          <p:cNvSpPr/>
          <p:nvPr/>
        </p:nvSpPr>
        <p:spPr>
          <a:xfrm>
            <a:off x="1600619" y="914121"/>
            <a:ext cx="1296000" cy="648000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學習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模組</a:t>
            </a:r>
          </a:p>
        </p:txBody>
      </p:sp>
      <p:cxnSp>
        <p:nvCxnSpPr>
          <p:cNvPr id="15" name="直線單箭頭接點 14"/>
          <p:cNvCxnSpPr/>
          <p:nvPr/>
        </p:nvCxnSpPr>
        <p:spPr>
          <a:xfrm flipV="1">
            <a:off x="520619" y="1238121"/>
            <a:ext cx="108000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文字方塊 15"/>
          <p:cNvSpPr txBox="1"/>
          <p:nvPr/>
        </p:nvSpPr>
        <p:spPr>
          <a:xfrm>
            <a:off x="2859321" y="924979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資料特徵</a:t>
            </a:r>
            <a:endParaRPr lang="zh-TW" altLang="en-US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8" name="流程圖: 替代程序 17"/>
          <p:cNvSpPr/>
          <p:nvPr/>
        </p:nvSpPr>
        <p:spPr>
          <a:xfrm>
            <a:off x="3976619" y="914716"/>
            <a:ext cx="1296000" cy="648000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偵測模組</a:t>
            </a:r>
            <a:endParaRPr lang="zh-TW" altLang="en-US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19" name="直線單箭頭接點 18"/>
          <p:cNvCxnSpPr/>
          <p:nvPr/>
        </p:nvCxnSpPr>
        <p:spPr>
          <a:xfrm flipV="1">
            <a:off x="2896619" y="1238716"/>
            <a:ext cx="108000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文字方塊 19"/>
          <p:cNvSpPr txBox="1"/>
          <p:nvPr/>
        </p:nvSpPr>
        <p:spPr>
          <a:xfrm>
            <a:off x="557918" y="914121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訓練資料</a:t>
            </a:r>
            <a:endParaRPr lang="zh-TW" altLang="en-US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21" name="直線單箭頭接點 20"/>
          <p:cNvCxnSpPr/>
          <p:nvPr/>
        </p:nvCxnSpPr>
        <p:spPr>
          <a:xfrm flipV="1">
            <a:off x="4624619" y="1562121"/>
            <a:ext cx="0" cy="72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3581917" y="1939688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模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擬</a:t>
            </a:r>
            <a:r>
              <a:rPr lang="zh-TW" altLang="en-US" sz="1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資料</a:t>
            </a:r>
            <a:endParaRPr lang="zh-TW" altLang="en-US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25" name="直線接點 24"/>
          <p:cNvCxnSpPr/>
          <p:nvPr/>
        </p:nvCxnSpPr>
        <p:spPr>
          <a:xfrm>
            <a:off x="3544619" y="2278242"/>
            <a:ext cx="108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/>
          <p:nvPr/>
        </p:nvCxnSpPr>
        <p:spPr>
          <a:xfrm flipV="1">
            <a:off x="5272619" y="1233985"/>
            <a:ext cx="108000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文字方塊 26"/>
          <p:cNvSpPr txBox="1"/>
          <p:nvPr/>
        </p:nvSpPr>
        <p:spPr>
          <a:xfrm>
            <a:off x="5309917" y="924979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偵測結果</a:t>
            </a:r>
            <a:endParaRPr lang="zh-TW" altLang="en-US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18691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單箭頭接點 6"/>
          <p:cNvCxnSpPr/>
          <p:nvPr/>
        </p:nvCxnSpPr>
        <p:spPr>
          <a:xfrm>
            <a:off x="3275215" y="3256191"/>
            <a:ext cx="5286291" cy="0"/>
          </a:xfrm>
          <a:prstGeom prst="straightConnector1">
            <a:avLst/>
          </a:prstGeom>
          <a:ln w="76200">
            <a:prstDash val="sysDot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流程圖: 替代程序 2"/>
          <p:cNvSpPr/>
          <p:nvPr/>
        </p:nvSpPr>
        <p:spPr>
          <a:xfrm>
            <a:off x="3542332" y="2986191"/>
            <a:ext cx="1080000" cy="540000"/>
          </a:xfrm>
          <a:prstGeom prst="flowChartAlternate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Data from time 0 to </a:t>
            </a:r>
            <a:r>
              <a:rPr lang="en-US" altLang="zh-TW" sz="1200" dirty="0"/>
              <a:t>1</a:t>
            </a:r>
            <a:endParaRPr lang="zh-TW" altLang="en-US" sz="1200" dirty="0"/>
          </a:p>
        </p:txBody>
      </p:sp>
      <p:sp>
        <p:nvSpPr>
          <p:cNvPr id="4" name="流程圖: 替代程序 3"/>
          <p:cNvSpPr/>
          <p:nvPr/>
        </p:nvSpPr>
        <p:spPr>
          <a:xfrm>
            <a:off x="5174397" y="2986191"/>
            <a:ext cx="1080000" cy="540000"/>
          </a:xfrm>
          <a:prstGeom prst="flowChartAlternate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Data from time 0 to </a:t>
            </a:r>
            <a:r>
              <a:rPr lang="en-US" altLang="zh-TW" sz="1200" dirty="0"/>
              <a:t>1</a:t>
            </a:r>
            <a:endParaRPr lang="zh-TW" altLang="en-US" sz="1200" dirty="0"/>
          </a:p>
        </p:txBody>
      </p:sp>
      <p:sp>
        <p:nvSpPr>
          <p:cNvPr id="5" name="流程圖: 替代程序 4"/>
          <p:cNvSpPr/>
          <p:nvPr/>
        </p:nvSpPr>
        <p:spPr>
          <a:xfrm>
            <a:off x="6806462" y="2986191"/>
            <a:ext cx="1080000" cy="540000"/>
          </a:xfrm>
          <a:prstGeom prst="flowChartAlternate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Data from time 0 to </a:t>
            </a:r>
            <a:r>
              <a:rPr lang="en-US" altLang="zh-TW" sz="1200" dirty="0"/>
              <a:t>1</a:t>
            </a:r>
            <a:endParaRPr lang="zh-TW" altLang="en-US" sz="12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2413221" y="3086914"/>
            <a:ext cx="9081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 err="1" smtClean="0"/>
              <a:t>DStream</a:t>
            </a:r>
            <a:endParaRPr lang="zh-TW" altLang="en-US" sz="16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3556290" y="2705693"/>
            <a:ext cx="10520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RDD at time 1</a:t>
            </a:r>
            <a:endParaRPr lang="zh-TW" altLang="en-US" sz="12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5188355" y="2705692"/>
            <a:ext cx="10520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RDD at time 2</a:t>
            </a:r>
            <a:endParaRPr lang="zh-TW" altLang="en-US" sz="12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6820563" y="2715450"/>
            <a:ext cx="10520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RDD at time 3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61184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圖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185" y="1333742"/>
            <a:ext cx="9000000" cy="4662792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 rot="18157253">
            <a:off x="1324789" y="4544092"/>
            <a:ext cx="2126224" cy="32654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/>
          <p:cNvSpPr/>
          <p:nvPr/>
        </p:nvSpPr>
        <p:spPr>
          <a:xfrm rot="18157253">
            <a:off x="1936505" y="3766073"/>
            <a:ext cx="2014963" cy="33112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00B050"/>
              </a:solidFill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1513978" y="1464225"/>
            <a:ext cx="1198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Window size : 3</a:t>
            </a:r>
          </a:p>
          <a:p>
            <a:r>
              <a:rPr lang="en-US" altLang="zh-TW" sz="1200" dirty="0" smtClean="0"/>
              <a:t>Slide interval : 1</a:t>
            </a:r>
            <a:endParaRPr lang="zh-TW" altLang="en-US" sz="1200" dirty="0"/>
          </a:p>
        </p:txBody>
      </p:sp>
      <p:cxnSp>
        <p:nvCxnSpPr>
          <p:cNvPr id="14" name="直線單箭頭接點 13"/>
          <p:cNvCxnSpPr/>
          <p:nvPr/>
        </p:nvCxnSpPr>
        <p:spPr>
          <a:xfrm flipV="1">
            <a:off x="2194560" y="5342124"/>
            <a:ext cx="1387364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/>
          <p:cNvSpPr txBox="1"/>
          <p:nvPr/>
        </p:nvSpPr>
        <p:spPr>
          <a:xfrm>
            <a:off x="3581924" y="5111292"/>
            <a:ext cx="1615763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1200" dirty="0" smtClean="0"/>
              <a:t>After getting 3 values, create the window </a:t>
            </a:r>
            <a:endParaRPr lang="zh-TW" altLang="en-US" sz="1200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3581924" y="3713322"/>
            <a:ext cx="1869294" cy="27699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Slide </a:t>
            </a:r>
            <a:r>
              <a:rPr lang="en-US" altLang="zh-TW" sz="1200" dirty="0"/>
              <a:t>when getting </a:t>
            </a:r>
            <a:r>
              <a:rPr lang="en-US" altLang="zh-TW" sz="1200" dirty="0" smtClean="0"/>
              <a:t>1 value</a:t>
            </a:r>
            <a:endParaRPr lang="zh-TW" altLang="en-US" sz="1200" dirty="0"/>
          </a:p>
        </p:txBody>
      </p:sp>
      <p:cxnSp>
        <p:nvCxnSpPr>
          <p:cNvPr id="19" name="直線單箭頭接點 18"/>
          <p:cNvCxnSpPr>
            <a:endCxn id="17" idx="1"/>
          </p:cNvCxnSpPr>
          <p:nvPr/>
        </p:nvCxnSpPr>
        <p:spPr>
          <a:xfrm>
            <a:off x="3188394" y="3851821"/>
            <a:ext cx="393530" cy="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5490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圖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185" y="1333742"/>
            <a:ext cx="9000000" cy="4662792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 rot="18157253">
            <a:off x="1324789" y="4544092"/>
            <a:ext cx="2126224" cy="32654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/>
          <p:cNvSpPr/>
          <p:nvPr/>
        </p:nvSpPr>
        <p:spPr>
          <a:xfrm rot="18157253">
            <a:off x="1936505" y="3766073"/>
            <a:ext cx="2014963" cy="33112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00B050"/>
              </a:solidFill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1513978" y="1464225"/>
            <a:ext cx="1198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Window size : 3</a:t>
            </a:r>
          </a:p>
          <a:p>
            <a:r>
              <a:rPr lang="en-US" altLang="zh-TW" sz="1200" dirty="0" smtClean="0"/>
              <a:t>Slide interval : 1</a:t>
            </a:r>
            <a:endParaRPr lang="zh-TW" altLang="en-US" sz="1200" dirty="0"/>
          </a:p>
        </p:txBody>
      </p:sp>
      <p:cxnSp>
        <p:nvCxnSpPr>
          <p:cNvPr id="14" name="直線單箭頭接點 13"/>
          <p:cNvCxnSpPr/>
          <p:nvPr/>
        </p:nvCxnSpPr>
        <p:spPr>
          <a:xfrm flipV="1">
            <a:off x="2194560" y="5342124"/>
            <a:ext cx="1387364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/>
          <p:cNvSpPr txBox="1"/>
          <p:nvPr/>
        </p:nvSpPr>
        <p:spPr>
          <a:xfrm>
            <a:off x="3581924" y="5111292"/>
            <a:ext cx="2583464" cy="2769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Get Average and Standard Distribution</a:t>
            </a:r>
            <a:endParaRPr lang="zh-TW" altLang="en-US" sz="1200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3581924" y="3713322"/>
            <a:ext cx="2583464" cy="27699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1200" dirty="0"/>
              <a:t>Get Average and Standard Distribution</a:t>
            </a:r>
            <a:endParaRPr lang="zh-TW" altLang="en-US" sz="1200" dirty="0"/>
          </a:p>
        </p:txBody>
      </p:sp>
      <p:cxnSp>
        <p:nvCxnSpPr>
          <p:cNvPr id="19" name="直線單箭頭接點 18"/>
          <p:cNvCxnSpPr>
            <a:endCxn id="17" idx="1"/>
          </p:cNvCxnSpPr>
          <p:nvPr/>
        </p:nvCxnSpPr>
        <p:spPr>
          <a:xfrm>
            <a:off x="3188394" y="3851821"/>
            <a:ext cx="393530" cy="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5232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圖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185" y="1333742"/>
            <a:ext cx="9000000" cy="4662792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 rot="18157253">
            <a:off x="1324789" y="4544092"/>
            <a:ext cx="2126224" cy="32654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/>
          <p:cNvSpPr/>
          <p:nvPr/>
        </p:nvSpPr>
        <p:spPr>
          <a:xfrm rot="18157253">
            <a:off x="1936505" y="3766073"/>
            <a:ext cx="2014963" cy="33112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00B050"/>
              </a:solidFill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1513978" y="1464225"/>
            <a:ext cx="1198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Window size : 3</a:t>
            </a:r>
          </a:p>
          <a:p>
            <a:r>
              <a:rPr lang="en-US" altLang="zh-TW" sz="1200" dirty="0" smtClean="0"/>
              <a:t>Slide interval : 1</a:t>
            </a:r>
            <a:endParaRPr lang="zh-TW" altLang="en-US" sz="1200" dirty="0"/>
          </a:p>
        </p:txBody>
      </p:sp>
      <p:cxnSp>
        <p:nvCxnSpPr>
          <p:cNvPr id="14" name="直線單箭頭接點 13"/>
          <p:cNvCxnSpPr/>
          <p:nvPr/>
        </p:nvCxnSpPr>
        <p:spPr>
          <a:xfrm flipV="1">
            <a:off x="2194560" y="5342124"/>
            <a:ext cx="1387364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/>
          <p:cNvSpPr txBox="1"/>
          <p:nvPr/>
        </p:nvSpPr>
        <p:spPr>
          <a:xfrm>
            <a:off x="3581924" y="5111292"/>
            <a:ext cx="946800" cy="2769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Get </a:t>
            </a:r>
            <a:r>
              <a:rPr lang="en-US" altLang="zh-TW" sz="1200" dirty="0" smtClean="0"/>
              <a:t>Average</a:t>
            </a:r>
            <a:endParaRPr lang="zh-TW" altLang="en-US" sz="1200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3581924" y="3713322"/>
            <a:ext cx="947695" cy="27699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1200" dirty="0"/>
              <a:t>Get </a:t>
            </a:r>
            <a:r>
              <a:rPr lang="en-US" altLang="zh-TW" sz="1200" dirty="0" smtClean="0"/>
              <a:t>Average</a:t>
            </a:r>
            <a:endParaRPr lang="zh-TW" altLang="en-US" sz="1200" dirty="0"/>
          </a:p>
        </p:txBody>
      </p:sp>
      <p:cxnSp>
        <p:nvCxnSpPr>
          <p:cNvPr id="19" name="直線單箭頭接點 18"/>
          <p:cNvCxnSpPr>
            <a:endCxn id="17" idx="1"/>
          </p:cNvCxnSpPr>
          <p:nvPr/>
        </p:nvCxnSpPr>
        <p:spPr>
          <a:xfrm>
            <a:off x="3188394" y="3851821"/>
            <a:ext cx="393530" cy="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4998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圓角矩形 23"/>
          <p:cNvSpPr/>
          <p:nvPr/>
        </p:nvSpPr>
        <p:spPr>
          <a:xfrm>
            <a:off x="2493414" y="1746217"/>
            <a:ext cx="3600000" cy="720000"/>
          </a:xfrm>
          <a:prstGeom prst="roundRect">
            <a:avLst/>
          </a:prstGeom>
          <a:ln>
            <a:prstDash val="dash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圓角矩形 24"/>
          <p:cNvSpPr/>
          <p:nvPr/>
        </p:nvSpPr>
        <p:spPr>
          <a:xfrm>
            <a:off x="5336367" y="1845862"/>
            <a:ext cx="3600000" cy="720000"/>
          </a:xfrm>
          <a:prstGeom prst="roundRect">
            <a:avLst/>
          </a:prstGeom>
          <a:ln>
            <a:solidFill>
              <a:srgbClr val="FF0000"/>
            </a:solidFill>
            <a:prstDash val="soli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3" name="直線單箭頭接點 22"/>
          <p:cNvCxnSpPr/>
          <p:nvPr/>
        </p:nvCxnSpPr>
        <p:spPr>
          <a:xfrm>
            <a:off x="2359974" y="3383170"/>
            <a:ext cx="7200000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>
            <a:off x="2359974" y="2125939"/>
            <a:ext cx="7200000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2693324" y="1928552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4113414" y="1928552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6956367" y="1928552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9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5533505" y="1928552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8373687" y="1928552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7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5173505" y="3203170"/>
            <a:ext cx="1080000" cy="3600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1,3,2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2693324" y="3203170"/>
            <a:ext cx="360000" cy="360000"/>
          </a:xfrm>
          <a:prstGeom prst="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/>
          <p:cNvSpPr/>
          <p:nvPr/>
        </p:nvSpPr>
        <p:spPr>
          <a:xfrm>
            <a:off x="8013687" y="3208493"/>
            <a:ext cx="1080000" cy="36000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2,9,7</a:t>
            </a:r>
            <a:endParaRPr lang="zh-TW" altLang="en-US" dirty="0"/>
          </a:p>
        </p:txBody>
      </p:sp>
      <p:cxnSp>
        <p:nvCxnSpPr>
          <p:cNvPr id="28" name="直線接點 27"/>
          <p:cNvCxnSpPr/>
          <p:nvPr/>
        </p:nvCxnSpPr>
        <p:spPr>
          <a:xfrm>
            <a:off x="6093414" y="1845862"/>
            <a:ext cx="0" cy="620355"/>
          </a:xfrm>
          <a:prstGeom prst="line">
            <a:avLst/>
          </a:prstGeom>
          <a:ln>
            <a:prstDash val="dash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9" name="直線接點 28"/>
          <p:cNvCxnSpPr/>
          <p:nvPr/>
        </p:nvCxnSpPr>
        <p:spPr>
          <a:xfrm flipH="1">
            <a:off x="5336368" y="2465889"/>
            <a:ext cx="757046" cy="328"/>
          </a:xfrm>
          <a:prstGeom prst="line">
            <a:avLst/>
          </a:prstGeom>
          <a:ln>
            <a:prstDash val="dash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>
            <a:endCxn id="18" idx="0"/>
          </p:cNvCxnSpPr>
          <p:nvPr/>
        </p:nvCxnSpPr>
        <p:spPr>
          <a:xfrm>
            <a:off x="5713505" y="2465889"/>
            <a:ext cx="0" cy="73728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>
            <a:endCxn id="20" idx="0"/>
          </p:cNvCxnSpPr>
          <p:nvPr/>
        </p:nvCxnSpPr>
        <p:spPr>
          <a:xfrm>
            <a:off x="8553687" y="2565862"/>
            <a:ext cx="0" cy="6426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7" name="文字方塊 36"/>
          <p:cNvSpPr txBox="1"/>
          <p:nvPr/>
        </p:nvSpPr>
        <p:spPr>
          <a:xfrm>
            <a:off x="8164016" y="1355270"/>
            <a:ext cx="7473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 smtClean="0"/>
              <a:t>Time 5</a:t>
            </a:r>
            <a:endParaRPr lang="zh-TW" altLang="en-US" sz="1600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3919754" y="1348773"/>
            <a:ext cx="7473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 smtClean="0"/>
              <a:t>Time 2</a:t>
            </a:r>
            <a:endParaRPr lang="zh-TW" altLang="en-US" sz="1600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5326640" y="1350474"/>
            <a:ext cx="7473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 smtClean="0"/>
              <a:t>Time 3</a:t>
            </a:r>
            <a:endParaRPr lang="zh-TW" altLang="en-US" sz="1600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6762707" y="1344696"/>
            <a:ext cx="7473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 smtClean="0"/>
              <a:t>Time 4</a:t>
            </a:r>
            <a:endParaRPr lang="zh-TW" altLang="en-US" sz="1600" dirty="0"/>
          </a:p>
        </p:txBody>
      </p:sp>
      <p:sp>
        <p:nvSpPr>
          <p:cNvPr id="41" name="文字方塊 40"/>
          <p:cNvSpPr txBox="1"/>
          <p:nvPr/>
        </p:nvSpPr>
        <p:spPr>
          <a:xfrm>
            <a:off x="2480660" y="1344696"/>
            <a:ext cx="7473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 smtClean="0"/>
              <a:t>Time 1</a:t>
            </a:r>
            <a:endParaRPr lang="zh-TW" altLang="en-US" sz="1600" dirty="0"/>
          </a:p>
        </p:txBody>
      </p:sp>
      <p:sp>
        <p:nvSpPr>
          <p:cNvPr id="42" name="文字方塊 41"/>
          <p:cNvSpPr txBox="1"/>
          <p:nvPr/>
        </p:nvSpPr>
        <p:spPr>
          <a:xfrm>
            <a:off x="2359974" y="3599347"/>
            <a:ext cx="13031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Window at time 1</a:t>
            </a:r>
            <a:endParaRPr lang="zh-TW" altLang="en-US" sz="1200" dirty="0"/>
          </a:p>
        </p:txBody>
      </p:sp>
      <p:sp>
        <p:nvSpPr>
          <p:cNvPr id="43" name="文字方塊 42"/>
          <p:cNvSpPr txBox="1"/>
          <p:nvPr/>
        </p:nvSpPr>
        <p:spPr>
          <a:xfrm>
            <a:off x="5061916" y="3604404"/>
            <a:ext cx="13031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Window at time 3</a:t>
            </a:r>
            <a:endParaRPr lang="zh-TW" altLang="en-US" sz="1200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7902098" y="3593759"/>
            <a:ext cx="13031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Window at time 5</a:t>
            </a:r>
            <a:endParaRPr lang="zh-TW" altLang="en-US" sz="1200" dirty="0"/>
          </a:p>
        </p:txBody>
      </p:sp>
      <p:sp>
        <p:nvSpPr>
          <p:cNvPr id="45" name="文字方塊 44"/>
          <p:cNvSpPr txBox="1"/>
          <p:nvPr/>
        </p:nvSpPr>
        <p:spPr>
          <a:xfrm>
            <a:off x="1564701" y="1925206"/>
            <a:ext cx="7260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Original</a:t>
            </a:r>
          </a:p>
          <a:p>
            <a:r>
              <a:rPr lang="en-US" altLang="zh-TW" sz="1200" dirty="0" err="1" smtClean="0"/>
              <a:t>DStream</a:t>
            </a:r>
            <a:endParaRPr lang="zh-TW" altLang="en-US" sz="1200" dirty="0"/>
          </a:p>
        </p:txBody>
      </p:sp>
      <p:sp>
        <p:nvSpPr>
          <p:cNvPr id="46" name="文字方塊 45"/>
          <p:cNvSpPr txBox="1"/>
          <p:nvPr/>
        </p:nvSpPr>
        <p:spPr>
          <a:xfrm>
            <a:off x="1505636" y="3152337"/>
            <a:ext cx="8383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windowed</a:t>
            </a:r>
          </a:p>
          <a:p>
            <a:r>
              <a:rPr lang="en-US" altLang="zh-TW" sz="1200" dirty="0" err="1" smtClean="0"/>
              <a:t>DStream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571158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圓角矩形 1"/>
          <p:cNvSpPr/>
          <p:nvPr/>
        </p:nvSpPr>
        <p:spPr>
          <a:xfrm>
            <a:off x="2152381" y="2631450"/>
            <a:ext cx="1800000" cy="720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Transform</a:t>
            </a:r>
          </a:p>
          <a:p>
            <a:pPr algn="ctr"/>
            <a:r>
              <a:rPr lang="en-US" altLang="zh-TW" sz="1600" dirty="0" smtClean="0"/>
              <a:t>Functions</a:t>
            </a:r>
            <a:endParaRPr lang="zh-TW" altLang="en-US" sz="1600" dirty="0"/>
          </a:p>
        </p:txBody>
      </p:sp>
      <p:sp>
        <p:nvSpPr>
          <p:cNvPr id="4" name="圓角矩形 3"/>
          <p:cNvSpPr/>
          <p:nvPr/>
        </p:nvSpPr>
        <p:spPr>
          <a:xfrm>
            <a:off x="4497186" y="391811"/>
            <a:ext cx="2160000" cy="1620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圓角矩形 7"/>
          <p:cNvSpPr/>
          <p:nvPr/>
        </p:nvSpPr>
        <p:spPr>
          <a:xfrm>
            <a:off x="4505499" y="2179824"/>
            <a:ext cx="2160000" cy="1620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圓角矩形 8"/>
          <p:cNvSpPr/>
          <p:nvPr/>
        </p:nvSpPr>
        <p:spPr>
          <a:xfrm>
            <a:off x="4497186" y="4529616"/>
            <a:ext cx="2160000" cy="1620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4497186" y="402115"/>
            <a:ext cx="11318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Worker Node 1</a:t>
            </a:r>
            <a:endParaRPr lang="zh-TW" altLang="en-US" sz="12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4497186" y="2179824"/>
            <a:ext cx="11318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Worker Node 2</a:t>
            </a:r>
            <a:endParaRPr lang="zh-TW" altLang="en-US" sz="12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4497186" y="4533526"/>
            <a:ext cx="11334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Worker Node n</a:t>
            </a:r>
            <a:endParaRPr lang="zh-TW" altLang="en-US" sz="1200" dirty="0"/>
          </a:p>
        </p:txBody>
      </p:sp>
      <p:sp>
        <p:nvSpPr>
          <p:cNvPr id="15" name="橢圓 14"/>
          <p:cNvSpPr/>
          <p:nvPr/>
        </p:nvSpPr>
        <p:spPr>
          <a:xfrm>
            <a:off x="5474227" y="3933549"/>
            <a:ext cx="72000" cy="7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5474227" y="4139274"/>
            <a:ext cx="72000" cy="7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>
            <a:off x="5474227" y="4347327"/>
            <a:ext cx="72000" cy="7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" name="直線單箭頭接點 18"/>
          <p:cNvCxnSpPr>
            <a:endCxn id="2" idx="1"/>
          </p:cNvCxnSpPr>
          <p:nvPr/>
        </p:nvCxnSpPr>
        <p:spPr>
          <a:xfrm>
            <a:off x="1271234" y="2991450"/>
            <a:ext cx="881147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文字方塊 19"/>
          <p:cNvSpPr txBox="1"/>
          <p:nvPr/>
        </p:nvSpPr>
        <p:spPr>
          <a:xfrm>
            <a:off x="1233407" y="2714451"/>
            <a:ext cx="9568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Data Stream</a:t>
            </a:r>
            <a:endParaRPr lang="zh-TW" altLang="en-US" sz="1200" dirty="0"/>
          </a:p>
        </p:txBody>
      </p:sp>
      <p:sp>
        <p:nvSpPr>
          <p:cNvPr id="21" name="矩形 20"/>
          <p:cNvSpPr/>
          <p:nvPr/>
        </p:nvSpPr>
        <p:spPr>
          <a:xfrm>
            <a:off x="4587186" y="838743"/>
            <a:ext cx="540000" cy="540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/>
              <a:t>RDD</a:t>
            </a:r>
            <a:endParaRPr lang="zh-TW" altLang="en-US" sz="1400" dirty="0"/>
          </a:p>
        </p:txBody>
      </p:sp>
      <p:sp>
        <p:nvSpPr>
          <p:cNvPr id="22" name="矩形 21"/>
          <p:cNvSpPr/>
          <p:nvPr/>
        </p:nvSpPr>
        <p:spPr>
          <a:xfrm>
            <a:off x="5240227" y="838743"/>
            <a:ext cx="540000" cy="540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/>
              <a:t>RDD</a:t>
            </a:r>
            <a:endParaRPr lang="zh-TW" altLang="en-US" sz="1400" dirty="0"/>
          </a:p>
        </p:txBody>
      </p:sp>
      <p:sp>
        <p:nvSpPr>
          <p:cNvPr id="23" name="矩形 22"/>
          <p:cNvSpPr/>
          <p:nvPr/>
        </p:nvSpPr>
        <p:spPr>
          <a:xfrm>
            <a:off x="5240227" y="2811450"/>
            <a:ext cx="540000" cy="540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/>
              <a:t>RDD</a:t>
            </a:r>
            <a:endParaRPr lang="zh-TW" altLang="en-US" sz="1400" dirty="0"/>
          </a:p>
        </p:txBody>
      </p:sp>
      <p:sp>
        <p:nvSpPr>
          <p:cNvPr id="24" name="矩形 23"/>
          <p:cNvSpPr/>
          <p:nvPr/>
        </p:nvSpPr>
        <p:spPr>
          <a:xfrm>
            <a:off x="4693162" y="4920814"/>
            <a:ext cx="540000" cy="540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/>
              <a:t>RDD</a:t>
            </a:r>
            <a:endParaRPr lang="zh-TW" altLang="en-US" sz="1400" dirty="0"/>
          </a:p>
        </p:txBody>
      </p:sp>
      <p:sp>
        <p:nvSpPr>
          <p:cNvPr id="25" name="矩形 24"/>
          <p:cNvSpPr/>
          <p:nvPr/>
        </p:nvSpPr>
        <p:spPr>
          <a:xfrm>
            <a:off x="5341228" y="4920814"/>
            <a:ext cx="540000" cy="540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/>
              <a:t>RDD</a:t>
            </a:r>
            <a:endParaRPr lang="zh-TW" altLang="en-US" sz="1400" dirty="0"/>
          </a:p>
        </p:txBody>
      </p:sp>
      <p:sp>
        <p:nvSpPr>
          <p:cNvPr id="26" name="矩形 25"/>
          <p:cNvSpPr/>
          <p:nvPr/>
        </p:nvSpPr>
        <p:spPr>
          <a:xfrm>
            <a:off x="5055262" y="5538342"/>
            <a:ext cx="540000" cy="540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/>
              <a:t>RDD</a:t>
            </a:r>
            <a:endParaRPr lang="zh-TW" altLang="en-US" sz="1400" dirty="0"/>
          </a:p>
        </p:txBody>
      </p:sp>
      <p:sp>
        <p:nvSpPr>
          <p:cNvPr id="27" name="矩形 26"/>
          <p:cNvSpPr/>
          <p:nvPr/>
        </p:nvSpPr>
        <p:spPr>
          <a:xfrm>
            <a:off x="5914901" y="838743"/>
            <a:ext cx="540000" cy="540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/>
              <a:t>RDD</a:t>
            </a:r>
            <a:endParaRPr lang="zh-TW" altLang="en-US" sz="1400" dirty="0"/>
          </a:p>
        </p:txBody>
      </p:sp>
      <p:sp>
        <p:nvSpPr>
          <p:cNvPr id="28" name="矩形 27"/>
          <p:cNvSpPr/>
          <p:nvPr/>
        </p:nvSpPr>
        <p:spPr>
          <a:xfrm>
            <a:off x="5776367" y="5535215"/>
            <a:ext cx="540000" cy="540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/>
              <a:t>RDD</a:t>
            </a:r>
            <a:endParaRPr lang="zh-TW" altLang="en-US" sz="1400" dirty="0"/>
          </a:p>
        </p:txBody>
      </p:sp>
      <p:cxnSp>
        <p:nvCxnSpPr>
          <p:cNvPr id="30" name="直線單箭頭接點 29"/>
          <p:cNvCxnSpPr>
            <a:stCxn id="2" idx="3"/>
            <a:endCxn id="4" idx="1"/>
          </p:cNvCxnSpPr>
          <p:nvPr/>
        </p:nvCxnSpPr>
        <p:spPr>
          <a:xfrm flipV="1">
            <a:off x="3952381" y="1201811"/>
            <a:ext cx="544805" cy="17896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>
            <a:stCxn id="2" idx="3"/>
            <a:endCxn id="8" idx="1"/>
          </p:cNvCxnSpPr>
          <p:nvPr/>
        </p:nvCxnSpPr>
        <p:spPr>
          <a:xfrm flipV="1">
            <a:off x="3952381" y="2989824"/>
            <a:ext cx="553118" cy="16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>
            <a:stCxn id="2" idx="3"/>
            <a:endCxn id="9" idx="1"/>
          </p:cNvCxnSpPr>
          <p:nvPr/>
        </p:nvCxnSpPr>
        <p:spPr>
          <a:xfrm>
            <a:off x="3952381" y="2991450"/>
            <a:ext cx="544805" cy="2348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圓角矩形 34"/>
          <p:cNvSpPr/>
          <p:nvPr/>
        </p:nvSpPr>
        <p:spPr>
          <a:xfrm>
            <a:off x="7184096" y="2724058"/>
            <a:ext cx="1800000" cy="720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err="1" smtClean="0"/>
              <a:t>foreachRDD</a:t>
            </a:r>
            <a:endParaRPr lang="zh-TW" altLang="en-US" sz="1600" dirty="0"/>
          </a:p>
        </p:txBody>
      </p:sp>
      <p:cxnSp>
        <p:nvCxnSpPr>
          <p:cNvPr id="43" name="直線單箭頭接點 42"/>
          <p:cNvCxnSpPr>
            <a:stCxn id="23" idx="3"/>
            <a:endCxn id="35" idx="1"/>
          </p:cNvCxnSpPr>
          <p:nvPr/>
        </p:nvCxnSpPr>
        <p:spPr>
          <a:xfrm>
            <a:off x="5780227" y="3081450"/>
            <a:ext cx="1403869" cy="2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>
            <a:stCxn id="27" idx="3"/>
            <a:endCxn id="35" idx="1"/>
          </p:cNvCxnSpPr>
          <p:nvPr/>
        </p:nvCxnSpPr>
        <p:spPr>
          <a:xfrm>
            <a:off x="6454901" y="1108743"/>
            <a:ext cx="729195" cy="19753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4429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557" y="845218"/>
            <a:ext cx="10800000" cy="5620480"/>
          </a:xfrm>
          <a:prstGeom prst="rect">
            <a:avLst/>
          </a:prstGeom>
        </p:spPr>
      </p:pic>
      <p:cxnSp>
        <p:nvCxnSpPr>
          <p:cNvPr id="4" name="直線接點 3"/>
          <p:cNvCxnSpPr/>
          <p:nvPr/>
        </p:nvCxnSpPr>
        <p:spPr>
          <a:xfrm>
            <a:off x="1172095" y="1286595"/>
            <a:ext cx="720000" cy="0"/>
          </a:xfrm>
          <a:prstGeom prst="line">
            <a:avLst/>
          </a:prstGeom>
          <a:ln>
            <a:prstDash val="dashDot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" name="直線接點 4"/>
          <p:cNvCxnSpPr/>
          <p:nvPr/>
        </p:nvCxnSpPr>
        <p:spPr>
          <a:xfrm>
            <a:off x="1172095" y="1771504"/>
            <a:ext cx="720000" cy="0"/>
          </a:xfrm>
          <a:prstGeom prst="line">
            <a:avLst/>
          </a:prstGeom>
          <a:ln>
            <a:solidFill>
              <a:srgbClr val="7030A0"/>
            </a:solidFill>
            <a:prstDash val="dash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" name="文字方塊 5"/>
          <p:cNvSpPr txBox="1"/>
          <p:nvPr/>
        </p:nvSpPr>
        <p:spPr>
          <a:xfrm>
            <a:off x="1097361" y="917263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accent6">
                    <a:lumMod val="75000"/>
                  </a:schemeClr>
                </a:solidFill>
              </a:rPr>
              <a:t>SH</a:t>
            </a:r>
            <a:endParaRPr lang="zh-TW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1097361" y="1402171"/>
            <a:ext cx="38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7030A0"/>
                </a:solidFill>
              </a:rPr>
              <a:t>SL</a:t>
            </a:r>
            <a:endParaRPr lang="zh-TW" altLang="en-US" dirty="0">
              <a:solidFill>
                <a:srgbClr val="7030A0"/>
              </a:solidFill>
            </a:endParaRPr>
          </a:p>
        </p:txBody>
      </p:sp>
      <p:sp>
        <p:nvSpPr>
          <p:cNvPr id="9" name="橢圓 8"/>
          <p:cNvSpPr/>
          <p:nvPr/>
        </p:nvSpPr>
        <p:spPr>
          <a:xfrm>
            <a:off x="10756669" y="1586837"/>
            <a:ext cx="184666" cy="18466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10481112" y="1771503"/>
            <a:ext cx="9204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 smtClean="0">
                <a:solidFill>
                  <a:srgbClr val="FF0000"/>
                </a:solidFill>
              </a:rPr>
              <a:t>Anomaly</a:t>
            </a:r>
            <a:endParaRPr lang="zh-TW" alt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7342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3709</TotalTime>
  <Words>712</Words>
  <Application>Microsoft Office PowerPoint</Application>
  <PresentationFormat>寬螢幕</PresentationFormat>
  <Paragraphs>257</Paragraphs>
  <Slides>24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31" baseType="lpstr">
      <vt:lpstr>新細明體</vt:lpstr>
      <vt:lpstr>標楷體</vt:lpstr>
      <vt:lpstr>Arial</vt:lpstr>
      <vt:lpstr>Calibri</vt:lpstr>
      <vt:lpstr>Calibri Light</vt:lpstr>
      <vt:lpstr>Ebrima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Rong</dc:creator>
  <cp:lastModifiedBy>Rong</cp:lastModifiedBy>
  <cp:revision>97</cp:revision>
  <dcterms:created xsi:type="dcterms:W3CDTF">2017-06-07T16:02:34Z</dcterms:created>
  <dcterms:modified xsi:type="dcterms:W3CDTF">2017-07-13T06:39:36Z</dcterms:modified>
</cp:coreProperties>
</file>